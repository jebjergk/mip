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90" y="3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neth Jebjerg" userId="31b26a954995a5e4" providerId="LiveId" clId="{FB9E2242-EB45-4C40-9CD8-7B1EDA37FE0A}"/>
    <pc:docChg chg="custSel modSld">
      <pc:chgData name="Kenneth Jebjerg" userId="31b26a954995a5e4" providerId="LiveId" clId="{FB9E2242-EB45-4C40-9CD8-7B1EDA37FE0A}" dt="2026-02-16T22:52:05.933" v="654" actId="1076"/>
      <pc:docMkLst>
        <pc:docMk/>
      </pc:docMkLst>
      <pc:sldChg chg="modSp mod">
        <pc:chgData name="Kenneth Jebjerg" userId="31b26a954995a5e4" providerId="LiveId" clId="{FB9E2242-EB45-4C40-9CD8-7B1EDA37FE0A}" dt="2026-02-16T22:37:22.746" v="104" actId="20577"/>
        <pc:sldMkLst>
          <pc:docMk/>
          <pc:sldMk cId="0" sldId="256"/>
        </pc:sldMkLst>
        <pc:spChg chg="mod">
          <ac:chgData name="Kenneth Jebjerg" userId="31b26a954995a5e4" providerId="LiveId" clId="{FB9E2242-EB45-4C40-9CD8-7B1EDA37FE0A}" dt="2026-02-16T22:37:08.986" v="89" actId="1076"/>
          <ac:spMkLst>
            <pc:docMk/>
            <pc:sldMk cId="0" sldId="256"/>
            <ac:spMk id="24" creationId="{00000000-0000-0000-0000-000000000000}"/>
          </ac:spMkLst>
        </pc:spChg>
        <pc:spChg chg="mod">
          <ac:chgData name="Kenneth Jebjerg" userId="31b26a954995a5e4" providerId="LiveId" clId="{FB9E2242-EB45-4C40-9CD8-7B1EDA37FE0A}" dt="2026-02-16T22:37:22.746" v="104" actId="20577"/>
          <ac:spMkLst>
            <pc:docMk/>
            <pc:sldMk cId="0" sldId="256"/>
            <ac:spMk id="28" creationId="{00000000-0000-0000-0000-000000000000}"/>
          </ac:spMkLst>
        </pc:spChg>
      </pc:sldChg>
      <pc:sldChg chg="modSp mod">
        <pc:chgData name="Kenneth Jebjerg" userId="31b26a954995a5e4" providerId="LiveId" clId="{FB9E2242-EB45-4C40-9CD8-7B1EDA37FE0A}" dt="2026-02-16T22:42:31.777" v="329" actId="20577"/>
        <pc:sldMkLst>
          <pc:docMk/>
          <pc:sldMk cId="0" sldId="258"/>
        </pc:sldMkLst>
        <pc:spChg chg="mod">
          <ac:chgData name="Kenneth Jebjerg" userId="31b26a954995a5e4" providerId="LiveId" clId="{FB9E2242-EB45-4C40-9CD8-7B1EDA37FE0A}" dt="2026-02-16T22:42:31.777" v="329" actId="20577"/>
          <ac:spMkLst>
            <pc:docMk/>
            <pc:sldMk cId="0" sldId="258"/>
            <ac:spMk id="5" creationId="{00000000-0000-0000-0000-000000000000}"/>
          </ac:spMkLst>
        </pc:spChg>
        <pc:spChg chg="mod">
          <ac:chgData name="Kenneth Jebjerg" userId="31b26a954995a5e4" providerId="LiveId" clId="{FB9E2242-EB45-4C40-9CD8-7B1EDA37FE0A}" dt="2026-02-16T22:42:16.266" v="325" actId="1037"/>
          <ac:spMkLst>
            <pc:docMk/>
            <pc:sldMk cId="0" sldId="258"/>
            <ac:spMk id="6" creationId="{00000000-0000-0000-0000-000000000000}"/>
          </ac:spMkLst>
        </pc:spChg>
        <pc:spChg chg="mod">
          <ac:chgData name="Kenneth Jebjerg" userId="31b26a954995a5e4" providerId="LiveId" clId="{FB9E2242-EB45-4C40-9CD8-7B1EDA37FE0A}" dt="2026-02-16T22:42:16.266" v="325" actId="1037"/>
          <ac:spMkLst>
            <pc:docMk/>
            <pc:sldMk cId="0" sldId="258"/>
            <ac:spMk id="8" creationId="{00000000-0000-0000-0000-000000000000}"/>
          </ac:spMkLst>
        </pc:spChg>
        <pc:spChg chg="mod">
          <ac:chgData name="Kenneth Jebjerg" userId="31b26a954995a5e4" providerId="LiveId" clId="{FB9E2242-EB45-4C40-9CD8-7B1EDA37FE0A}" dt="2026-02-16T22:42:16.266" v="325" actId="1037"/>
          <ac:spMkLst>
            <pc:docMk/>
            <pc:sldMk cId="0" sldId="258"/>
            <ac:spMk id="9" creationId="{00000000-0000-0000-0000-000000000000}"/>
          </ac:spMkLst>
        </pc:spChg>
        <pc:spChg chg="mod">
          <ac:chgData name="Kenneth Jebjerg" userId="31b26a954995a5e4" providerId="LiveId" clId="{FB9E2242-EB45-4C40-9CD8-7B1EDA37FE0A}" dt="2026-02-16T22:37:46.559" v="138" actId="1037"/>
          <ac:spMkLst>
            <pc:docMk/>
            <pc:sldMk cId="0" sldId="258"/>
            <ac:spMk id="10" creationId="{00000000-0000-0000-0000-000000000000}"/>
          </ac:spMkLst>
        </pc:spChg>
        <pc:spChg chg="mod">
          <ac:chgData name="Kenneth Jebjerg" userId="31b26a954995a5e4" providerId="LiveId" clId="{FB9E2242-EB45-4C40-9CD8-7B1EDA37FE0A}" dt="2026-02-16T22:37:46.559" v="138" actId="1037"/>
          <ac:spMkLst>
            <pc:docMk/>
            <pc:sldMk cId="0" sldId="258"/>
            <ac:spMk id="11" creationId="{00000000-0000-0000-0000-000000000000}"/>
          </ac:spMkLst>
        </pc:spChg>
        <pc:spChg chg="mod">
          <ac:chgData name="Kenneth Jebjerg" userId="31b26a954995a5e4" providerId="LiveId" clId="{FB9E2242-EB45-4C40-9CD8-7B1EDA37FE0A}" dt="2026-02-16T22:42:16.266" v="325" actId="1037"/>
          <ac:spMkLst>
            <pc:docMk/>
            <pc:sldMk cId="0" sldId="258"/>
            <ac:spMk id="12" creationId="{00000000-0000-0000-0000-000000000000}"/>
          </ac:spMkLst>
        </pc:spChg>
        <pc:spChg chg="mod">
          <ac:chgData name="Kenneth Jebjerg" userId="31b26a954995a5e4" providerId="LiveId" clId="{FB9E2242-EB45-4C40-9CD8-7B1EDA37FE0A}" dt="2026-02-16T22:37:56.424" v="172" actId="1037"/>
          <ac:spMkLst>
            <pc:docMk/>
            <pc:sldMk cId="0" sldId="258"/>
            <ac:spMk id="13" creationId="{00000000-0000-0000-0000-000000000000}"/>
          </ac:spMkLst>
        </pc:spChg>
        <pc:spChg chg="mod">
          <ac:chgData name="Kenneth Jebjerg" userId="31b26a954995a5e4" providerId="LiveId" clId="{FB9E2242-EB45-4C40-9CD8-7B1EDA37FE0A}" dt="2026-02-16T22:42:16.266" v="325" actId="1037"/>
          <ac:spMkLst>
            <pc:docMk/>
            <pc:sldMk cId="0" sldId="258"/>
            <ac:spMk id="14" creationId="{00000000-0000-0000-0000-000000000000}"/>
          </ac:spMkLst>
        </pc:spChg>
        <pc:spChg chg="mod">
          <ac:chgData name="Kenneth Jebjerg" userId="31b26a954995a5e4" providerId="LiveId" clId="{FB9E2242-EB45-4C40-9CD8-7B1EDA37FE0A}" dt="2026-02-16T22:42:16.266" v="325" actId="1037"/>
          <ac:spMkLst>
            <pc:docMk/>
            <pc:sldMk cId="0" sldId="258"/>
            <ac:spMk id="15" creationId="{00000000-0000-0000-0000-000000000000}"/>
          </ac:spMkLst>
        </pc:spChg>
        <pc:spChg chg="mod">
          <ac:chgData name="Kenneth Jebjerg" userId="31b26a954995a5e4" providerId="LiveId" clId="{FB9E2242-EB45-4C40-9CD8-7B1EDA37FE0A}" dt="2026-02-16T22:38:22.592" v="264" actId="1037"/>
          <ac:spMkLst>
            <pc:docMk/>
            <pc:sldMk cId="0" sldId="258"/>
            <ac:spMk id="16" creationId="{00000000-0000-0000-0000-000000000000}"/>
          </ac:spMkLst>
        </pc:spChg>
        <pc:spChg chg="mod">
          <ac:chgData name="Kenneth Jebjerg" userId="31b26a954995a5e4" providerId="LiveId" clId="{FB9E2242-EB45-4C40-9CD8-7B1EDA37FE0A}" dt="2026-02-16T22:42:16.266" v="325" actId="1037"/>
          <ac:spMkLst>
            <pc:docMk/>
            <pc:sldMk cId="0" sldId="258"/>
            <ac:spMk id="18" creationId="{00000000-0000-0000-0000-000000000000}"/>
          </ac:spMkLst>
        </pc:spChg>
        <pc:spChg chg="mod">
          <ac:chgData name="Kenneth Jebjerg" userId="31b26a954995a5e4" providerId="LiveId" clId="{FB9E2242-EB45-4C40-9CD8-7B1EDA37FE0A}" dt="2026-02-16T22:42:16.266" v="325" actId="1037"/>
          <ac:spMkLst>
            <pc:docMk/>
            <pc:sldMk cId="0" sldId="258"/>
            <ac:spMk id="19" creationId="{00000000-0000-0000-0000-000000000000}"/>
          </ac:spMkLst>
        </pc:spChg>
        <pc:spChg chg="mod">
          <ac:chgData name="Kenneth Jebjerg" userId="31b26a954995a5e4" providerId="LiveId" clId="{FB9E2242-EB45-4C40-9CD8-7B1EDA37FE0A}" dt="2026-02-16T22:42:16.266" v="325" actId="1037"/>
          <ac:spMkLst>
            <pc:docMk/>
            <pc:sldMk cId="0" sldId="258"/>
            <ac:spMk id="20" creationId="{00000000-0000-0000-0000-000000000000}"/>
          </ac:spMkLst>
        </pc:spChg>
        <pc:spChg chg="mod">
          <ac:chgData name="Kenneth Jebjerg" userId="31b26a954995a5e4" providerId="LiveId" clId="{FB9E2242-EB45-4C40-9CD8-7B1EDA37FE0A}" dt="2026-02-16T22:42:16.266" v="325" actId="1037"/>
          <ac:spMkLst>
            <pc:docMk/>
            <pc:sldMk cId="0" sldId="258"/>
            <ac:spMk id="21" creationId="{00000000-0000-0000-0000-000000000000}"/>
          </ac:spMkLst>
        </pc:spChg>
        <pc:spChg chg="mod">
          <ac:chgData name="Kenneth Jebjerg" userId="31b26a954995a5e4" providerId="LiveId" clId="{FB9E2242-EB45-4C40-9CD8-7B1EDA37FE0A}" dt="2026-02-16T22:38:22.592" v="264" actId="1037"/>
          <ac:spMkLst>
            <pc:docMk/>
            <pc:sldMk cId="0" sldId="258"/>
            <ac:spMk id="22" creationId="{00000000-0000-0000-0000-000000000000}"/>
          </ac:spMkLst>
        </pc:spChg>
      </pc:sldChg>
      <pc:sldChg chg="delSp modSp mod">
        <pc:chgData name="Kenneth Jebjerg" userId="31b26a954995a5e4" providerId="LiveId" clId="{FB9E2242-EB45-4C40-9CD8-7B1EDA37FE0A}" dt="2026-02-16T22:40:57.490" v="313" actId="1038"/>
        <pc:sldMkLst>
          <pc:docMk/>
          <pc:sldMk cId="0" sldId="259"/>
        </pc:sldMkLst>
        <pc:spChg chg="mod">
          <ac:chgData name="Kenneth Jebjerg" userId="31b26a954995a5e4" providerId="LiveId" clId="{FB9E2242-EB45-4C40-9CD8-7B1EDA37FE0A}" dt="2026-02-16T22:40:39.188" v="281" actId="14100"/>
          <ac:spMkLst>
            <pc:docMk/>
            <pc:sldMk cId="0" sldId="259"/>
            <ac:spMk id="17" creationId="{00000000-0000-0000-0000-000000000000}"/>
          </ac:spMkLst>
        </pc:spChg>
        <pc:spChg chg="del">
          <ac:chgData name="Kenneth Jebjerg" userId="31b26a954995a5e4" providerId="LiveId" clId="{FB9E2242-EB45-4C40-9CD8-7B1EDA37FE0A}" dt="2026-02-16T22:40:13.485" v="277" actId="478"/>
          <ac:spMkLst>
            <pc:docMk/>
            <pc:sldMk cId="0" sldId="259"/>
            <ac:spMk id="31" creationId="{00000000-0000-0000-0000-000000000000}"/>
          </ac:spMkLst>
        </pc:spChg>
        <pc:spChg chg="mod">
          <ac:chgData name="Kenneth Jebjerg" userId="31b26a954995a5e4" providerId="LiveId" clId="{FB9E2242-EB45-4C40-9CD8-7B1EDA37FE0A}" dt="2026-02-16T22:40:57.490" v="313" actId="1038"/>
          <ac:spMkLst>
            <pc:docMk/>
            <pc:sldMk cId="0" sldId="259"/>
            <ac:spMk id="32" creationId="{00000000-0000-0000-0000-000000000000}"/>
          </ac:spMkLst>
        </pc:spChg>
        <pc:spChg chg="del mod">
          <ac:chgData name="Kenneth Jebjerg" userId="31b26a954995a5e4" providerId="LiveId" clId="{FB9E2242-EB45-4C40-9CD8-7B1EDA37FE0A}" dt="2026-02-16T22:40:17.458" v="278" actId="478"/>
          <ac:spMkLst>
            <pc:docMk/>
            <pc:sldMk cId="0" sldId="259"/>
            <ac:spMk id="33" creationId="{00000000-0000-0000-0000-000000000000}"/>
          </ac:spMkLst>
        </pc:spChg>
        <pc:spChg chg="mod">
          <ac:chgData name="Kenneth Jebjerg" userId="31b26a954995a5e4" providerId="LiveId" clId="{FB9E2242-EB45-4C40-9CD8-7B1EDA37FE0A}" dt="2026-02-16T22:40:57.490" v="313" actId="1038"/>
          <ac:spMkLst>
            <pc:docMk/>
            <pc:sldMk cId="0" sldId="259"/>
            <ac:spMk id="34" creationId="{00000000-0000-0000-0000-000000000000}"/>
          </ac:spMkLst>
        </pc:spChg>
        <pc:spChg chg="del">
          <ac:chgData name="Kenneth Jebjerg" userId="31b26a954995a5e4" providerId="LiveId" clId="{FB9E2242-EB45-4C40-9CD8-7B1EDA37FE0A}" dt="2026-02-16T22:40:24.129" v="279" actId="478"/>
          <ac:spMkLst>
            <pc:docMk/>
            <pc:sldMk cId="0" sldId="259"/>
            <ac:spMk id="35" creationId="{00000000-0000-0000-0000-000000000000}"/>
          </ac:spMkLst>
        </pc:spChg>
        <pc:spChg chg="mod">
          <ac:chgData name="Kenneth Jebjerg" userId="31b26a954995a5e4" providerId="LiveId" clId="{FB9E2242-EB45-4C40-9CD8-7B1EDA37FE0A}" dt="2026-02-16T22:40:57.490" v="313" actId="1038"/>
          <ac:spMkLst>
            <pc:docMk/>
            <pc:sldMk cId="0" sldId="259"/>
            <ac:spMk id="36" creationId="{00000000-0000-0000-0000-000000000000}"/>
          </ac:spMkLst>
        </pc:spChg>
        <pc:spChg chg="del">
          <ac:chgData name="Kenneth Jebjerg" userId="31b26a954995a5e4" providerId="LiveId" clId="{FB9E2242-EB45-4C40-9CD8-7B1EDA37FE0A}" dt="2026-02-16T22:40:46.731" v="282" actId="478"/>
          <ac:spMkLst>
            <pc:docMk/>
            <pc:sldMk cId="0" sldId="259"/>
            <ac:spMk id="37" creationId="{00000000-0000-0000-0000-000000000000}"/>
          </ac:spMkLst>
        </pc:spChg>
        <pc:spChg chg="mod">
          <ac:chgData name="Kenneth Jebjerg" userId="31b26a954995a5e4" providerId="LiveId" clId="{FB9E2242-EB45-4C40-9CD8-7B1EDA37FE0A}" dt="2026-02-16T22:40:57.490" v="313" actId="1038"/>
          <ac:spMkLst>
            <pc:docMk/>
            <pc:sldMk cId="0" sldId="259"/>
            <ac:spMk id="38" creationId="{00000000-0000-0000-0000-000000000000}"/>
          </ac:spMkLst>
        </pc:spChg>
      </pc:sldChg>
      <pc:sldChg chg="modSp mod">
        <pc:chgData name="Kenneth Jebjerg" userId="31b26a954995a5e4" providerId="LiveId" clId="{FB9E2242-EB45-4C40-9CD8-7B1EDA37FE0A}" dt="2026-02-16T22:46:40.928" v="359" actId="1038"/>
        <pc:sldMkLst>
          <pc:docMk/>
          <pc:sldMk cId="0" sldId="262"/>
        </pc:sldMkLst>
        <pc:spChg chg="mod">
          <ac:chgData name="Kenneth Jebjerg" userId="31b26a954995a5e4" providerId="LiveId" clId="{FB9E2242-EB45-4C40-9CD8-7B1EDA37FE0A}" dt="2026-02-16T22:46:40.928" v="359" actId="1038"/>
          <ac:spMkLst>
            <pc:docMk/>
            <pc:sldMk cId="0" sldId="262"/>
            <ac:spMk id="45" creationId="{00000000-0000-0000-0000-000000000000}"/>
          </ac:spMkLst>
        </pc:spChg>
        <pc:spChg chg="mod">
          <ac:chgData name="Kenneth Jebjerg" userId="31b26a954995a5e4" providerId="LiveId" clId="{FB9E2242-EB45-4C40-9CD8-7B1EDA37FE0A}" dt="2026-02-16T22:46:40.928" v="359" actId="1038"/>
          <ac:spMkLst>
            <pc:docMk/>
            <pc:sldMk cId="0" sldId="262"/>
            <ac:spMk id="46" creationId="{00000000-0000-0000-0000-000000000000}"/>
          </ac:spMkLst>
        </pc:spChg>
        <pc:spChg chg="mod">
          <ac:chgData name="Kenneth Jebjerg" userId="31b26a954995a5e4" providerId="LiveId" clId="{FB9E2242-EB45-4C40-9CD8-7B1EDA37FE0A}" dt="2026-02-16T22:46:40.928" v="359" actId="1038"/>
          <ac:spMkLst>
            <pc:docMk/>
            <pc:sldMk cId="0" sldId="262"/>
            <ac:spMk id="47" creationId="{00000000-0000-0000-0000-000000000000}"/>
          </ac:spMkLst>
        </pc:spChg>
        <pc:spChg chg="mod">
          <ac:chgData name="Kenneth Jebjerg" userId="31b26a954995a5e4" providerId="LiveId" clId="{FB9E2242-EB45-4C40-9CD8-7B1EDA37FE0A}" dt="2026-02-16T22:46:40.928" v="359" actId="1038"/>
          <ac:spMkLst>
            <pc:docMk/>
            <pc:sldMk cId="0" sldId="262"/>
            <ac:spMk id="48" creationId="{00000000-0000-0000-0000-000000000000}"/>
          </ac:spMkLst>
        </pc:spChg>
        <pc:spChg chg="mod">
          <ac:chgData name="Kenneth Jebjerg" userId="31b26a954995a5e4" providerId="LiveId" clId="{FB9E2242-EB45-4C40-9CD8-7B1EDA37FE0A}" dt="2026-02-16T22:46:25" v="340" actId="1036"/>
          <ac:spMkLst>
            <pc:docMk/>
            <pc:sldMk cId="0" sldId="262"/>
            <ac:spMk id="49" creationId="{00000000-0000-0000-0000-000000000000}"/>
          </ac:spMkLst>
        </pc:spChg>
        <pc:spChg chg="mod">
          <ac:chgData name="Kenneth Jebjerg" userId="31b26a954995a5e4" providerId="LiveId" clId="{FB9E2242-EB45-4C40-9CD8-7B1EDA37FE0A}" dt="2026-02-16T22:46:25" v="340" actId="1036"/>
          <ac:spMkLst>
            <pc:docMk/>
            <pc:sldMk cId="0" sldId="262"/>
            <ac:spMk id="50" creationId="{00000000-0000-0000-0000-000000000000}"/>
          </ac:spMkLst>
        </pc:spChg>
        <pc:spChg chg="mod">
          <ac:chgData name="Kenneth Jebjerg" userId="31b26a954995a5e4" providerId="LiveId" clId="{FB9E2242-EB45-4C40-9CD8-7B1EDA37FE0A}" dt="2026-02-16T22:46:25" v="340" actId="1036"/>
          <ac:spMkLst>
            <pc:docMk/>
            <pc:sldMk cId="0" sldId="262"/>
            <ac:spMk id="52" creationId="{00000000-0000-0000-0000-000000000000}"/>
          </ac:spMkLst>
        </pc:spChg>
        <pc:spChg chg="mod">
          <ac:chgData name="Kenneth Jebjerg" userId="31b26a954995a5e4" providerId="LiveId" clId="{FB9E2242-EB45-4C40-9CD8-7B1EDA37FE0A}" dt="2026-02-16T22:46:40.928" v="359" actId="1038"/>
          <ac:spMkLst>
            <pc:docMk/>
            <pc:sldMk cId="0" sldId="262"/>
            <ac:spMk id="53" creationId="{00000000-0000-0000-0000-000000000000}"/>
          </ac:spMkLst>
        </pc:spChg>
        <pc:spChg chg="mod">
          <ac:chgData name="Kenneth Jebjerg" userId="31b26a954995a5e4" providerId="LiveId" clId="{FB9E2242-EB45-4C40-9CD8-7B1EDA37FE0A}" dt="2026-02-16T22:46:40.928" v="359" actId="1038"/>
          <ac:spMkLst>
            <pc:docMk/>
            <pc:sldMk cId="0" sldId="262"/>
            <ac:spMk id="54" creationId="{00000000-0000-0000-0000-000000000000}"/>
          </ac:spMkLst>
        </pc:spChg>
        <pc:spChg chg="mod">
          <ac:chgData name="Kenneth Jebjerg" userId="31b26a954995a5e4" providerId="LiveId" clId="{FB9E2242-EB45-4C40-9CD8-7B1EDA37FE0A}" dt="2026-02-16T22:46:40.928" v="359" actId="1038"/>
          <ac:spMkLst>
            <pc:docMk/>
            <pc:sldMk cId="0" sldId="262"/>
            <ac:spMk id="55" creationId="{00000000-0000-0000-0000-000000000000}"/>
          </ac:spMkLst>
        </pc:spChg>
        <pc:spChg chg="mod">
          <ac:chgData name="Kenneth Jebjerg" userId="31b26a954995a5e4" providerId="LiveId" clId="{FB9E2242-EB45-4C40-9CD8-7B1EDA37FE0A}" dt="2026-02-16T22:46:25" v="340" actId="1036"/>
          <ac:spMkLst>
            <pc:docMk/>
            <pc:sldMk cId="0" sldId="262"/>
            <ac:spMk id="56" creationId="{00000000-0000-0000-0000-000000000000}"/>
          </ac:spMkLst>
        </pc:spChg>
        <pc:spChg chg="mod">
          <ac:chgData name="Kenneth Jebjerg" userId="31b26a954995a5e4" providerId="LiveId" clId="{FB9E2242-EB45-4C40-9CD8-7B1EDA37FE0A}" dt="2026-02-16T22:46:40.928" v="359" actId="1038"/>
          <ac:spMkLst>
            <pc:docMk/>
            <pc:sldMk cId="0" sldId="262"/>
            <ac:spMk id="57" creationId="{00000000-0000-0000-0000-000000000000}"/>
          </ac:spMkLst>
        </pc:spChg>
        <pc:spChg chg="mod">
          <ac:chgData name="Kenneth Jebjerg" userId="31b26a954995a5e4" providerId="LiveId" clId="{FB9E2242-EB45-4C40-9CD8-7B1EDA37FE0A}" dt="2026-02-16T22:46:40.928" v="359" actId="1038"/>
          <ac:spMkLst>
            <pc:docMk/>
            <pc:sldMk cId="0" sldId="262"/>
            <ac:spMk id="59" creationId="{00000000-0000-0000-0000-000000000000}"/>
          </ac:spMkLst>
        </pc:spChg>
        <pc:spChg chg="mod">
          <ac:chgData name="Kenneth Jebjerg" userId="31b26a954995a5e4" providerId="LiveId" clId="{FB9E2242-EB45-4C40-9CD8-7B1EDA37FE0A}" dt="2026-02-16T22:46:40.928" v="359" actId="1038"/>
          <ac:spMkLst>
            <pc:docMk/>
            <pc:sldMk cId="0" sldId="262"/>
            <ac:spMk id="60" creationId="{00000000-0000-0000-0000-000000000000}"/>
          </ac:spMkLst>
        </pc:spChg>
      </pc:sldChg>
      <pc:sldChg chg="modSp mod">
        <pc:chgData name="Kenneth Jebjerg" userId="31b26a954995a5e4" providerId="LiveId" clId="{FB9E2242-EB45-4C40-9CD8-7B1EDA37FE0A}" dt="2026-02-16T22:48:47.871" v="519" actId="1036"/>
        <pc:sldMkLst>
          <pc:docMk/>
          <pc:sldMk cId="0" sldId="263"/>
        </pc:sldMkLst>
        <pc:spChg chg="mod">
          <ac:chgData name="Kenneth Jebjerg" userId="31b26a954995a5e4" providerId="LiveId" clId="{FB9E2242-EB45-4C40-9CD8-7B1EDA37FE0A}" dt="2026-02-16T22:48:19.596" v="467" actId="1035"/>
          <ac:spMkLst>
            <pc:docMk/>
            <pc:sldMk cId="0" sldId="263"/>
            <ac:spMk id="6" creationId="{00000000-0000-0000-0000-000000000000}"/>
          </ac:spMkLst>
        </pc:spChg>
        <pc:spChg chg="mod">
          <ac:chgData name="Kenneth Jebjerg" userId="31b26a954995a5e4" providerId="LiveId" clId="{FB9E2242-EB45-4C40-9CD8-7B1EDA37FE0A}" dt="2026-02-16T22:48:19.596" v="467" actId="1035"/>
          <ac:spMkLst>
            <pc:docMk/>
            <pc:sldMk cId="0" sldId="263"/>
            <ac:spMk id="7" creationId="{00000000-0000-0000-0000-000000000000}"/>
          </ac:spMkLst>
        </pc:spChg>
        <pc:spChg chg="mod">
          <ac:chgData name="Kenneth Jebjerg" userId="31b26a954995a5e4" providerId="LiveId" clId="{FB9E2242-EB45-4C40-9CD8-7B1EDA37FE0A}" dt="2026-02-16T22:48:19.596" v="467" actId="1035"/>
          <ac:spMkLst>
            <pc:docMk/>
            <pc:sldMk cId="0" sldId="263"/>
            <ac:spMk id="8" creationId="{00000000-0000-0000-0000-000000000000}"/>
          </ac:spMkLst>
        </pc:spChg>
        <pc:spChg chg="mod">
          <ac:chgData name="Kenneth Jebjerg" userId="31b26a954995a5e4" providerId="LiveId" clId="{FB9E2242-EB45-4C40-9CD8-7B1EDA37FE0A}" dt="2026-02-16T22:48:19.596" v="467" actId="1035"/>
          <ac:spMkLst>
            <pc:docMk/>
            <pc:sldMk cId="0" sldId="263"/>
            <ac:spMk id="9" creationId="{00000000-0000-0000-0000-000000000000}"/>
          </ac:spMkLst>
        </pc:spChg>
        <pc:spChg chg="mod">
          <ac:chgData name="Kenneth Jebjerg" userId="31b26a954995a5e4" providerId="LiveId" clId="{FB9E2242-EB45-4C40-9CD8-7B1EDA37FE0A}" dt="2026-02-16T22:47:26.778" v="408" actId="1038"/>
          <ac:spMkLst>
            <pc:docMk/>
            <pc:sldMk cId="0" sldId="263"/>
            <ac:spMk id="10" creationId="{00000000-0000-0000-0000-000000000000}"/>
          </ac:spMkLst>
        </pc:spChg>
        <pc:spChg chg="mod">
          <ac:chgData name="Kenneth Jebjerg" userId="31b26a954995a5e4" providerId="LiveId" clId="{FB9E2242-EB45-4C40-9CD8-7B1EDA37FE0A}" dt="2026-02-16T22:47:16.939" v="385" actId="1038"/>
          <ac:spMkLst>
            <pc:docMk/>
            <pc:sldMk cId="0" sldId="263"/>
            <ac:spMk id="11" creationId="{00000000-0000-0000-0000-000000000000}"/>
          </ac:spMkLst>
        </pc:spChg>
        <pc:spChg chg="mod">
          <ac:chgData name="Kenneth Jebjerg" userId="31b26a954995a5e4" providerId="LiveId" clId="{FB9E2242-EB45-4C40-9CD8-7B1EDA37FE0A}" dt="2026-02-16T22:47:40.723" v="432" actId="1038"/>
          <ac:spMkLst>
            <pc:docMk/>
            <pc:sldMk cId="0" sldId="263"/>
            <ac:spMk id="12" creationId="{00000000-0000-0000-0000-000000000000}"/>
          </ac:spMkLst>
        </pc:spChg>
        <pc:spChg chg="mod">
          <ac:chgData name="Kenneth Jebjerg" userId="31b26a954995a5e4" providerId="LiveId" clId="{FB9E2242-EB45-4C40-9CD8-7B1EDA37FE0A}" dt="2026-02-16T22:47:26.778" v="408" actId="1038"/>
          <ac:spMkLst>
            <pc:docMk/>
            <pc:sldMk cId="0" sldId="263"/>
            <ac:spMk id="13" creationId="{00000000-0000-0000-0000-000000000000}"/>
          </ac:spMkLst>
        </pc:spChg>
        <pc:spChg chg="mod">
          <ac:chgData name="Kenneth Jebjerg" userId="31b26a954995a5e4" providerId="LiveId" clId="{FB9E2242-EB45-4C40-9CD8-7B1EDA37FE0A}" dt="2026-02-16T22:48:19.596" v="467" actId="1035"/>
          <ac:spMkLst>
            <pc:docMk/>
            <pc:sldMk cId="0" sldId="263"/>
            <ac:spMk id="14" creationId="{00000000-0000-0000-0000-000000000000}"/>
          </ac:spMkLst>
        </pc:spChg>
        <pc:spChg chg="mod">
          <ac:chgData name="Kenneth Jebjerg" userId="31b26a954995a5e4" providerId="LiveId" clId="{FB9E2242-EB45-4C40-9CD8-7B1EDA37FE0A}" dt="2026-02-16T22:48:19.596" v="467" actId="1035"/>
          <ac:spMkLst>
            <pc:docMk/>
            <pc:sldMk cId="0" sldId="263"/>
            <ac:spMk id="15" creationId="{00000000-0000-0000-0000-000000000000}"/>
          </ac:spMkLst>
        </pc:spChg>
        <pc:spChg chg="mod">
          <ac:chgData name="Kenneth Jebjerg" userId="31b26a954995a5e4" providerId="LiveId" clId="{FB9E2242-EB45-4C40-9CD8-7B1EDA37FE0A}" dt="2026-02-16T22:48:19.596" v="467" actId="1035"/>
          <ac:spMkLst>
            <pc:docMk/>
            <pc:sldMk cId="0" sldId="263"/>
            <ac:spMk id="16" creationId="{00000000-0000-0000-0000-000000000000}"/>
          </ac:spMkLst>
        </pc:spChg>
        <pc:spChg chg="mod">
          <ac:chgData name="Kenneth Jebjerg" userId="31b26a954995a5e4" providerId="LiveId" clId="{FB9E2242-EB45-4C40-9CD8-7B1EDA37FE0A}" dt="2026-02-16T22:48:19.596" v="467" actId="1035"/>
          <ac:spMkLst>
            <pc:docMk/>
            <pc:sldMk cId="0" sldId="263"/>
            <ac:spMk id="17" creationId="{00000000-0000-0000-0000-000000000000}"/>
          </ac:spMkLst>
        </pc:spChg>
        <pc:spChg chg="mod">
          <ac:chgData name="Kenneth Jebjerg" userId="31b26a954995a5e4" providerId="LiveId" clId="{FB9E2242-EB45-4C40-9CD8-7B1EDA37FE0A}" dt="2026-02-16T22:48:19.596" v="467" actId="1035"/>
          <ac:spMkLst>
            <pc:docMk/>
            <pc:sldMk cId="0" sldId="263"/>
            <ac:spMk id="18" creationId="{00000000-0000-0000-0000-000000000000}"/>
          </ac:spMkLst>
        </pc:spChg>
        <pc:spChg chg="mod">
          <ac:chgData name="Kenneth Jebjerg" userId="31b26a954995a5e4" providerId="LiveId" clId="{FB9E2242-EB45-4C40-9CD8-7B1EDA37FE0A}" dt="2026-02-16T22:47:26.778" v="408" actId="1038"/>
          <ac:spMkLst>
            <pc:docMk/>
            <pc:sldMk cId="0" sldId="263"/>
            <ac:spMk id="19" creationId="{00000000-0000-0000-0000-000000000000}"/>
          </ac:spMkLst>
        </pc:spChg>
        <pc:spChg chg="mod">
          <ac:chgData name="Kenneth Jebjerg" userId="31b26a954995a5e4" providerId="LiveId" clId="{FB9E2242-EB45-4C40-9CD8-7B1EDA37FE0A}" dt="2026-02-16T22:47:16.939" v="385" actId="1038"/>
          <ac:spMkLst>
            <pc:docMk/>
            <pc:sldMk cId="0" sldId="263"/>
            <ac:spMk id="20" creationId="{00000000-0000-0000-0000-000000000000}"/>
          </ac:spMkLst>
        </pc:spChg>
        <pc:spChg chg="mod">
          <ac:chgData name="Kenneth Jebjerg" userId="31b26a954995a5e4" providerId="LiveId" clId="{FB9E2242-EB45-4C40-9CD8-7B1EDA37FE0A}" dt="2026-02-16T22:48:19.596" v="467" actId="1035"/>
          <ac:spMkLst>
            <pc:docMk/>
            <pc:sldMk cId="0" sldId="263"/>
            <ac:spMk id="21" creationId="{00000000-0000-0000-0000-000000000000}"/>
          </ac:spMkLst>
        </pc:spChg>
        <pc:spChg chg="mod">
          <ac:chgData name="Kenneth Jebjerg" userId="31b26a954995a5e4" providerId="LiveId" clId="{FB9E2242-EB45-4C40-9CD8-7B1EDA37FE0A}" dt="2026-02-16T22:48:07.264" v="454" actId="1076"/>
          <ac:spMkLst>
            <pc:docMk/>
            <pc:sldMk cId="0" sldId="263"/>
            <ac:spMk id="22" creationId="{00000000-0000-0000-0000-000000000000}"/>
          </ac:spMkLst>
        </pc:spChg>
        <pc:spChg chg="mod">
          <ac:chgData name="Kenneth Jebjerg" userId="31b26a954995a5e4" providerId="LiveId" clId="{FB9E2242-EB45-4C40-9CD8-7B1EDA37FE0A}" dt="2026-02-16T22:48:43.075" v="511" actId="1038"/>
          <ac:spMkLst>
            <pc:docMk/>
            <pc:sldMk cId="0" sldId="263"/>
            <ac:spMk id="23" creationId="{00000000-0000-0000-0000-000000000000}"/>
          </ac:spMkLst>
        </pc:spChg>
        <pc:spChg chg="mod">
          <ac:chgData name="Kenneth Jebjerg" userId="31b26a954995a5e4" providerId="LiveId" clId="{FB9E2242-EB45-4C40-9CD8-7B1EDA37FE0A}" dt="2026-02-16T22:48:43.075" v="511" actId="1038"/>
          <ac:spMkLst>
            <pc:docMk/>
            <pc:sldMk cId="0" sldId="263"/>
            <ac:spMk id="24" creationId="{00000000-0000-0000-0000-000000000000}"/>
          </ac:spMkLst>
        </pc:spChg>
        <pc:spChg chg="mod">
          <ac:chgData name="Kenneth Jebjerg" userId="31b26a954995a5e4" providerId="LiveId" clId="{FB9E2242-EB45-4C40-9CD8-7B1EDA37FE0A}" dt="2026-02-16T22:48:43.075" v="511" actId="1038"/>
          <ac:spMkLst>
            <pc:docMk/>
            <pc:sldMk cId="0" sldId="263"/>
            <ac:spMk id="25" creationId="{00000000-0000-0000-0000-000000000000}"/>
          </ac:spMkLst>
        </pc:spChg>
        <pc:spChg chg="mod">
          <ac:chgData name="Kenneth Jebjerg" userId="31b26a954995a5e4" providerId="LiveId" clId="{FB9E2242-EB45-4C40-9CD8-7B1EDA37FE0A}" dt="2026-02-16T22:48:47.871" v="519" actId="1036"/>
          <ac:spMkLst>
            <pc:docMk/>
            <pc:sldMk cId="0" sldId="263"/>
            <ac:spMk id="26" creationId="{00000000-0000-0000-0000-000000000000}"/>
          </ac:spMkLst>
        </pc:spChg>
        <pc:spChg chg="mod">
          <ac:chgData name="Kenneth Jebjerg" userId="31b26a954995a5e4" providerId="LiveId" clId="{FB9E2242-EB45-4C40-9CD8-7B1EDA37FE0A}" dt="2026-02-16T22:48:43.075" v="511" actId="1038"/>
          <ac:spMkLst>
            <pc:docMk/>
            <pc:sldMk cId="0" sldId="263"/>
            <ac:spMk id="27" creationId="{00000000-0000-0000-0000-000000000000}"/>
          </ac:spMkLst>
        </pc:spChg>
      </pc:sldChg>
      <pc:sldChg chg="modSp mod">
        <pc:chgData name="Kenneth Jebjerg" userId="31b26a954995a5e4" providerId="LiveId" clId="{FB9E2242-EB45-4C40-9CD8-7B1EDA37FE0A}" dt="2026-02-16T22:49:23.588" v="520" actId="20577"/>
        <pc:sldMkLst>
          <pc:docMk/>
          <pc:sldMk cId="0" sldId="265"/>
        </pc:sldMkLst>
        <pc:spChg chg="mod">
          <ac:chgData name="Kenneth Jebjerg" userId="31b26a954995a5e4" providerId="LiveId" clId="{FB9E2242-EB45-4C40-9CD8-7B1EDA37FE0A}" dt="2026-02-16T22:49:23.588" v="520" actId="20577"/>
          <ac:spMkLst>
            <pc:docMk/>
            <pc:sldMk cId="0" sldId="265"/>
            <ac:spMk id="3" creationId="{00000000-0000-0000-0000-000000000000}"/>
          </ac:spMkLst>
        </pc:spChg>
      </pc:sldChg>
      <pc:sldChg chg="modSp mod">
        <pc:chgData name="Kenneth Jebjerg" userId="31b26a954995a5e4" providerId="LiveId" clId="{FB9E2242-EB45-4C40-9CD8-7B1EDA37FE0A}" dt="2026-02-16T22:52:05.933" v="654" actId="1076"/>
        <pc:sldMkLst>
          <pc:docMk/>
          <pc:sldMk cId="0" sldId="270"/>
        </pc:sldMkLst>
        <pc:spChg chg="mod">
          <ac:chgData name="Kenneth Jebjerg" userId="31b26a954995a5e4" providerId="LiveId" clId="{FB9E2242-EB45-4C40-9CD8-7B1EDA37FE0A}" dt="2026-02-16T22:13:58.241" v="74" actId="20577"/>
          <ac:spMkLst>
            <pc:docMk/>
            <pc:sldMk cId="0" sldId="270"/>
            <ac:spMk id="26" creationId="{00000000-0000-0000-0000-000000000000}"/>
          </ac:spMkLst>
        </pc:spChg>
        <pc:spChg chg="mod">
          <ac:chgData name="Kenneth Jebjerg" userId="31b26a954995a5e4" providerId="LiveId" clId="{FB9E2242-EB45-4C40-9CD8-7B1EDA37FE0A}" dt="2026-02-16T22:50:19.982" v="533" actId="1035"/>
          <ac:spMkLst>
            <pc:docMk/>
            <pc:sldMk cId="0" sldId="270"/>
            <ac:spMk id="32" creationId="{00000000-0000-0000-0000-000000000000}"/>
          </ac:spMkLst>
        </pc:spChg>
        <pc:spChg chg="mod">
          <ac:chgData name="Kenneth Jebjerg" userId="31b26a954995a5e4" providerId="LiveId" clId="{FB9E2242-EB45-4C40-9CD8-7B1EDA37FE0A}" dt="2026-02-16T22:50:19.982" v="533" actId="1035"/>
          <ac:spMkLst>
            <pc:docMk/>
            <pc:sldMk cId="0" sldId="270"/>
            <ac:spMk id="33" creationId="{00000000-0000-0000-0000-000000000000}"/>
          </ac:spMkLst>
        </pc:spChg>
        <pc:spChg chg="mod">
          <ac:chgData name="Kenneth Jebjerg" userId="31b26a954995a5e4" providerId="LiveId" clId="{FB9E2242-EB45-4C40-9CD8-7B1EDA37FE0A}" dt="2026-02-16T22:50:19.982" v="533" actId="1035"/>
          <ac:spMkLst>
            <pc:docMk/>
            <pc:sldMk cId="0" sldId="270"/>
            <ac:spMk id="34" creationId="{00000000-0000-0000-0000-000000000000}"/>
          </ac:spMkLst>
        </pc:spChg>
        <pc:spChg chg="mod">
          <ac:chgData name="Kenneth Jebjerg" userId="31b26a954995a5e4" providerId="LiveId" clId="{FB9E2242-EB45-4C40-9CD8-7B1EDA37FE0A}" dt="2026-02-16T22:50:19.982" v="533" actId="1035"/>
          <ac:spMkLst>
            <pc:docMk/>
            <pc:sldMk cId="0" sldId="270"/>
            <ac:spMk id="35" creationId="{00000000-0000-0000-0000-000000000000}"/>
          </ac:spMkLst>
        </pc:spChg>
        <pc:spChg chg="mod">
          <ac:chgData name="Kenneth Jebjerg" userId="31b26a954995a5e4" providerId="LiveId" clId="{FB9E2242-EB45-4C40-9CD8-7B1EDA37FE0A}" dt="2026-02-16T22:50:19.982" v="533" actId="1035"/>
          <ac:spMkLst>
            <pc:docMk/>
            <pc:sldMk cId="0" sldId="270"/>
            <ac:spMk id="36" creationId="{00000000-0000-0000-0000-000000000000}"/>
          </ac:spMkLst>
        </pc:spChg>
        <pc:spChg chg="mod">
          <ac:chgData name="Kenneth Jebjerg" userId="31b26a954995a5e4" providerId="LiveId" clId="{FB9E2242-EB45-4C40-9CD8-7B1EDA37FE0A}" dt="2026-02-16T22:50:29.535" v="560" actId="1036"/>
          <ac:spMkLst>
            <pc:docMk/>
            <pc:sldMk cId="0" sldId="270"/>
            <ac:spMk id="37" creationId="{00000000-0000-0000-0000-000000000000}"/>
          </ac:spMkLst>
        </pc:spChg>
        <pc:spChg chg="mod">
          <ac:chgData name="Kenneth Jebjerg" userId="31b26a954995a5e4" providerId="LiveId" clId="{FB9E2242-EB45-4C40-9CD8-7B1EDA37FE0A}" dt="2026-02-16T22:50:29.535" v="560" actId="1036"/>
          <ac:spMkLst>
            <pc:docMk/>
            <pc:sldMk cId="0" sldId="270"/>
            <ac:spMk id="38" creationId="{00000000-0000-0000-0000-000000000000}"/>
          </ac:spMkLst>
        </pc:spChg>
        <pc:spChg chg="mod">
          <ac:chgData name="Kenneth Jebjerg" userId="31b26a954995a5e4" providerId="LiveId" clId="{FB9E2242-EB45-4C40-9CD8-7B1EDA37FE0A}" dt="2026-02-16T22:50:29.535" v="560" actId="1036"/>
          <ac:spMkLst>
            <pc:docMk/>
            <pc:sldMk cId="0" sldId="270"/>
            <ac:spMk id="39" creationId="{00000000-0000-0000-0000-000000000000}"/>
          </ac:spMkLst>
        </pc:spChg>
        <pc:spChg chg="mod">
          <ac:chgData name="Kenneth Jebjerg" userId="31b26a954995a5e4" providerId="LiveId" clId="{FB9E2242-EB45-4C40-9CD8-7B1EDA37FE0A}" dt="2026-02-16T22:50:29.535" v="560" actId="1036"/>
          <ac:spMkLst>
            <pc:docMk/>
            <pc:sldMk cId="0" sldId="270"/>
            <ac:spMk id="40" creationId="{00000000-0000-0000-0000-000000000000}"/>
          </ac:spMkLst>
        </pc:spChg>
        <pc:spChg chg="mod">
          <ac:chgData name="Kenneth Jebjerg" userId="31b26a954995a5e4" providerId="LiveId" clId="{FB9E2242-EB45-4C40-9CD8-7B1EDA37FE0A}" dt="2026-02-16T22:50:29.535" v="560" actId="1036"/>
          <ac:spMkLst>
            <pc:docMk/>
            <pc:sldMk cId="0" sldId="270"/>
            <ac:spMk id="41" creationId="{00000000-0000-0000-0000-000000000000}"/>
          </ac:spMkLst>
        </pc:spChg>
        <pc:spChg chg="mod">
          <ac:chgData name="Kenneth Jebjerg" userId="31b26a954995a5e4" providerId="LiveId" clId="{FB9E2242-EB45-4C40-9CD8-7B1EDA37FE0A}" dt="2026-02-16T22:50:44.200" v="585" actId="1036"/>
          <ac:spMkLst>
            <pc:docMk/>
            <pc:sldMk cId="0" sldId="270"/>
            <ac:spMk id="42" creationId="{00000000-0000-0000-0000-000000000000}"/>
          </ac:spMkLst>
        </pc:spChg>
        <pc:spChg chg="mod">
          <ac:chgData name="Kenneth Jebjerg" userId="31b26a954995a5e4" providerId="LiveId" clId="{FB9E2242-EB45-4C40-9CD8-7B1EDA37FE0A}" dt="2026-02-16T22:50:44.200" v="585" actId="1036"/>
          <ac:spMkLst>
            <pc:docMk/>
            <pc:sldMk cId="0" sldId="270"/>
            <ac:spMk id="43" creationId="{00000000-0000-0000-0000-000000000000}"/>
          </ac:spMkLst>
        </pc:spChg>
        <pc:spChg chg="mod">
          <ac:chgData name="Kenneth Jebjerg" userId="31b26a954995a5e4" providerId="LiveId" clId="{FB9E2242-EB45-4C40-9CD8-7B1EDA37FE0A}" dt="2026-02-16T22:50:44.200" v="585" actId="1036"/>
          <ac:spMkLst>
            <pc:docMk/>
            <pc:sldMk cId="0" sldId="270"/>
            <ac:spMk id="44" creationId="{00000000-0000-0000-0000-000000000000}"/>
          </ac:spMkLst>
        </pc:spChg>
        <pc:spChg chg="mod">
          <ac:chgData name="Kenneth Jebjerg" userId="31b26a954995a5e4" providerId="LiveId" clId="{FB9E2242-EB45-4C40-9CD8-7B1EDA37FE0A}" dt="2026-02-16T22:51:53.852" v="653" actId="1076"/>
          <ac:spMkLst>
            <pc:docMk/>
            <pc:sldMk cId="0" sldId="270"/>
            <ac:spMk id="45" creationId="{00000000-0000-0000-0000-000000000000}"/>
          </ac:spMkLst>
        </pc:spChg>
        <pc:spChg chg="mod">
          <ac:chgData name="Kenneth Jebjerg" userId="31b26a954995a5e4" providerId="LiveId" clId="{FB9E2242-EB45-4C40-9CD8-7B1EDA37FE0A}" dt="2026-02-16T22:50:44.200" v="585" actId="1036"/>
          <ac:spMkLst>
            <pc:docMk/>
            <pc:sldMk cId="0" sldId="270"/>
            <ac:spMk id="46" creationId="{00000000-0000-0000-0000-000000000000}"/>
          </ac:spMkLst>
        </pc:spChg>
        <pc:spChg chg="mod">
          <ac:chgData name="Kenneth Jebjerg" userId="31b26a954995a5e4" providerId="LiveId" clId="{FB9E2242-EB45-4C40-9CD8-7B1EDA37FE0A}" dt="2026-02-16T22:51:02.646" v="619" actId="1036"/>
          <ac:spMkLst>
            <pc:docMk/>
            <pc:sldMk cId="0" sldId="270"/>
            <ac:spMk id="47" creationId="{00000000-0000-0000-0000-000000000000}"/>
          </ac:spMkLst>
        </pc:spChg>
        <pc:spChg chg="mod">
          <ac:chgData name="Kenneth Jebjerg" userId="31b26a954995a5e4" providerId="LiveId" clId="{FB9E2242-EB45-4C40-9CD8-7B1EDA37FE0A}" dt="2026-02-16T22:51:02.646" v="619" actId="1036"/>
          <ac:spMkLst>
            <pc:docMk/>
            <pc:sldMk cId="0" sldId="270"/>
            <ac:spMk id="48" creationId="{00000000-0000-0000-0000-000000000000}"/>
          </ac:spMkLst>
        </pc:spChg>
        <pc:spChg chg="mod">
          <ac:chgData name="Kenneth Jebjerg" userId="31b26a954995a5e4" providerId="LiveId" clId="{FB9E2242-EB45-4C40-9CD8-7B1EDA37FE0A}" dt="2026-02-16T22:51:02.646" v="619" actId="1036"/>
          <ac:spMkLst>
            <pc:docMk/>
            <pc:sldMk cId="0" sldId="270"/>
            <ac:spMk id="49" creationId="{00000000-0000-0000-0000-000000000000}"/>
          </ac:spMkLst>
        </pc:spChg>
        <pc:spChg chg="mod">
          <ac:chgData name="Kenneth Jebjerg" userId="31b26a954995a5e4" providerId="LiveId" clId="{FB9E2242-EB45-4C40-9CD8-7B1EDA37FE0A}" dt="2026-02-16T22:52:05.933" v="654" actId="1076"/>
          <ac:spMkLst>
            <pc:docMk/>
            <pc:sldMk cId="0" sldId="270"/>
            <ac:spMk id="50" creationId="{00000000-0000-0000-0000-000000000000}"/>
          </ac:spMkLst>
        </pc:spChg>
        <pc:spChg chg="mod">
          <ac:chgData name="Kenneth Jebjerg" userId="31b26a954995a5e4" providerId="LiveId" clId="{FB9E2242-EB45-4C40-9CD8-7B1EDA37FE0A}" dt="2026-02-16T22:51:02.646" v="619" actId="1036"/>
          <ac:spMkLst>
            <pc:docMk/>
            <pc:sldMk cId="0" sldId="270"/>
            <ac:spMk id="51" creationId="{00000000-0000-0000-0000-000000000000}"/>
          </ac:spMkLst>
        </pc:spChg>
        <pc:spChg chg="mod">
          <ac:chgData name="Kenneth Jebjerg" userId="31b26a954995a5e4" providerId="LiveId" clId="{FB9E2242-EB45-4C40-9CD8-7B1EDA37FE0A}" dt="2026-02-16T22:51:37.677" v="651" actId="14100"/>
          <ac:spMkLst>
            <pc:docMk/>
            <pc:sldMk cId="0" sldId="270"/>
            <ac:spMk id="52" creationId="{00000000-0000-0000-0000-000000000000}"/>
          </ac:spMkLst>
        </pc:spChg>
        <pc:spChg chg="mod">
          <ac:chgData name="Kenneth Jebjerg" userId="31b26a954995a5e4" providerId="LiveId" clId="{FB9E2242-EB45-4C40-9CD8-7B1EDA37FE0A}" dt="2026-02-16T22:51:43.506" v="652" actId="1076"/>
          <ac:spMkLst>
            <pc:docMk/>
            <pc:sldMk cId="0" sldId="270"/>
            <ac:spMk id="53" creationId="{00000000-0000-0000-0000-000000000000}"/>
          </ac:spMkLst>
        </pc:spChg>
      </pc:sldChg>
      <pc:sldChg chg="modSp mod">
        <pc:chgData name="Kenneth Jebjerg" userId="31b26a954995a5e4" providerId="LiveId" clId="{FB9E2242-EB45-4C40-9CD8-7B1EDA37FE0A}" dt="2026-02-16T22:36:06.619" v="88" actId="20577"/>
        <pc:sldMkLst>
          <pc:docMk/>
          <pc:sldMk cId="0" sldId="273"/>
        </pc:sldMkLst>
        <pc:spChg chg="mod">
          <ac:chgData name="Kenneth Jebjerg" userId="31b26a954995a5e4" providerId="LiveId" clId="{FB9E2242-EB45-4C40-9CD8-7B1EDA37FE0A}" dt="2026-02-16T22:36:06.619" v="88" actId="20577"/>
          <ac:spMkLst>
            <pc:docMk/>
            <pc:sldMk cId="0" sldId="273"/>
            <ac:spMk id="16" creationId="{00000000-0000-0000-0000-000000000000}"/>
          </ac:spMkLst>
        </pc:spChg>
        <pc:spChg chg="mod">
          <ac:chgData name="Kenneth Jebjerg" userId="31b26a954995a5e4" providerId="LiveId" clId="{FB9E2242-EB45-4C40-9CD8-7B1EDA37FE0A}" dt="2026-02-16T22:12:26.430" v="54" actId="20577"/>
          <ac:spMkLst>
            <pc:docMk/>
            <pc:sldMk cId="0" sldId="273"/>
            <ac:spMk id="22" creationId="{00000000-0000-0000-0000-000000000000}"/>
          </ac:spMkLst>
        </pc:spChg>
        <pc:spChg chg="mod">
          <ac:chgData name="Kenneth Jebjerg" userId="31b26a954995a5e4" providerId="LiveId" clId="{FB9E2242-EB45-4C40-9CD8-7B1EDA37FE0A}" dt="2026-02-16T22:11:27.319" v="44" actId="6549"/>
          <ac:spMkLst>
            <pc:docMk/>
            <pc:sldMk cId="0" sldId="273"/>
            <ac:spMk id="7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7481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Title Slide</a:t>
            </a:r>
          </a:p>
          <a:p>
            <a:endParaRPr/>
          </a:p>
          <a:p>
            <a:r>
              <a:t>Welcome everyone. Today I'm presenting MIP — the Market Intelligence Platform.</a:t>
            </a:r>
          </a:p>
          <a:p>
            <a:endParaRPr/>
          </a:p>
          <a:p>
            <a:r>
              <a:t>MIP is a system I conceived to address a fundamental gap in how we discover, evaluate, and act on trading signals. It's a Snowflake-native pipeline that automates the full lifecycle: from ingesting market data, through pattern detection and signal evaluation, all the way to risk-managed paper trading — with AI-generated daily briefs that explain what happened and why.</a:t>
            </a:r>
          </a:p>
          <a:p>
            <a:endParaRPr/>
          </a:p>
          <a:p>
            <a:r>
              <a:t>The key idea: signals should earn our trust through data before we risk capital on them. MIP makes that process systematic, continuous, and transparent.</a:t>
            </a:r>
          </a:p>
          <a:p>
            <a:endParaRPr/>
          </a:p>
          <a:p>
            <a:r>
              <a:t>Let me walk you through how it works.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The Challenge</a:t>
            </a:r>
          </a:p>
          <a:p>
            <a:endParaRPr/>
          </a:p>
          <a:p>
            <a:r>
              <a:t>Let me start with the problem MIP was designed to solve.</a:t>
            </a:r>
          </a:p>
          <a:p>
            <a:endParaRPr/>
          </a:p>
          <a:p>
            <a:r>
              <a:t>MANUAL DISCOVERY: Our traders and analysts look at charts manually. That works for a handful of names, but when you're covering 50+ instruments across stocks, ETFs, and FX — and looking at momentum patterns across multiple timeframes — it just doesn't scale. Good signals get missed every day.</a:t>
            </a:r>
          </a:p>
          <a:p>
            <a:endParaRPr/>
          </a:p>
          <a:p>
            <a:r>
              <a:t>NO CONTINUOUS EVALUATION: A momentum pattern that worked well on AAPL last quarter might be failing now. Without systematic tracking of signal outcomes at multiple forward horizons — 1 day, 3 days, 5 days, 10 days, 20 days — we have no way of knowing which signals are actually reliable right now. We're trading on assumptions, not evidence.</a:t>
            </a:r>
          </a:p>
          <a:p>
            <a:endParaRPr/>
          </a:p>
          <a:p>
            <a:r>
              <a:t>AD HOC PAPER TRADING: When we do paper trade, it's often in spreadsheets with no standardised risk framework. There's no position limit enforcement, no drawdown stops, no crystallisation rules. And crucially, there's no audit trail — so we can't learn from what we did.</a:t>
            </a:r>
          </a:p>
          <a:p>
            <a:endParaRPr/>
          </a:p>
          <a:p>
            <a:r>
              <a:t>MISSING THE 'WHY': When the P&amp;L moves, the narrative is often missing. Why did we enter this position? What signal drove it? What was the risk state at the time? MIP solves all of this.</a:t>
            </a:r>
          </a:p>
          <a:p>
            <a:endParaRPr/>
          </a:p>
          <a:p>
            <a:r>
              <a:t>The fundamental insight: the gap isn't a shortage of trading ideas. It's the lack of a disciplined, continuous system to evaluate those ideas at scale.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What MIP Does</a:t>
            </a:r>
          </a:p>
          <a:p>
            <a:endParaRPr/>
          </a:p>
          <a:p>
            <a:r>
              <a:t>Here's MIP in one sentence: it's a Snowflake-native daily pipeline that ingests market data, detects momentum patterns, evaluates their reliability over time, and runs risk-managed paper portfolios — with AI-generated daily briefs explaining what happened and why.</a:t>
            </a:r>
          </a:p>
          <a:p>
            <a:endParaRPr/>
          </a:p>
          <a:p>
            <a:r>
              <a:t>Let me walk through the pipeline left to right:</a:t>
            </a:r>
          </a:p>
          <a:p>
            <a:endParaRPr/>
          </a:p>
          <a:p>
            <a:r>
              <a:t>1. INGEST: We pull OHLC (Open-High-Low-Close) price data from AlphaVantage for stocks, ETFs, and FX pairs. The universe is configurable — you enable or disable symbols in a table. Ingestion is idempotent and handles rate limits automatically.</a:t>
            </a:r>
          </a:p>
          <a:p>
            <a:endParaRPr/>
          </a:p>
          <a:p>
            <a:r>
              <a:t>2. DETECT: We run configurable momentum pattern detectors. Right now these are moving-average crossover patterns — fast MA vs slow MA — with z-score and minimum-return filters. Each detection generates a signal with a score.</a:t>
            </a:r>
          </a:p>
          <a:p>
            <a:endParaRPr/>
          </a:p>
          <a:p>
            <a:r>
              <a:t>3. EVALUATE: Every signal is tracked at 5 forward horizons: 1, 3, 5, 10, and 20 bars ahead. We measure: did the price move in the predicted direction? By how much? This builds up a statistical track record for each pattern on each instrument.</a:t>
            </a:r>
          </a:p>
          <a:p>
            <a:endParaRPr/>
          </a:p>
          <a:p>
            <a:r>
              <a:t>4. CLASSIFY: Based on the track record, each pattern-instrument combination gets a trust label. TRUSTED means: 30+ successful signals, 80%+ coverage rate, and positive average returns. Only TRUSTED signals can generate trade proposals. WATCH signals are monitored. UNTRUSTED are ignored.</a:t>
            </a:r>
          </a:p>
          <a:p>
            <a:endParaRPr/>
          </a:p>
          <a:p>
            <a:r>
              <a:t>5. SIMULATE: For each active portfolio, we run paper trading. Positions are opened based on trusted signals, with full risk management: position limits, drawdown stops, bust thresholds, crystallisation rules.</a:t>
            </a:r>
          </a:p>
          <a:p>
            <a:endParaRPr/>
          </a:p>
          <a:p>
            <a:r>
              <a:t>6. NARRATE: Snowflake Cortex generates AI narratives — daily digests, portfolio stories, training progress reports — so you get a plain-English explanation of what happened and why, every single day.</a:t>
            </a:r>
          </a:p>
          <a:p>
            <a:endParaRPr/>
          </a:p>
          <a:p>
            <a:r>
              <a:t>The key architectural decision: everything runs inside Snowflake as stored procedures. No external compute, no Lambda functions, no Kubernetes. One database, one pipeline, full audit trail.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How It All Fits Together</a:t>
            </a:r>
          </a:p>
          <a:p>
            <a:endParaRPr/>
          </a:p>
          <a:p>
            <a:r>
              <a:t>Walk through this left to right, like data flowing through the system.</a:t>
            </a:r>
          </a:p>
          <a:p>
            <a:endParaRPr/>
          </a:p>
          <a:p>
            <a:r>
              <a:t>START RIGHT — SNOWFLAKE (THE CORE ENGINE):</a:t>
            </a:r>
          </a:p>
          <a:p>
            <a:r>
              <a:t>Point to the right column first. This is where everything important happens. 30+ stored procedures handle the entire pipeline: data ingestion, returns calculation, signal detection, outcome evaluation, trust classification, portfolio simulation, trade proposals, and AI narrative generation.</a:t>
            </a:r>
          </a:p>
          <a:p>
            <a:endParaRPr/>
          </a:p>
          <a:p>
            <a:r>
              <a:t>It's organised into four schemas:</a:t>
            </a:r>
          </a:p>
          <a:p>
            <a:r>
              <a:t>- APP: The operational core — tables for portfolios, trades, positions, signals, plus all the stored procedures.</a:t>
            </a:r>
          </a:p>
          <a:p>
            <a:r>
              <a:t>- MART: The analytics layer — 40+ views that pre-compute KPIs, training leaderboards, attribution analysis, risk state summaries. The dashboard reads from these.</a:t>
            </a:r>
          </a:p>
          <a:p>
            <a:r>
              <a:t>- AGENT_OUT: AI output storage — daily digests, portfolio intelligence, training briefs generated by Snowflake Cortex.</a:t>
            </a:r>
          </a:p>
          <a:p>
            <a:r>
              <a:t>- RAW_EXT: External data staging — where AlphaVantage OHLC data lands before being processed.</a:t>
            </a:r>
          </a:p>
          <a:p>
            <a:endParaRPr/>
          </a:p>
          <a:p>
            <a:r>
              <a:t>The daily pipeline runs on a Snowflake Task at 07:00 — no cron jobs, no external scheduler. It's completely self-contained.</a:t>
            </a:r>
          </a:p>
          <a:p>
            <a:endParaRPr/>
          </a:p>
          <a:p>
            <a:r>
              <a:t>MIDDLE — FASTAPI:</a:t>
            </a:r>
          </a:p>
          <a:p>
            <a:r>
              <a:t>Point to the centre column. This is deliberately thin. 18+ RESTful endpoints, keypair authentication (no passwords, no MFA), and strictly read-only. The API never writes to the database. Its only job is to transform SQL result sets into JSON for the frontend. This is important: the business logic is NOT in the API. If the API dies, the pipeline still runs. If you want to replace the frontend, the API is the only thing that changes.</a:t>
            </a:r>
          </a:p>
          <a:p>
            <a:endParaRPr/>
          </a:p>
          <a:p>
            <a:r>
              <a:t>LEFT — REACT DASHBOARD:</a:t>
            </a:r>
          </a:p>
          <a:p>
            <a:r>
              <a:t>Point to the left column. 7 research screens, each serving a specific analytical purpose. Two things to highlight here:</a:t>
            </a:r>
          </a:p>
          <a:p>
            <a:endParaRPr/>
          </a:p>
          <a:p>
            <a:r>
              <a:t>1. Explain Mode: every metric, badge, and chart in the UI has contextual tooltips. Toggle Explain Mode on and the system teaches you what everything means. This is self-documenting software.</a:t>
            </a:r>
          </a:p>
          <a:p>
            <a:endParaRPr/>
          </a:p>
          <a:p>
            <a:r>
              <a:t>2. Visibility-aware polling: when the browser tab is hidden (you switch to another app or go home), ALL Snowflake queries stop. The warehouse auto-suspends after 60 seconds of inactivity. This means MIP costs zero when you're not looking at it. I built this specifically because I was seeing unnecessary warehouse costs from overnight polling.</a:t>
            </a:r>
          </a:p>
          <a:p>
            <a:endParaRPr/>
          </a:p>
          <a:p>
            <a:r>
              <a:t>THE KEY INSIGHT:</a:t>
            </a:r>
          </a:p>
          <a:p>
            <a:r>
              <a:t>This architecture mirrors how institutional investment systems work: a presentation layer (React), an API/middleware layer (FastAPI), and a core engine (Snowflake). But the crucial difference is that MIP puts ALL business logic in the core engine. No "smart API" that hides logic in Python. No frontend that computes derived values. One source of truth, one audit trail, one pipeline.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The Training Engine</a:t>
            </a:r>
          </a:p>
          <a:p>
            <a:endParaRPr/>
          </a:p>
          <a:p>
            <a:r>
              <a:t>This is the intellectual core of MIP — the training engine.</a:t>
            </a:r>
          </a:p>
          <a:p>
            <a:endParaRPr/>
          </a:p>
          <a:p>
            <a:r>
              <a:t>SIGNAL GENERATION:</a:t>
            </a:r>
          </a:p>
          <a:p>
            <a:r>
              <a:t>MIP runs momentum pattern detectors against daily price data. Currently these are moving-average crossover patterns — a fast MA (say 5-day) crossing above a slow MA (say 20-day), filtered by minimum return thresholds and z-scores to weed out noise. The pattern parameters are fully configurable and stored in the database, so adding new patterns or tweaking existing ones is a configuration change, not a code change.</a:t>
            </a:r>
          </a:p>
          <a:p>
            <a:endParaRPr/>
          </a:p>
          <a:p>
            <a:r>
              <a:t>Every signal gets a score and a recommended action (BUY or SELL), and is stored in the RECOMMENDATION_LOG with full provenance — which pattern detected it, when, with what score.</a:t>
            </a:r>
          </a:p>
          <a:p>
            <a:endParaRPr/>
          </a:p>
          <a:p>
            <a:r>
              <a:t>OUTCOME EVALUATION:</a:t>
            </a:r>
          </a:p>
          <a:p>
            <a:r>
              <a:t>Here's what makes MIP different from a simple screener: every signal is tracked at 5 forward horizons — 1, 3, 5, 10, and 20 bars ahead. We measure whether the price moved in the predicted direction, and by how much. Over time, this builds up a statistical track record: hit rates, average returns, coverage rates.</a:t>
            </a:r>
          </a:p>
          <a:p>
            <a:endParaRPr/>
          </a:p>
          <a:p>
            <a:r>
              <a:t>TRUST CLASSIFICATION — the real differentiator:</a:t>
            </a:r>
          </a:p>
          <a:p>
            <a:r>
              <a:t>Based on this track record, each pattern-instrument-horizon combination gets a trust label:</a:t>
            </a:r>
          </a:p>
          <a:p>
            <a:r>
              <a:t>- TRUSTED: 30+ successful outcomes, 80%+ coverage rate, and positive average returns. Only TRUSTED signals can generate trade proposals.</a:t>
            </a:r>
          </a:p>
          <a:p>
            <a:r>
              <a:t>- WATCH: Meets the statistical thresholds but returns are flat or negative. We're monitoring these — they might improve.</a:t>
            </a:r>
          </a:p>
          <a:p>
            <a:r>
              <a:t>- UNTRUSTED: Not enough data or consistently poor performance. Ignored completely.</a:t>
            </a:r>
          </a:p>
          <a:p>
            <a:endParaRPr/>
          </a:p>
          <a:p>
            <a:r>
              <a:t>This means signals must EARN the right to trade. No assumptions, no gut feelings — just data.</a:t>
            </a:r>
          </a:p>
          <a:p>
            <a:endParaRPr/>
          </a:p>
          <a:p>
            <a:r>
              <a:t>MATURITY JOURNEY:</a:t>
            </a:r>
          </a:p>
          <a:p>
            <a:r>
              <a:t>Each pattern-instrument pair progresses through maturity stages: INSUFFICIENT (too little data), WARMING UP (starting to accumulate), LEARNING (building statistical confidence), and CONFIDENT (ready to trade). The Training Status screen in the UI lets you monitor this journey for every instrument.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Trust &amp; Maturity Deep Dive</a:t>
            </a:r>
          </a:p>
          <a:p>
            <a:endParaRPr/>
          </a:p>
          <a:p>
            <a:r>
              <a:t>This is the slide where you answer the sceptic who says "every system claims to be evidence-based."</a:t>
            </a:r>
          </a:p>
          <a:p>
            <a:endParaRPr/>
          </a:p>
          <a:p>
            <a:r>
              <a:t>THE STATE MACHINE:</a:t>
            </a:r>
          </a:p>
          <a:p>
            <a:r>
              <a:t>Every pattern-instrument combination starts at INSUFFICIENT (&lt; 10 signals evaluated). As the daily pipeline runs and forward returns mature, it progresses through WARMING UP (10-19), LEARNING (20-29), and finally CONFIDENT (30+). This isn't a one-time check — it runs continuously as new data arrives.</a:t>
            </a:r>
          </a:p>
          <a:p>
            <a:endParaRPr/>
          </a:p>
          <a:p>
            <a:r>
              <a:t>THE TRUST DECISION:</a:t>
            </a:r>
          </a:p>
          <a:p>
            <a:r>
              <a:t>Once a combination reaches CONFIDENT status, the actual outcomes determine its trust label:</a:t>
            </a:r>
          </a:p>
          <a:p>
            <a:r>
              <a:t>- TRUSTED requires 30+ successes, 80%+ coverage (enough forward bars to evaluate), AND positive average returns. All three conditions must be met simultaneously. This is deliberately strict.</a:t>
            </a:r>
          </a:p>
          <a:p>
            <a:r>
              <a:t>- WATCH means the thresholds are met but returns are flat/negative. These are monitored — they might improve with more data.</a:t>
            </a:r>
          </a:p>
          <a:p>
            <a:r>
              <a:t>- UNTRUSTED means the signal has either too little data or consistently poor performance. The system ignores these entirely.</a:t>
            </a:r>
          </a:p>
          <a:p>
            <a:endParaRPr/>
          </a:p>
          <a:p>
            <a:r>
              <a:t>THE CONCRETE EXAMPLE:</a:t>
            </a:r>
          </a:p>
          <a:p>
            <a:r>
              <a:t>NVDA with Pattern MA 5/20: 53 signals detected over time, 68% hit rate at the target horizon, average return +1.4%, 91% coverage. This earns TRUSTED status and the right to generate proposals.</a:t>
            </a:r>
          </a:p>
          <a:p>
            <a:endParaRPr/>
          </a:p>
          <a:p>
            <a:r>
              <a:t>THE FUNNEL:</a:t>
            </a:r>
          </a:p>
          <a:p>
            <a:r>
              <a:t>This is the "wow" number: of 267 signals generated in a typical month, only 42 earn TRUSTED status. Of those, 18 pass the risk gate (position limits, drawdown checks). Only 11 actually result in paper trades. That's a 4% conversion rate from signal to trade. This selectivity is the point — quality over quantity.</a:t>
            </a:r>
          </a:p>
          <a:p>
            <a:endParaRPr/>
          </a:p>
          <a:p>
            <a:r>
              <a:t>WHY THIS IS DIFFERENT:</a:t>
            </a:r>
          </a:p>
          <a:p>
            <a:r>
              <a:t>Most screening systems generate signals and hand them to a trader. MIP doesn't. It forces every signal through months of forward evaluation, demands statistical evidence, and only then allows it to trade. You cannot game this — the data is what the data is.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Portfolio Simulation &amp; Risk Management</a:t>
            </a:r>
          </a:p>
          <a:p>
            <a:endParaRPr/>
          </a:p>
          <a:p>
            <a:r>
              <a:t>This is where the rubber meets the road — turning evaluated signals into paper trades.</a:t>
            </a:r>
          </a:p>
          <a:p>
            <a:endParaRPr/>
          </a:p>
          <a:p>
            <a:r>
              <a:t>MULTI-PORTFOLIO SIMULATION:</a:t>
            </a:r>
          </a:p>
          <a:p>
            <a:r>
              <a:t>MIP supports multiple portfolios running simultaneously. Each portfolio can have a different risk profile, different starting cash, different strategy parameters. Think of it as running multiple trading books in parallel, each with its own rules.</a:t>
            </a:r>
          </a:p>
          <a:p>
            <a:endParaRPr/>
          </a:p>
          <a:p>
            <a:r>
              <a:t>EPISODE-BASED LIFECYCLE:</a:t>
            </a:r>
          </a:p>
          <a:p>
            <a:r>
              <a:t>Portfolios go through episodes. An episode starts when a portfolio is created or after crystallisation. Within each episode, trades are executed, positions are managed, and daily equity is tracked. When a crystallisation target is hit — say the portfolio is up 15% — the episode ends. Profits are either withdrawn or rebased, and a new episode begins after a cooldown period.</a:t>
            </a:r>
          </a:p>
          <a:p>
            <a:endParaRPr/>
          </a:p>
          <a:p>
            <a:r>
              <a:t>This episode structure means you can clearly measure strategy performance in discrete periods, and the portfolio lifecycle events are immutable — every deposit, withdrawal, crystallisation, and bust is permanently logged.</a:t>
            </a:r>
          </a:p>
          <a:p>
            <a:endParaRPr/>
          </a:p>
          <a:p>
            <a:r>
              <a:t>RISK CONTROLS:</a:t>
            </a:r>
          </a:p>
          <a:p>
            <a:r>
              <a:t>Every portfolio has a risk profile with hard limits:</a:t>
            </a:r>
          </a:p>
          <a:p>
            <a:r>
              <a:t>- Maximum number of simultaneous positions</a:t>
            </a:r>
          </a:p>
          <a:p>
            <a:r>
              <a:t>- Maximum percentage of equity in any single position</a:t>
            </a:r>
          </a:p>
          <a:p>
            <a:r>
              <a:t>- A drawdown stop — when drawdown exceeds a threshold (say 8%), new entries are blocked. The gate goes from SAFE to CAUTION to STOPPED.</a:t>
            </a:r>
          </a:p>
          <a:p>
            <a:r>
              <a:t>- A bust threshold — when equity falls below a percentage of starting cash, ALL trading halts.</a:t>
            </a:r>
          </a:p>
          <a:p>
            <a:r>
              <a:t>- Crystallisation targets — automatic profit-taking when the portfolio hits a gain target.</a:t>
            </a:r>
          </a:p>
          <a:p>
            <a:r>
              <a:t>- Cooldown periods — prevent jumping back in immediately after taking profits.</a:t>
            </a:r>
          </a:p>
          <a:p>
            <a:endParaRPr/>
          </a:p>
          <a:p>
            <a:r>
              <a:t>PROVENANCE CHAIN:</a:t>
            </a:r>
          </a:p>
          <a:p>
            <a:r>
              <a:t>This is crucial for compliance and learning. Every paper trade in MIP has a full provenance chain: which pattern detected it, what signal was generated, what trust label it had, when it was proposed, whether the risk gate approved it, and when it was executed. You can trace any trade back to its origin. This is the kind of audit trail that regulators love and that helps us learn from every decision.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Episode Lifecycle</a:t>
            </a:r>
          </a:p>
          <a:p>
            <a:endParaRPr/>
          </a:p>
          <a:p>
            <a:r>
              <a:t>This is one of the things that makes MIP feel like a real institutional system, not a toy.</a:t>
            </a:r>
          </a:p>
          <a:p>
            <a:endParaRPr/>
          </a:p>
          <a:p>
            <a:r>
              <a:t>THE STATE MACHINE:</a:t>
            </a:r>
          </a:p>
          <a:p>
            <a:r>
              <a:t>A portfolio doesn't just "run." It progresses through a formal lifecycle:</a:t>
            </a:r>
          </a:p>
          <a:p>
            <a:endParaRPr/>
          </a:p>
          <a:p>
            <a:r>
              <a:t>1. CREATED: Portfolio is initialised with starting cash and a risk profile. No trades yet.</a:t>
            </a:r>
          </a:p>
          <a:p>
            <a:endParaRPr/>
          </a:p>
          <a:p>
            <a:r>
              <a:t>2. TRADING: The active state. Within TRADING, there's a nested risk gate state machine (SAFE → CAUTION → STOPPED) that controls whether new entries are allowed. Daily equity is tracked, positions are managed, and the pipeline runs every step.</a:t>
            </a:r>
          </a:p>
          <a:p>
            <a:endParaRPr/>
          </a:p>
          <a:p>
            <a:r>
              <a:t>3. CRYSTALLISED: When the portfolio hits its profit target (e.g. +15%), the episode ends automatically. Profits are handled in one of two modes:</a:t>
            </a:r>
          </a:p>
          <a:p>
            <a:r>
              <a:t>   - WITHDRAW: Profits are removed from the portfolio. The next episode starts at the original cash level.</a:t>
            </a:r>
          </a:p>
          <a:p>
            <a:r>
              <a:t>   - REBASE: The portfolio starts the next episode at the higher equity level.</a:t>
            </a:r>
          </a:p>
          <a:p>
            <a:r>
              <a:t>   This is how real institutional profit-taking works — systematic, not emotional.</a:t>
            </a:r>
          </a:p>
          <a:p>
            <a:endParaRPr/>
          </a:p>
          <a:p>
            <a:r>
              <a:t>4. COOLDOWN: After crystallisation, there's a mandatory cooldown period (configurable, e.g. 5 days) before a new episode can begin. This prevents impulsive re-entry and allows market conditions to stabilise.</a:t>
            </a:r>
          </a:p>
          <a:p>
            <a:endParaRPr/>
          </a:p>
          <a:p>
            <a:r>
              <a:t>THE BUST PATH:</a:t>
            </a:r>
          </a:p>
          <a:p>
            <a:r>
              <a:t>If equity falls below the bust threshold (e.g. 50% of starting cash), the episode terminates permanently. This is catastrophic loss protection — the nuclear option. All positions are marked for exit, no new trades can be generated. The portfolio needs manual intervention (reset or archive) to restart.</a:t>
            </a:r>
          </a:p>
          <a:p>
            <a:endParaRPr/>
          </a:p>
          <a:p>
            <a:r>
              <a:t>THE CONCRETE EXAMPLE:</a:t>
            </a:r>
          </a:p>
          <a:p>
            <a:r>
              <a:t>Portfolio 'Alpha' in Episode 3: Started with €100k, portfolio grew to €115k (+15%), triggered crystallisation. €15k was withdrawn. After a 5-day cooldown, Episode 4 started at €100k. Every one of these events is immutably logged.</a:t>
            </a:r>
          </a:p>
          <a:p>
            <a:endParaRPr/>
          </a:p>
          <a:p>
            <a:r>
              <a:t>WHY THIS MATTERS:</a:t>
            </a:r>
          </a:p>
          <a:p>
            <a:r>
              <a:t>Most paper trading systems are just "buy and sell with imaginary money." MIP treats portfolio lifecycle as a first-class concern with formal state transitions, configurable rules, and immutable event logging. This is the difference between a hobby project and a system that could run institutional money.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AI-Powered Daily Briefs</a:t>
            </a:r>
          </a:p>
          <a:p>
            <a:endParaRPr/>
          </a:p>
          <a:p>
            <a:r>
              <a:t>One of MIP's most distinctive features is AI-generated daily narratives, powered by Snowflake Cortex.</a:t>
            </a:r>
          </a:p>
          <a:p>
            <a:endParaRPr/>
          </a:p>
          <a:p>
            <a:r>
              <a:t>Every day after the pipeline runs, three types of briefs are generated:</a:t>
            </a:r>
          </a:p>
          <a:p>
            <a:endParaRPr/>
          </a:p>
          <a:p>
            <a:r>
              <a:t>1. GLOBAL DAILY DIGEST:</a:t>
            </a:r>
          </a:p>
          <a:p>
            <a:r>
              <a:t>This is the "morning paper" for MIP. It covers what changed across all portfolios overnight — market conditions, signal activity, trade executions, risk state changes. The narrative is structured into three sections: "What Changed" (factual events), "What Matters" (interpretation and priorities), and "Waiting For" (upcoming catalysts or decisions needed).</a:t>
            </a:r>
          </a:p>
          <a:p>
            <a:endParaRPr/>
          </a:p>
          <a:p>
            <a:r>
              <a:t>Crucially, these narratives are grounded in deterministic snapshot data. The AI doesn't hallucinate — it's given a structured JSON snapshot of facts (equity levels, trade counts, signal counts, risk states) and asked to narrate them in plain English. If the underlying facts haven't changed, the narrative won't either.</a:t>
            </a:r>
          </a:p>
          <a:p>
            <a:endParaRPr/>
          </a:p>
          <a:p>
            <a:r>
              <a:t>2. PORTFOLIO INTELLIGENCE:</a:t>
            </a:r>
          </a:p>
          <a:p>
            <a:r>
              <a:t>Each active portfolio gets its own scoped brief. This covers the current episode's performance — equity changes, position attribution (which stocks drove the P&amp;L), the risk gate state, and any lifecycle events (crystallisations, deposits, etc.). This is what a portfolio manager would read first thing in the morning.</a:t>
            </a:r>
          </a:p>
          <a:p>
            <a:endParaRPr/>
          </a:p>
          <a:p>
            <a:r>
              <a:t>3. TRAINING DIGEST:</a:t>
            </a:r>
          </a:p>
          <a:p>
            <a:r>
              <a:t>This covers the signal training engine's progress. Which symbol-pattern combinations are approaching the TRUSTED threshold? Which ones had maturity stage changes? Where are the evaluation coverage gaps? This helps researchers and analysts prioritise where to focus their attention.</a:t>
            </a:r>
          </a:p>
          <a:p>
            <a:endParaRPr/>
          </a:p>
          <a:p>
            <a:r>
              <a:t>4. ASK MIP — INTERACTIVE AI ASSISTANT:</a:t>
            </a:r>
          </a:p>
          <a:p>
            <a:r>
              <a:t>Beyond the daily briefs, MIP includes an interactive AI chat assistant. Users can type natural-language questions — "What does drawdown stop mean?", "Why was this trade rejected?", "How does the trust classification work?" — and get instant, contextual answers. The responses are grounded in MIP's own User Guide documentation, ensuring accuracy. This makes the platform self-documenting and dramatically reduces the learning curve.</a:t>
            </a:r>
          </a:p>
          <a:p>
            <a:endParaRPr/>
          </a:p>
          <a:p>
            <a:r>
              <a:t>The beauty of this approach is that you don't need to dig through tables and charts to understand what happened. The AI summarises it for you in plain English. And because it's generated from structured data, you can always drill down into the underlying numbers if you want to verify anything.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AI Under the Hood</a:t>
            </a:r>
          </a:p>
          <a:p>
            <a:endParaRPr/>
          </a:p>
          <a:p>
            <a:r>
              <a:t>This is probably the most important slide for anyone sceptical about AI in finance.</a:t>
            </a:r>
          </a:p>
          <a:p>
            <a:endParaRPr/>
          </a:p>
          <a:p>
            <a:r>
              <a:t>THE PROBLEM:</a:t>
            </a:r>
          </a:p>
          <a:p>
            <a:r>
              <a:t>Language models hallucinate. If you point GPT at a portfolio and say "tell me what happened," it might invent numbers, misattribute returns, or fabricate events. In finance, this isn't just annoying — it's dangerous. A wrong number in a morning brief could drive a bad decision.</a:t>
            </a:r>
          </a:p>
          <a:p>
            <a:endParaRPr/>
          </a:p>
          <a:p>
            <a:r>
              <a:t>MIP'S SOLUTION — DETERMINISTIC GROUNDING:</a:t>
            </a:r>
          </a:p>
          <a:p>
            <a:endParaRPr/>
          </a:p>
          <a:p>
            <a:r>
              <a:t>Phase 1 — DETERMINISTIC SNAPSHOT:</a:t>
            </a:r>
          </a:p>
          <a:p>
            <a:r>
              <a:t>Before the AI sees anything, a SQL query runs against Snowflake and produces a structured JSON object with exact, verifiable values: current equity (€104,231.50 — not "around €104k"), drawdown percentage (-2.3% — not "low single digits"), open position count (4), risk gate state (SAFE), episode return (+4.2%). These are database facts. No ambiguity.</a:t>
            </a:r>
          </a:p>
          <a:p>
            <a:endParaRPr/>
          </a:p>
          <a:p>
            <a:r>
              <a:t>Phase 2 — STRUCTURED PROMPT:</a:t>
            </a:r>
          </a:p>
          <a:p>
            <a:r>
              <a:t>This JSON is embedded in a carefully crafted prompt with explicit constraints: "Use ONLY the data provided. Do NOT speculate. Structure your response as What Changed / What Matters / Waiting For. Refer to exact numbers." The AI's job is to narrate the facts, not to analyse or predict.</a:t>
            </a:r>
          </a:p>
          <a:p>
            <a:endParaRPr/>
          </a:p>
          <a:p>
            <a:r>
              <a:t>Phase 3 — GROUNDED NARRATIVE:</a:t>
            </a:r>
          </a:p>
          <a:p>
            <a:r>
              <a:t>Snowflake Cortex generates a plain-English paragraph. Every number in the narrative traces back to a value in the JSON snapshot. If the portfolio equity is €104,232, the AI says €104,232 — because that's what it was given. It cannot invent a different number.</a:t>
            </a:r>
          </a:p>
          <a:p>
            <a:endParaRPr/>
          </a:p>
          <a:p>
            <a:r>
              <a:t>THE VERIFICATION TEST:</a:t>
            </a:r>
          </a:p>
          <a:p>
            <a:r>
              <a:t>Here's how you know it works: if you run the pipeline twice on the same data, you get the same narrative (modulo minor phrasing variations). The facts drive the output, not the model's imagination.</a:t>
            </a:r>
          </a:p>
          <a:p>
            <a:endParaRPr/>
          </a:p>
          <a:p>
            <a:r>
              <a:t>WHY THIS MATTERS:</a:t>
            </a:r>
          </a:p>
          <a:p>
            <a:r>
              <a:t>This is the difference between "we use AI" (which everyone says) and "we use AI responsibly, with a grounding mechanism that makes every claim verifiable." For institutional use — pension funds, regulated environments — this is non-negotiable. MIP was built with this from day one, not bolted on later.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Parallel Worlds: Systematic Fine-Tuning</a:t>
            </a:r>
          </a:p>
          <a:p>
            <a:endParaRPr/>
          </a:p>
          <a:p>
            <a:r>
              <a:t>This is where MIP goes from "interesting project" to "serious investment tool."</a:t>
            </a:r>
          </a:p>
          <a:p>
            <a:endParaRPr/>
          </a:p>
          <a:p>
            <a:r>
              <a:t>THE CONCEPT:</a:t>
            </a:r>
          </a:p>
          <a:p>
            <a:r>
              <a:t>Parallel Worlds takes the exact same market data your portfolio experienced and re-runs it through alternative decision rules. The comparison is perfectly controlled — same data, same time period, different rules. The output tells you: "If you had changed this one lever, here's what would have happened."</a:t>
            </a:r>
          </a:p>
          <a:p>
            <a:endParaRPr/>
          </a:p>
          <a:p>
            <a:r>
              <a:t>FIVE AREAS YOU CAN FINE-TUNE:</a:t>
            </a:r>
          </a:p>
          <a:p>
            <a:endParaRPr/>
          </a:p>
          <a:p>
            <a:r>
              <a:t>1. TRUST THRESHOLDS: "What if we required 50 successes for TRUSTED instead of 30?" This tests whether your trust engine is too loose or too strict. If a stricter threshold reduces regret, you know you're allowing too many mediocre signals through. In the example: raising the bar to 50 successes reduced the pool from 42 to 18 trusted signals, but the trades that survived were higher quality, saving €1,200.</a:t>
            </a:r>
          </a:p>
          <a:p>
            <a:endParaRPr/>
          </a:p>
          <a:p>
            <a:r>
              <a:t>2. RISK PARAMETERS: "What if the drawdown stop was 5% instead of 8%?" This tests your risk tolerance calibration. Tighter stops mean less drawdown but potentially more whipsaws. In the example: the tighter stop reduced max drawdown from -6.2% to -4.1%, but it also stopped out some positions that subsequently recovered, costing €840 in missed upside.</a:t>
            </a:r>
          </a:p>
          <a:p>
            <a:endParaRPr/>
          </a:p>
          <a:p>
            <a:r>
              <a:t>3. SIGNAL INCLUSION: "What if WATCH signals could trade too?" This is the most common question. In the example: adding WATCH signals tripled the trade count from 11 to 28, but the extra trades were lower quality and destroyed €2,100 of value. This validates the trust engine's selectivity.</a:t>
            </a:r>
          </a:p>
          <a:p>
            <a:endParaRPr/>
          </a:p>
          <a:p>
            <a:r>
              <a:t>4. POSITION SIZING: "What if we allowed 15% per position instead of 10%?" This tests concentration vs diversification. In the example: larger positions added volatility without proportional return, costing €600 in risk-adjusted terms.</a:t>
            </a:r>
          </a:p>
          <a:p>
            <a:endParaRPr/>
          </a:p>
          <a:p>
            <a:r>
              <a:t>5. CRYSTALLISATION: "What if the profit target was 20% instead of 15%?" This tests patience. In the example: the higher target meant fewer crystallisation events but each was larger, ultimately netting €900 more.</a:t>
            </a:r>
          </a:p>
          <a:p>
            <a:endParaRPr/>
          </a:p>
          <a:p>
            <a:r>
              <a:t>THE OUTPUT:</a:t>
            </a:r>
          </a:p>
          <a:p>
            <a:r>
              <a:t>Each scenario produces four deliverables:</a:t>
            </a:r>
          </a:p>
          <a:p>
            <a:r>
              <a:t>- Regret Analysis: the P&amp;L cost (positive = your actual was better, negative = the alternative was better)</a:t>
            </a:r>
          </a:p>
          <a:p>
            <a:r>
              <a:t>- Equity Curve Overlay: visual comparison of how the two paths diverged</a:t>
            </a:r>
          </a:p>
          <a:p>
            <a:r>
              <a:t>- Symbol Attribution: which specific instruments drove the regret</a:t>
            </a:r>
          </a:p>
          <a:p>
            <a:r>
              <a:t>- AI Explanation: Snowflake Cortex narrates WHY the scenarios diverged</a:t>
            </a:r>
          </a:p>
          <a:p>
            <a:endParaRPr/>
          </a:p>
          <a:p>
            <a:r>
              <a:t>WHY THIS IS POWERFUL:</a:t>
            </a:r>
          </a:p>
          <a:p>
            <a:r>
              <a:t>Most traders optimise by changing settings and running the whole strategy again. That requires either backtesting infrastructure or live experimentation (expensive). Parallel Worlds does it automatically, continuously, against the same data your real portfolio saw. It's systematic, not ad hoc. And because it runs inside the daily pipeline, you get fresh insights every day.</a:t>
            </a:r>
          </a:p>
          <a:p>
            <a:endParaRPr/>
          </a:p>
          <a:p>
            <a:r>
              <a:t>This is also how you build conviction in your settings over time. After months of Parallel Worlds data, you can say with evidence: "Our trust threshold of 30 is better than 50 because..." That's a conversation backed by data, not opinion.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The Dashboard Experience</a:t>
            </a:r>
          </a:p>
          <a:p>
            <a:endParaRPr/>
          </a:p>
          <a:p>
            <a:r>
              <a:t>Let me show you what users actually see. MIP has seven major screens, each serving a specific role:</a:t>
            </a:r>
          </a:p>
          <a:p>
            <a:endParaRPr/>
          </a:p>
          <a:p>
            <a:r>
              <a:t>COCKPIT: The daily command centre — styled like a news feed. Portfolio picker at the top, then expandable story cards: AI-generated global digest (what changed, what matters, what to watch), per-portfolio intelligence, market pulse (daily returns, top movers), today's signal candidates (ranked by score and maturity), and training progress.</a:t>
            </a:r>
          </a:p>
          <a:p>
            <a:endParaRPr/>
          </a:p>
          <a:p>
            <a:r>
              <a:t>PORTFOLIO DETAIL: Click into any portfolio for the full picture: equity curve, drawdown chart with threshold markers, trades per day, risk regime timeline (SAFE/CAUTION/STOPPED), open positions with P&amp;L, trade history, risk gate state, and episode analytics with evolution charts.</a:t>
            </a:r>
          </a:p>
          <a:p>
            <a:endParaRPr/>
          </a:p>
          <a:p>
            <a:r>
              <a:t>PARALLEL WORLDS: Counterfactual analysis — side-by-side equity curves showing what would have happened under different decision rules. Regret heatmaps, scenario confidence ratings, and AI-generated narratives explaining why paths diverged.</a:t>
            </a:r>
          </a:p>
          <a:p>
            <a:endParaRPr/>
          </a:p>
          <a:p>
            <a:r>
              <a:t>TRAINING STATUS: Every pattern-symbol-horizon combination with maturity stage, sample size, coverage rate, hit rate, and average return. Sort and filter to find the most promising or concerning combinations. Includes a timeline view showing confidence evolution over time.</a:t>
            </a:r>
          </a:p>
          <a:p>
            <a:endParaRPr/>
          </a:p>
          <a:p>
            <a:r>
              <a:t>SUGGESTIONS: Ranked trading opportunities based on historical performance. Each suggestion shows a maturity score, horizon strip (1/3/5/10/20 bars), and an evidence drawer you can expand for detailed statistics and distribution charts.</a:t>
            </a:r>
          </a:p>
          <a:p>
            <a:endParaRPr/>
          </a:p>
          <a:p>
            <a:r>
              <a:t>AUDIT VIEWER: Full pipeline observability. See every pipeline run with status, duration, error counts. Drill into any run for step-by-step execution details, interpreted summaries, and debug SQL you can copy directly. Critical for troubleshooting and operational confidence.</a:t>
            </a:r>
          </a:p>
          <a:p>
            <a:endParaRPr/>
          </a:p>
          <a:p>
            <a:r>
              <a:t>MARKET TIMELINE: End-to-end view per symbol showing signals, proposals, and trades on a timeline. Includes OHLC charts with event overlays, decision narratives explaining why MIP acted (or didn't), and trust classification history.</a:t>
            </a:r>
          </a:p>
          <a:p>
            <a:endParaRPr/>
          </a:p>
          <a:p>
            <a:r>
              <a:t>Two cross-cutting features to highlight:</a:t>
            </a:r>
          </a:p>
          <a:p>
            <a:r>
              <a:t>- EXPLAIN MODE: A toggle that activates contextual tooltips throughout the entire UI. Every metric, badge, and chart has an explanation from a central glossary.</a:t>
            </a:r>
          </a:p>
          <a:p>
            <a:r>
              <a:t>- ASK MIP: An AI chat assistant (bottom-right floating button) where users type natural-language questions and get answers grounded in MIP's documentation.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What MIP Is and Isn't</a:t>
            </a:r>
          </a:p>
          <a:p>
            <a:endParaRPr/>
          </a:p>
          <a:p>
            <a:r>
              <a:t>It's important to set clear expectations.</a:t>
            </a:r>
          </a:p>
          <a:p>
            <a:endParaRPr/>
          </a:p>
          <a:p>
            <a:r>
              <a:t>WHAT MIP IS:</a:t>
            </a:r>
          </a:p>
          <a:p>
            <a:r>
              <a:t>- A systematic signal R&amp;D platform: it discovers patterns, evaluates them, and builds a statistical track record automatically.</a:t>
            </a:r>
          </a:p>
          <a:p>
            <a:r>
              <a:t>- A risk-managed paper trading engine: with real position limits, drawdown stops, crystallisation rules, and episode management.</a:t>
            </a:r>
          </a:p>
          <a:p>
            <a:r>
              <a:t>- A daily AI intelligence briefing system: plain-English narratives generated by Snowflake Cortex every day.</a:t>
            </a:r>
          </a:p>
          <a:p>
            <a:r>
              <a:t>- An auditable decision log: every signal, proposal, and trade has full provenance — which pattern, what score, when, why.</a:t>
            </a:r>
          </a:p>
          <a:p>
            <a:r>
              <a:t>- A counterfactual analysis framework: Parallel Worlds lets you explore "what if" scenarios continuously.</a:t>
            </a:r>
          </a:p>
          <a:p>
            <a:r>
              <a:t>- A tool that keeps the trader in control: MIP proposes, the trader decides. It's augmentation, not automation.</a:t>
            </a:r>
          </a:p>
          <a:p>
            <a:endParaRPr/>
          </a:p>
          <a:p>
            <a:r>
              <a:t>WHAT MIP IS NOT:</a:t>
            </a:r>
          </a:p>
          <a:p>
            <a:r>
              <a:t>- It's not a live trading system. There's no broker integration, no order management. It's paper trading only — by design. The purpose is R&amp;D, not execution.</a:t>
            </a:r>
          </a:p>
          <a:p>
            <a:r>
              <a:t>- It's not a black box. Every metric has a tooltip, every trade has a provenance chain, every AI narrative is grounded in structured data.</a:t>
            </a:r>
          </a:p>
          <a:p>
            <a:r>
              <a:t>- It's not a replacement for trader judgment. MIP surfaces opportunities and evaluates signals, but the trader remains the decision-maker.</a:t>
            </a:r>
          </a:p>
          <a:p>
            <a:r>
              <a:t>- It's not dependent on external compute. Everything runs inside Snowflake — stored procedures, scheduled tasks, Cortex AI. No Kubernetes, no Lambda, no infrastructure to manage.</a:t>
            </a:r>
          </a:p>
          <a:p>
            <a:r>
              <a:t>- It's not static. The training engine continuously evaluates signals, updates trust classifications, and adapts to changing market conditions.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Use Cases for Your Desk</a:t>
            </a:r>
          </a:p>
          <a:p>
            <a:endParaRPr/>
          </a:p>
          <a:p>
            <a:r>
              <a:t>Let me make this concrete. Here's how MIP can add value to your desk:</a:t>
            </a:r>
          </a:p>
          <a:p>
            <a:endParaRPr/>
          </a:p>
          <a:p>
            <a:r>
              <a:t>1. SIGNAL R&amp;D: If you have a pattern hypothesis — say "momentum crossovers work well on large-cap tech stocks" — you can configure MIP to test it systematically. The training engine will evaluate outcomes at multiple horizons and tell you objectively whether it works, with what hit rate, and with what average return. No more anecdotal evidence.</a:t>
            </a:r>
          </a:p>
          <a:p>
            <a:endParaRPr/>
          </a:p>
          <a:p>
            <a:r>
              <a:t>2. STRATEGY INCUBATION: Want to see how a strategy performs with real risk constraints? Set up a paper portfolio with your preferred risk profile — position limits, drawdown stops, crystallisation targets — and let it run. You'll get daily equity snapshots, trade history, and performance attribution without risking a single dollar.</a:t>
            </a:r>
          </a:p>
          <a:p>
            <a:endParaRPr/>
          </a:p>
          <a:p>
            <a:r>
              <a:t>3. TRAINING &amp; ONBOARDING: For new analysts and junior traders, MIP is an excellent learning tool. The Explain Mode provides contextual help for every metric. The full signal lifecycle — from pattern detection through trust classification to paper trading — is visible and auditable. It teaches systematic thinking.</a:t>
            </a:r>
          </a:p>
          <a:p>
            <a:endParaRPr/>
          </a:p>
          <a:p>
            <a:r>
              <a:t>4. COMPLIANCE &amp; AUDIT: Every paper trade in MIP has a complete provenance chain. You can trace any position back to the specific pattern that detected it, the signal score, the trust classification, the proposal status, and the risk gate decision. The lifecycle event log is immutable. This is the kind of documentation that internal audit and compliance teams appreciate.</a:t>
            </a:r>
          </a:p>
          <a:p>
            <a:endParaRPr/>
          </a:p>
          <a:p>
            <a:r>
              <a:t>5. CROSS-DESK COLLABORATION: The Suggestions and Training Status views are designed for sharing. A researcher on one desk can see what signals are maturing on instruments covered by another desk. This breaks down silos and creates a shared intelligence layer.</a:t>
            </a:r>
          </a:p>
          <a:p>
            <a:endParaRPr/>
          </a:p>
          <a:p>
            <a:r>
              <a:t>6. DECISION VALIDATION: Parallel Worlds provides ongoing counterfactual analysis. You're not just asking "how did we do?" — you're asking "how would we have done if we'd made different choices?" This is systematic learning from alternatives, running continuously, with AI-generated explanations.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The Impossible Vision</a:t>
            </a:r>
          </a:p>
          <a:p>
            <a:endParaRPr/>
          </a:p>
          <a:p>
            <a:r>
              <a:t>This is the personal conviction slide. Pause here. Let it land.</a:t>
            </a:r>
          </a:p>
          <a:p>
            <a:endParaRPr/>
          </a:p>
          <a:p>
            <a:r>
              <a:t>Most trading systems stop at Level 2 — automated signal detection. They generate alerts, maybe rank them, and hand them to a human. That's useful, but it's table stakes.</a:t>
            </a:r>
          </a:p>
          <a:p>
            <a:endParaRPr/>
          </a:p>
          <a:p>
            <a:r>
              <a:t>A few systems reach Level 3 — they evaluate signal quality over time. But the evaluation is usually manual, periodic, and inconsistent.</a:t>
            </a:r>
          </a:p>
          <a:p>
            <a:endParaRPr/>
          </a:p>
          <a:p>
            <a:r>
              <a:t>MIP is at Level 4. Continuous, automated evaluation. Trust classification that gates trading access. AI that explains decisions. Counterfactual analysis that learns from alternatives. This is already unusual for a system built by one person.</a:t>
            </a:r>
          </a:p>
          <a:p>
            <a:endParaRPr/>
          </a:p>
          <a:p>
            <a:r>
              <a:t>Level 5 — Fully Autonomous — is the impossible goal. Not "impossible" as in unachievable, but "impossible" as in: most people don't even attempt it because it requires getting everything else right first. You can't have autonomous trading without evidence-based trust. You can't have evidence-based trust without continuous evaluation. You can't have continuous evaluation without a robust pipeline. You can't have a robust pipeline without proper architecture.</a:t>
            </a:r>
          </a:p>
          <a:p>
            <a:endParaRPr/>
          </a:p>
          <a:p>
            <a:r>
              <a:t>That's why MIP was built the way it was — each layer supports the next. The architecture is designed for a destination it hasn't reached yet.</a:t>
            </a:r>
          </a:p>
          <a:p>
            <a:endParaRPr/>
          </a:p>
          <a:p>
            <a:r>
              <a:t>The path to Level 5:</a:t>
            </a:r>
          </a:p>
          <a:p>
            <a:r>
              <a:t>- Self-adjusting trust thresholds based on market regime (near)</a:t>
            </a:r>
          </a:p>
          <a:p>
            <a:r>
              <a:t>- Adaptive position sizing responding to volatility (near)</a:t>
            </a:r>
          </a:p>
          <a:p>
            <a:r>
              <a:t>- Multi-strategy orchestration with cross-strategy learning (medium)</a:t>
            </a:r>
          </a:p>
          <a:p>
            <a:r>
              <a:t>- Full autonomous decision loop with human oversight only at policy level (far)</a:t>
            </a:r>
          </a:p>
          <a:p>
            <a:endParaRPr/>
          </a:p>
          <a:p>
            <a:r>
              <a:t>The key message: I'm not just building features. I'm building toward a vision. Every stored procedure, every view, every API endpoint is a step on a deliberate path. That's what makes MIP different from a collection of scripts — it's an architecture with a destination.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Roadmap &amp; Future Possibilities</a:t>
            </a:r>
          </a:p>
          <a:p>
            <a:endParaRPr/>
          </a:p>
          <a:p>
            <a:r>
              <a:t>Let me share where MIP is and where it's headed.</a:t>
            </a:r>
          </a:p>
          <a:p>
            <a:endParaRPr/>
          </a:p>
          <a:p>
            <a:r>
              <a:t>LIVE NOW (What's operational today — this is substantial):</a:t>
            </a:r>
          </a:p>
          <a:p>
            <a:r>
              <a:t>- Multi-portfolio paper trading with episode-based lifecycle management</a:t>
            </a:r>
          </a:p>
          <a:p>
            <a:r>
              <a:t>- Trust engine with TRUSTED/WATCH/UNTRUSTED classification driving trade eligibility</a:t>
            </a:r>
          </a:p>
          <a:p>
            <a:r>
              <a:t>- Risk gate system (SAFE/CAUTION/STOPPED) with configurable drawdown stops, bust thresholds, crystallisation</a:t>
            </a:r>
          </a:p>
          <a:p>
            <a:r>
              <a:t>- AI-powered daily briefs: global digest, portfolio intelligence, training digest — all generated by Snowflake Cortex</a:t>
            </a:r>
          </a:p>
          <a:p>
            <a:r>
              <a:t>- Ask MIP: interactive AI assistant grounded in MIP's own documentation</a:t>
            </a:r>
          </a:p>
          <a:p>
            <a:r>
              <a:t>- Parallel Worlds: counterfactual analysis with regret heatmaps, equity overlays, and AI narratives</a:t>
            </a:r>
          </a:p>
          <a:p>
            <a:r>
              <a:t>- Seven-screen React dashboard with Cockpit, Portfolio Detail, Training, Suggestions, Audit Viewer, Market Timeline, Parallel Worlds</a:t>
            </a:r>
          </a:p>
          <a:p>
            <a:r>
              <a:t>- Full provenance chain and audit trail from signal to trade</a:t>
            </a:r>
          </a:p>
          <a:p>
            <a:r>
              <a:t>- Cost-optimised: visibility-aware polling ensures Snowflake warehouse suspends when the app is idle</a:t>
            </a:r>
          </a:p>
          <a:p>
            <a:endParaRPr/>
          </a:p>
          <a:p>
            <a:r>
              <a:t>NEXT (Near-term enhancements):</a:t>
            </a:r>
          </a:p>
          <a:p>
            <a:r>
              <a:t>- Mean reversion patterns — complementing momentum with contrarian signals</a:t>
            </a:r>
          </a:p>
          <a:p>
            <a:r>
              <a:t>- Volatility-based signals — using volatility regimes to improve timing</a:t>
            </a:r>
          </a:p>
          <a:p>
            <a:r>
              <a:t>- Transaction cost modelling — basis-points slippage for realistic P&amp;L</a:t>
            </a:r>
          </a:p>
          <a:p>
            <a:r>
              <a:t>- Higher-frequency data — intraday bars for more responsive signal generation</a:t>
            </a:r>
          </a:p>
          <a:p>
            <a:endParaRPr/>
          </a:p>
          <a:p>
            <a:r>
              <a:t>FUTURE (Medium-term):</a:t>
            </a:r>
          </a:p>
          <a:p>
            <a:r>
              <a:t>- Multi-asset class support — futures, options, fixed income</a:t>
            </a:r>
          </a:p>
          <a:p>
            <a:r>
              <a:t>- Broker integration — moving from paper trading to live execution with proper order management</a:t>
            </a:r>
          </a:p>
          <a:p>
            <a:r>
              <a:t>- Order flow pattern detection — incorporating volume and flow data</a:t>
            </a:r>
          </a:p>
          <a:p>
            <a:r>
              <a:t>- Desk-level strategy definitions — each desk configures their own strategies and risk profiles</a:t>
            </a:r>
          </a:p>
          <a:p>
            <a:endParaRPr/>
          </a:p>
          <a:p>
            <a:r>
              <a:t>VISION — LEVEL 5 (The impossible destination):</a:t>
            </a:r>
          </a:p>
          <a:p>
            <a:r>
              <a:t>- Fully autonomous decision loop — the system proposes, evaluates, executes, and learns with human oversight at the policy level only (setting risk limits, approving strategy changes)</a:t>
            </a:r>
          </a:p>
          <a:p>
            <a:r>
              <a:t>- Self-adjusting trust thresholds — instead of fixed 30-success / 80% coverage, the system adapts to market regime</a:t>
            </a:r>
          </a:p>
          <a:p>
            <a:r>
              <a:t>- Self-healing pipeline — auto-detect anomalies, missing data, deteriorating patterns, and take corrective action</a:t>
            </a:r>
          </a:p>
          <a:p>
            <a:r>
              <a:t>- Cross-strategy learning — insights from momentum inform mean reversion and vice versa</a:t>
            </a:r>
          </a:p>
          <a:p>
            <a:endParaRPr/>
          </a:p>
          <a:p>
            <a:r>
              <a:t>This is "the impossible" not because it can't be done, but because most people never attempt it — they stop at Level 2 (automated signals). MIP's architecture was built from day one with Level 5 as the destination. Every stored procedure, every view, every risk control is a deliberate step on that path.</a:t>
            </a:r>
          </a:p>
          <a:p>
            <a:endParaRPr/>
          </a:p>
          <a:p>
            <a:r>
              <a:t>The key architectural point: because pattern types are configured, not coded, and because everything runs in Snowflake, adding new capabilities doesn't require rebuilding the infrastructure. It's designed to grow toward the impossible.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At a Glance</a:t>
            </a:r>
          </a:p>
          <a:p>
            <a:endParaRPr/>
          </a:p>
          <a:p>
            <a:r>
              <a:t>This is the summary slide — everything MIP does at a glance.</a:t>
            </a:r>
          </a:p>
          <a:p>
            <a:endParaRPr/>
          </a:p>
          <a:p>
            <a:r>
              <a:t>Walk through each row quickly:</a:t>
            </a:r>
          </a:p>
          <a:p>
            <a:r>
              <a:t>- We ingest OHLC data from AlphaVantage covering stocks, ETFs, and FX.</a:t>
            </a:r>
          </a:p>
          <a:p>
            <a:r>
              <a:t>- We detect momentum patterns using configurable MA crossover detectors.</a:t>
            </a:r>
          </a:p>
          <a:p>
            <a:r>
              <a:t>- Every signal is evaluated at 5 forward horizons — 1, 3, 5, 10, and 20 bars.</a:t>
            </a:r>
          </a:p>
          <a:p>
            <a:r>
              <a:t>- Based on outcomes, signals are classified as TRUSTED, WATCH, or UNTRUSTED.</a:t>
            </a:r>
          </a:p>
          <a:p>
            <a:r>
              <a:t>- Only TRUSTED signals can drive paper trades across multiple risk-managed portfolios.</a:t>
            </a:r>
          </a:p>
          <a:p>
            <a:r>
              <a:t>- Risk controls include drawdown stops, bust protection, crystallisation rules, and cooldown periods.</a:t>
            </a:r>
          </a:p>
          <a:p>
            <a:r>
              <a:t>- Snowflake Cortex generates daily AI narratives — digests, portfolio stories, training briefs.</a:t>
            </a:r>
          </a:p>
          <a:p>
            <a:r>
              <a:t>- Ask MIP provides an interactive AI assistant for natural-language Q&amp;A, grounded in documentation.</a:t>
            </a:r>
          </a:p>
          <a:p>
            <a:r>
              <a:t>- Parallel Worlds provides counterfactual analysis with regret attribution and AI explanations.</a:t>
            </a:r>
          </a:p>
          <a:p>
            <a:r>
              <a:t>- The Audit Viewer gives full pipeline observability with run inspection, step details, and debug SQL.</a:t>
            </a:r>
          </a:p>
          <a:p>
            <a:r>
              <a:t>- Every trade has a full provenance chain from pattern to execution.</a:t>
            </a:r>
          </a:p>
          <a:p>
            <a:r>
              <a:t>- And it all runs 100% inside Snowflake — no external infrastructure, cost-optimised with visibility-aware polling.</a:t>
            </a:r>
          </a:p>
          <a:p>
            <a:endParaRPr/>
          </a:p>
          <a:p>
            <a:r>
              <a:t>That's MIP. Shall we open it up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How MIP Was Built</a:t>
            </a:r>
          </a:p>
          <a:p>
            <a:endParaRPr/>
          </a:p>
          <a:p>
            <a:r>
              <a:t>This is the slide that usually gets the biggest reaction.</a:t>
            </a:r>
          </a:p>
          <a:p>
            <a:endParaRPr/>
          </a:p>
          <a:p>
            <a:r>
              <a:t>THE HEADLINE:</a:t>
            </a:r>
          </a:p>
          <a:p>
            <a:r>
              <a:t>MIP is 65,700 lines of code across 299 files, spanning SQL, Python, JavaScript, and CSS. I have not typed a single line of code myself. Not one character. Every line was generated by AI agents that I directed.</a:t>
            </a:r>
          </a:p>
          <a:p>
            <a:endParaRPr/>
          </a:p>
          <a:p>
            <a:r>
              <a:t>THE DEVELOPMENT TIMELINE:</a:t>
            </a:r>
          </a:p>
          <a:p>
            <a:endParaRPr/>
          </a:p>
          <a:p>
            <a:r>
              <a:t>Phase 1 — OCTOBER TO DECEMBER 2025:</a:t>
            </a:r>
          </a:p>
          <a:p>
            <a:r>
              <a:t>I started with ChatGPT as my investment domain expert and solution architect. I'd describe what I wanted — "I need a trust classification system that evaluates signals at multiple forward horizons" — and ChatGPT would help me think through the design, the data model, the edge cases. Then OpenAI Codex would generate the actual code: the stored procedures, the views, the tables.</a:t>
            </a:r>
          </a:p>
          <a:p>
            <a:endParaRPr/>
          </a:p>
          <a:p>
            <a:r>
              <a:t>My role was visionary and orchestrator. I knew what I wanted MIP to be, and I directed the AI to build it. I reviewed every output, made architectural decisions, and steered the direction.</a:t>
            </a:r>
          </a:p>
          <a:p>
            <a:endParaRPr/>
          </a:p>
          <a:p>
            <a:r>
              <a:t>Phase 2 — JANUARY 2026:</a:t>
            </a:r>
          </a:p>
          <a:p>
            <a:r>
              <a:t>I switched to Cursor with Claude (Opus and Sonnet) as the primary development agent. This was a step change — Cursor understands the full codebase context, can read files, search code, and make targeted edits. I still used ChatGPT for bouncing ideas and producing detailed requirements, but Cursor became the developer.</a:t>
            </a:r>
          </a:p>
          <a:p>
            <a:endParaRPr/>
          </a:p>
          <a:p>
            <a:r>
              <a:t>Phase 3 — FEBRUARY 2026:</a:t>
            </a:r>
          </a:p>
          <a:p>
            <a:r>
              <a:t>Full autonomy. Cursor now has direct access to Snowflake. It deploys stored procedures, runs smoke tests, diagnoses data issues, and repairs problems — all autonomously. I review the results and make product decisions, but the implementation is entirely AI-driven.</a:t>
            </a:r>
          </a:p>
          <a:p>
            <a:endParaRPr/>
          </a:p>
          <a:p>
            <a:r>
              <a:t>THE ROLES:</a:t>
            </a:r>
          </a:p>
          <a:p>
            <a:r>
              <a:t>- VISIONARY: I conceived MIP's mission — "signals should earn trust through data." I defined the five-level autonomy roadmap. I decided what features to build and in what order.</a:t>
            </a:r>
          </a:p>
          <a:p>
            <a:r>
              <a:t>- ORCHESTRATOR: I directed the AI agents. When ChatGPT proposed an architecture, I'd challenge it, refine it, or redirect. When Cursor implemented something, I'd review and steer.</a:t>
            </a:r>
          </a:p>
          <a:p>
            <a:r>
              <a:t>- PRODUCT OWNER: I prioritised features, defined acceptance criteria, and decided when something was "done." The AI built what I asked for, but I decided what to ask for.</a:t>
            </a:r>
          </a:p>
          <a:p>
            <a:endParaRPr/>
          </a:p>
          <a:p>
            <a:r>
              <a:t>THE NUMBERS (walk through the table):</a:t>
            </a:r>
          </a:p>
          <a:p>
            <a:r>
              <a:t>- SQL dominates at 41% — reflects the "all logic in Snowflake" philosophy</a:t>
            </a:r>
          </a:p>
          <a:p>
            <a:r>
              <a:t>- React frontend is substantial at 33% — 7 screens with full styling</a:t>
            </a:r>
          </a:p>
          <a:p>
            <a:r>
              <a:t>- Python API is deliberately thin at 13% — just data delivery</a:t>
            </a:r>
          </a:p>
          <a:p>
            <a:r>
              <a:t>- Documentation at 7% — 35 markdown files covering architecture, guides, runbooks</a:t>
            </a:r>
          </a:p>
          <a:p>
            <a:endParaRPr/>
          </a:p>
          <a:p>
            <a:r>
              <a:t>THE KEY INSIGHT:</a:t>
            </a:r>
          </a:p>
          <a:p>
            <a:r>
              <a:t>How often do you see a system with 65,000+ lines of production-quality code that was built entirely by AI agents, directed by a single person who never wrote a line? This isn't a demo or a proof of concept. It runs daily, handles edge cases, has comprehensive error handling, and serves a real analytical purpose.</a:t>
            </a:r>
          </a:p>
          <a:p>
            <a:endParaRPr/>
          </a:p>
          <a:p>
            <a:r>
              <a:t>The AI wrote the code. I made the decisions. That division of labour — human judgment plus AI execution — is exactly what the future of software development looks like.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Q&amp;A</a:t>
            </a:r>
          </a:p>
          <a:p>
            <a:endParaRPr/>
          </a:p>
          <a:p>
            <a:r>
              <a:t>Open the floor for questions.</a:t>
            </a:r>
          </a:p>
          <a:p>
            <a:endParaRPr/>
          </a:p>
          <a:p>
            <a:r>
              <a:t>If they ask about live trading: "MIP is deliberately paper-trading only at this stage. The architecture supports broker integration as a future enhancement, but the current focus is on signal R&amp;D and evaluation. We want to prove the signals work in paper trading before anyone risks real capital."</a:t>
            </a:r>
          </a:p>
          <a:p>
            <a:endParaRPr/>
          </a:p>
          <a:p>
            <a:r>
              <a:t>If they ask about data sources: "Currently AlphaVantage for daily OHLC. The ingestion layer is modular — adding Bloomberg, Reuters, or internal data feeds is straightforward. The important thing is that the evaluation and trading engines are data-source agnostic."</a:t>
            </a:r>
          </a:p>
          <a:p>
            <a:endParaRPr/>
          </a:p>
          <a:p>
            <a:r>
              <a:t>If they ask about performance/speed: "The entire pipeline runs in Snowflake on an XS warehouse. Daily runs complete in minutes. The React dashboard loads in seconds. Because there's no external compute, there's nothing to scale or manage."</a:t>
            </a:r>
          </a:p>
          <a:p>
            <a:endParaRPr/>
          </a:p>
          <a:p>
            <a:r>
              <a:t>If they ask about cost: "Snowflake consumption-based pricing. An XS warehouse running for a few minutes a day is negligible. The AlphaVantage API has a free tier for development."</a:t>
            </a:r>
          </a:p>
          <a:p>
            <a:endParaRPr/>
          </a:p>
          <a:p>
            <a:r>
              <a:t>If they ask about extending patterns: "Pattern definitions are stored in a database table with JSON parameters. Adding a new pattern type means creating a new stored procedure and adding rows to the configuration table. The rest of the pipeline — evaluation, trust, trading, briefs — works automatically."</a:t>
            </a:r>
          </a:p>
          <a:p>
            <a:endParaRPr/>
          </a:p>
          <a:p>
            <a:r>
              <a:t>Offer a live demo walkthrough if there's interest.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540"/>
        </a:solidFill>
        <a:effectLst/>
      </p:bgPr>
    </p:bg>
    <p:spTree>
      <p:nvGrpSpPr>
        <p:cNvPr id="1" name=""/>
        <p:cNvGrpSpPr/>
        <p:nvPr/>
      </p:nvGrpSpPr>
      <p:grpSpPr>
        <a:xfrm>
          <a:off x="0" y="0"/>
          <a:ext cx="0" cy="0"/>
          <a:chOff x="0" y="0"/>
          <a:chExt cx="0" cy="0"/>
        </a:xfrm>
      </p:grpSpPr>
      <p:sp>
        <p:nvSpPr>
          <p:cNvPr id="2" name="Rectangle 1"/>
          <p:cNvSpPr/>
          <p:nvPr/>
        </p:nvSpPr>
        <p:spPr>
          <a:xfrm>
            <a:off x="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144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8288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296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440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0584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9728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8872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0" y="9144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0" y="18288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27432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36576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45720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54864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4008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047125" y="2811780"/>
            <a:ext cx="274320" cy="274320"/>
          </a:xfrm>
          <a:prstGeom prst="ellipse">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560320"/>
            <a:ext cx="7772400" cy="1097280"/>
          </a:xfrm>
          <a:prstGeom prst="rect">
            <a:avLst/>
          </a:prstGeom>
          <a:noFill/>
        </p:spPr>
        <p:txBody>
          <a:bodyPr wrap="square" anchor="t">
            <a:spAutoFit/>
          </a:bodyPr>
          <a:lstStyle/>
          <a:p>
            <a:pPr algn="ctr"/>
            <a:r>
              <a:t>Market Intelligence Platform (MIP)</a:t>
            </a:r>
          </a:p>
        </p:txBody>
      </p:sp>
      <p:sp>
        <p:nvSpPr>
          <p:cNvPr id="26" name="Rectangle 25"/>
          <p:cNvSpPr/>
          <p:nvPr/>
        </p:nvSpPr>
        <p:spPr>
          <a:xfrm>
            <a:off x="5029200" y="3657600"/>
            <a:ext cx="2103120" cy="508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86000" y="3886200"/>
            <a:ext cx="7772400" cy="731520"/>
          </a:xfrm>
          <a:prstGeom prst="rect">
            <a:avLst/>
          </a:prstGeom>
          <a:noFill/>
        </p:spPr>
        <p:txBody>
          <a:bodyPr wrap="square" anchor="t">
            <a:spAutoFit/>
          </a:bodyPr>
          <a:lstStyle/>
          <a:p>
            <a:pPr algn="ctr"/>
            <a:r>
              <a:t>Research Internals to Trading Operations</a:t>
            </a:r>
          </a:p>
          <a:p>
            <a:r>
              <a:t>Demo + Training for Colleagues</a:t>
            </a:r>
          </a:p>
        </p:txBody>
      </p:sp>
      <p:sp>
        <p:nvSpPr>
          <p:cNvPr id="28" name="TextBox 27"/>
          <p:cNvSpPr txBox="1"/>
          <p:nvPr/>
        </p:nvSpPr>
        <p:spPr>
          <a:xfrm>
            <a:off x="2286000" y="4937760"/>
            <a:ext cx="7772400" cy="292388"/>
          </a:xfrm>
          <a:prstGeom prst="rect">
            <a:avLst/>
          </a:prstGeom>
          <a:noFill/>
        </p:spPr>
        <p:txBody>
          <a:bodyPr wrap="square" anchor="t">
            <a:spAutoFit/>
          </a:bodyPr>
          <a:lstStyle/>
          <a:p>
            <a:pPr algn="ctr"/>
            <a:r>
              <a:t>Kenneth Jebjerg    March 2026    Internal Training</a:t>
            </a:r>
          </a:p>
        </p:txBody>
      </p:sp>
      <p:sp>
        <p:nvSpPr>
          <p:cNvPr id="29" name="Rectangle 28"/>
          <p:cNvSpPr/>
          <p:nvPr/>
        </p:nvSpPr>
        <p:spPr>
          <a:xfrm>
            <a:off x="0" y="6537960"/>
            <a:ext cx="12191695" cy="320040"/>
          </a:xfrm>
          <a:prstGeom prst="rect">
            <a:avLst/>
          </a:prstGeom>
          <a:solidFill>
            <a:srgbClr val="1A2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37960"/>
            <a:ext cx="3657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7315200" cy="640080"/>
          </a:xfrm>
          <a:prstGeom prst="rect">
            <a:avLst/>
          </a:prstGeom>
          <a:noFill/>
        </p:spPr>
        <p:txBody>
          <a:bodyPr wrap="square" anchor="t">
            <a:spAutoFit/>
          </a:bodyPr>
          <a:lstStyle/>
          <a:p>
            <a:pPr algn="l"/>
            <a:r>
              <a:t>Inside-Out Demo Sequence</a:t>
            </a:r>
          </a:p>
        </p:txBody>
      </p:sp>
      <p:sp>
        <p:nvSpPr>
          <p:cNvPr id="4" name="Rectangle 3"/>
          <p:cNvSpPr/>
          <p:nvPr/>
        </p:nvSpPr>
        <p:spPr>
          <a:xfrm>
            <a:off x="731520" y="77724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63040"/>
            <a:ext cx="2560320" cy="365760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463040"/>
            <a:ext cx="2560320" cy="63500"/>
          </a:xfrm>
          <a:prstGeom prst="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417320" y="1691640"/>
            <a:ext cx="822960" cy="822960"/>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 name="TextBox 7"/>
          <p:cNvSpPr txBox="1"/>
          <p:nvPr/>
        </p:nvSpPr>
        <p:spPr>
          <a:xfrm>
            <a:off x="685800" y="2697480"/>
            <a:ext cx="2286000" cy="822960"/>
          </a:xfrm>
          <a:prstGeom prst="rect">
            <a:avLst/>
          </a:prstGeom>
          <a:noFill/>
        </p:spPr>
        <p:txBody>
          <a:bodyPr wrap="square" anchor="t">
            <a:spAutoFit/>
          </a:bodyPr>
          <a:lstStyle/>
          <a:p>
            <a:pPr algn="ctr"/>
            <a:r>
              <a:t>Research</a:t>
            </a:r>
          </a:p>
          <a:p>
            <a:r>
              <a:t>Foundation</a:t>
            </a:r>
          </a:p>
        </p:txBody>
      </p:sp>
      <p:sp>
        <p:nvSpPr>
          <p:cNvPr id="9" name="TextBox 8"/>
          <p:cNvSpPr txBox="1"/>
          <p:nvPr/>
        </p:nvSpPr>
        <p:spPr>
          <a:xfrm>
            <a:off x="731520" y="3566160"/>
            <a:ext cx="2194560" cy="1463040"/>
          </a:xfrm>
          <a:prstGeom prst="rect">
            <a:avLst/>
          </a:prstGeom>
          <a:noFill/>
        </p:spPr>
        <p:txBody>
          <a:bodyPr wrap="square" anchor="t">
            <a:spAutoFit/>
          </a:bodyPr>
          <a:lstStyle/>
          <a:p>
            <a:pPr algn="ctr"/>
            <a:r>
              <a:t>MIP intro, training status,</a:t>
            </a:r>
          </a:p>
          <a:p>
            <a:r>
              <a:t>market timeline, parallel worlds,</a:t>
            </a:r>
          </a:p>
          <a:p>
            <a:r>
              <a:t>news intelligence.</a:t>
            </a:r>
          </a:p>
        </p:txBody>
      </p:sp>
      <p:sp>
        <p:nvSpPr>
          <p:cNvPr id="10" name="Rounded Rectangle 9"/>
          <p:cNvSpPr/>
          <p:nvPr/>
        </p:nvSpPr>
        <p:spPr>
          <a:xfrm>
            <a:off x="3383280" y="1463040"/>
            <a:ext cx="2560320" cy="365760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83280" y="1463040"/>
            <a:ext cx="2560320" cy="63500"/>
          </a:xfrm>
          <a:prstGeom prst="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251960" y="1691640"/>
            <a:ext cx="822960" cy="822960"/>
          </a:xfrm>
          <a:prstGeom prst="ellipse">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3" name="TextBox 12"/>
          <p:cNvSpPr txBox="1"/>
          <p:nvPr/>
        </p:nvSpPr>
        <p:spPr>
          <a:xfrm>
            <a:off x="3520440" y="2697480"/>
            <a:ext cx="2286000" cy="822960"/>
          </a:xfrm>
          <a:prstGeom prst="rect">
            <a:avLst/>
          </a:prstGeom>
          <a:noFill/>
        </p:spPr>
        <p:txBody>
          <a:bodyPr wrap="square" anchor="t">
            <a:spAutoFit/>
          </a:bodyPr>
          <a:lstStyle/>
          <a:p>
            <a:pPr algn="ctr"/>
            <a:r>
              <a:t>Decision</a:t>
            </a:r>
          </a:p>
          <a:p>
            <a:r>
              <a:t>Layer</a:t>
            </a:r>
          </a:p>
        </p:txBody>
      </p:sp>
      <p:sp>
        <p:nvSpPr>
          <p:cNvPr id="14" name="TextBox 13"/>
          <p:cNvSpPr txBox="1"/>
          <p:nvPr/>
        </p:nvSpPr>
        <p:spPr>
          <a:xfrm>
            <a:off x="3566160" y="3566160"/>
            <a:ext cx="2194560" cy="1463040"/>
          </a:xfrm>
          <a:prstGeom prst="rect">
            <a:avLst/>
          </a:prstGeom>
          <a:noFill/>
        </p:spPr>
        <p:txBody>
          <a:bodyPr wrap="square" anchor="t">
            <a:spAutoFit/>
          </a:bodyPr>
          <a:lstStyle/>
          <a:p>
            <a:pPr algn="ctr"/>
            <a:r>
              <a:t>AI Agent Decisions and</a:t>
            </a:r>
          </a:p>
          <a:p>
            <a:r>
              <a:t>committee reasoning become</a:t>
            </a:r>
          </a:p>
          <a:p>
            <a:r>
              <a:t>action guidance.</a:t>
            </a:r>
          </a:p>
        </p:txBody>
      </p:sp>
      <p:sp>
        <p:nvSpPr>
          <p:cNvPr id="15" name="Rounded Rectangle 14"/>
          <p:cNvSpPr/>
          <p:nvPr/>
        </p:nvSpPr>
        <p:spPr>
          <a:xfrm>
            <a:off x="6217920" y="1463040"/>
            <a:ext cx="2560320" cy="365760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463040"/>
            <a:ext cx="2560320" cy="63500"/>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086600" y="1691640"/>
            <a:ext cx="822960" cy="822960"/>
          </a:xfrm>
          <a:prstGeom prst="ellipse">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8" name="TextBox 17"/>
          <p:cNvSpPr txBox="1"/>
          <p:nvPr/>
        </p:nvSpPr>
        <p:spPr>
          <a:xfrm>
            <a:off x="6355080" y="2697480"/>
            <a:ext cx="2286000" cy="822960"/>
          </a:xfrm>
          <a:prstGeom prst="rect">
            <a:avLst/>
          </a:prstGeom>
          <a:noFill/>
        </p:spPr>
        <p:txBody>
          <a:bodyPr wrap="square" anchor="t">
            <a:spAutoFit/>
          </a:bodyPr>
          <a:lstStyle/>
          <a:p>
            <a:pPr algn="ctr"/>
            <a:r>
              <a:t>Live Trading</a:t>
            </a:r>
          </a:p>
          <a:p>
            <a:r>
              <a:t>Operations</a:t>
            </a:r>
          </a:p>
        </p:txBody>
      </p:sp>
      <p:sp>
        <p:nvSpPr>
          <p:cNvPr id="19" name="TextBox 18"/>
          <p:cNvSpPr txBox="1"/>
          <p:nvPr/>
        </p:nvSpPr>
        <p:spPr>
          <a:xfrm>
            <a:off x="6400800" y="3566160"/>
            <a:ext cx="2194560" cy="1463040"/>
          </a:xfrm>
          <a:prstGeom prst="rect">
            <a:avLst/>
          </a:prstGeom>
          <a:noFill/>
        </p:spPr>
        <p:txBody>
          <a:bodyPr wrap="square" anchor="t">
            <a:spAutoFit/>
          </a:bodyPr>
          <a:lstStyle/>
          <a:p>
            <a:pPr algn="ctr"/>
            <a:r>
              <a:t>Live portfolio link + activity,</a:t>
            </a:r>
          </a:p>
          <a:p>
            <a:r>
              <a:t>live symbol tracker, committee</a:t>
            </a:r>
          </a:p>
          <a:p>
            <a:r>
              <a:t>commentary in context.</a:t>
            </a:r>
          </a:p>
        </p:txBody>
      </p:sp>
      <p:sp>
        <p:nvSpPr>
          <p:cNvPr id="20" name="Rounded Rectangle 19"/>
          <p:cNvSpPr/>
          <p:nvPr/>
        </p:nvSpPr>
        <p:spPr>
          <a:xfrm>
            <a:off x="9052560" y="1463040"/>
            <a:ext cx="2560320" cy="365760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052560" y="1463040"/>
            <a:ext cx="2560320" cy="63500"/>
          </a:xfrm>
          <a:prstGeom prst="rect">
            <a:avLst/>
          </a:prstGeom>
          <a:solidFill>
            <a:srgbClr val="1A2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921240" y="1691640"/>
            <a:ext cx="822960" cy="822960"/>
          </a:xfrm>
          <a:prstGeom prst="ellipse">
            <a:avLst/>
          </a:prstGeom>
          <a:solidFill>
            <a:srgbClr val="1A287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23" name="TextBox 22"/>
          <p:cNvSpPr txBox="1"/>
          <p:nvPr/>
        </p:nvSpPr>
        <p:spPr>
          <a:xfrm>
            <a:off x="9189720" y="2697480"/>
            <a:ext cx="2286000" cy="822960"/>
          </a:xfrm>
          <a:prstGeom prst="rect">
            <a:avLst/>
          </a:prstGeom>
          <a:noFill/>
        </p:spPr>
        <p:txBody>
          <a:bodyPr wrap="square" anchor="t">
            <a:spAutoFit/>
          </a:bodyPr>
          <a:lstStyle/>
          <a:p>
            <a:pPr algn="ctr"/>
            <a:r>
              <a:t>Review,</a:t>
            </a:r>
          </a:p>
          <a:p>
            <a:r>
              <a:t>Learning, Audit</a:t>
            </a:r>
          </a:p>
        </p:txBody>
      </p:sp>
      <p:sp>
        <p:nvSpPr>
          <p:cNvPr id="24" name="TextBox 23"/>
          <p:cNvSpPr txBox="1"/>
          <p:nvPr/>
        </p:nvSpPr>
        <p:spPr>
          <a:xfrm>
            <a:off x="9235440" y="3566160"/>
            <a:ext cx="2194560" cy="1463040"/>
          </a:xfrm>
          <a:prstGeom prst="rect">
            <a:avLst/>
          </a:prstGeom>
          <a:noFill/>
        </p:spPr>
        <p:txBody>
          <a:bodyPr wrap="square" anchor="t">
            <a:spAutoFit/>
          </a:bodyPr>
          <a:lstStyle/>
          <a:p>
            <a:pPr algn="ctr"/>
            <a:r>
              <a:t>Learning ledger, performance,</a:t>
            </a:r>
          </a:p>
          <a:p>
            <a:r>
              <a:t>audit trail and operator</a:t>
            </a:r>
          </a:p>
          <a:p>
            <a:r>
              <a:t>playbook.</a:t>
            </a:r>
          </a:p>
        </p:txBody>
      </p:sp>
      <p:sp>
        <p:nvSpPr>
          <p:cNvPr id="25" name="Rounded Rectangle 24"/>
          <p:cNvSpPr/>
          <p:nvPr/>
        </p:nvSpPr>
        <p:spPr>
          <a:xfrm>
            <a:off x="1371600" y="5486400"/>
            <a:ext cx="9418320" cy="82296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645920" y="5577840"/>
            <a:ext cx="8961120" cy="640080"/>
          </a:xfrm>
          <a:prstGeom prst="rect">
            <a:avLst/>
          </a:prstGeom>
          <a:noFill/>
        </p:spPr>
        <p:txBody>
          <a:bodyPr wrap="square" anchor="t">
            <a:spAutoFit/>
          </a:bodyPr>
          <a:lstStyle/>
          <a:p>
            <a:pPr algn="ctr"/>
            <a:r>
              <a:t>Every section links evidence -&gt; committee -&gt; action -&gt; review.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9144000" cy="640080"/>
          </a:xfrm>
          <a:prstGeom prst="rect">
            <a:avLst/>
          </a:prstGeom>
          <a:noFill/>
        </p:spPr>
        <p:txBody>
          <a:bodyPr wrap="square" anchor="t">
            <a:spAutoFit/>
          </a:bodyPr>
          <a:lstStyle/>
          <a:p>
            <a:pPr algn="l"/>
            <a:r>
              <a:t>MIP Introduction</a:t>
            </a:r>
          </a:p>
        </p:txBody>
      </p:sp>
      <p:sp>
        <p:nvSpPr>
          <p:cNvPr id="4" name="Rectangle 3"/>
          <p:cNvSpPr/>
          <p:nvPr/>
        </p:nvSpPr>
        <p:spPr>
          <a:xfrm>
            <a:off x="731520" y="77724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10515600" cy="822960"/>
          </a:xfrm>
          <a:prstGeom prst="rect">
            <a:avLst/>
          </a:prstGeom>
          <a:noFill/>
        </p:spPr>
        <p:txBody>
          <a:bodyPr wrap="square" anchor="t">
            <a:spAutoFit/>
          </a:bodyPr>
          <a:lstStyle/>
          <a:p>
            <a:pPr algn="l"/>
            <a:r>
              <a:t>MIP is an evidence-first decision system: learn from repeatable behavior,</a:t>
            </a:r>
          </a:p>
          <a:p>
            <a:r>
              <a:t>then propose actions through deterministic controls.</a:t>
            </a:r>
          </a:p>
        </p:txBody>
      </p:sp>
      <p:sp>
        <p:nvSpPr>
          <p:cNvPr id="6" name="Rounded Rectangle 5"/>
          <p:cNvSpPr/>
          <p:nvPr/>
        </p:nvSpPr>
        <p:spPr>
          <a:xfrm>
            <a:off x="301335" y="2743200"/>
            <a:ext cx="1554480" cy="1554480"/>
          </a:xfrm>
          <a:prstGeom prst="round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t>Ingest</a:t>
            </a:r>
          </a:p>
        </p:txBody>
      </p:sp>
      <p:sp>
        <p:nvSpPr>
          <p:cNvPr id="7" name="Right Arrow 6"/>
          <p:cNvSpPr/>
          <p:nvPr/>
        </p:nvSpPr>
        <p:spPr>
          <a:xfrm>
            <a:off x="1901535" y="3246120"/>
            <a:ext cx="365760" cy="320040"/>
          </a:xfrm>
          <a:prstGeom prst="rightArrow">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307236" y="2743200"/>
            <a:ext cx="1554480" cy="155448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t>Detect</a:t>
            </a:r>
          </a:p>
        </p:txBody>
      </p:sp>
      <p:sp>
        <p:nvSpPr>
          <p:cNvPr id="9" name="Right Arrow 8"/>
          <p:cNvSpPr/>
          <p:nvPr/>
        </p:nvSpPr>
        <p:spPr>
          <a:xfrm>
            <a:off x="3907436" y="3246120"/>
            <a:ext cx="365760" cy="320040"/>
          </a:xfrm>
          <a:prstGeom prst="rightArrow">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23646" y="2743200"/>
            <a:ext cx="1554480" cy="1554480"/>
          </a:xfrm>
          <a:prstGeom prst="round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t>Evaluate</a:t>
            </a:r>
          </a:p>
        </p:txBody>
      </p:sp>
      <p:sp>
        <p:nvSpPr>
          <p:cNvPr id="11" name="Right Arrow 10"/>
          <p:cNvSpPr/>
          <p:nvPr/>
        </p:nvSpPr>
        <p:spPr>
          <a:xfrm>
            <a:off x="5923846" y="3246120"/>
            <a:ext cx="365760" cy="320040"/>
          </a:xfrm>
          <a:prstGeom prst="rightArrow">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40060" y="2743200"/>
            <a:ext cx="1554480" cy="1554480"/>
          </a:xfrm>
          <a:prstGeom prst="roundRect">
            <a:avLst/>
          </a:prstGeom>
          <a:solidFill>
            <a:srgbClr val="20C99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t>Trust</a:t>
            </a:r>
          </a:p>
        </p:txBody>
      </p:sp>
      <p:sp>
        <p:nvSpPr>
          <p:cNvPr id="13" name="Right Arrow 12"/>
          <p:cNvSpPr/>
          <p:nvPr/>
        </p:nvSpPr>
        <p:spPr>
          <a:xfrm>
            <a:off x="7940260" y="3246120"/>
            <a:ext cx="365760" cy="320040"/>
          </a:xfrm>
          <a:prstGeom prst="rightArrow">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345956" y="2743200"/>
            <a:ext cx="1554480" cy="1554480"/>
          </a:xfrm>
          <a:prstGeom prst="round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t>Decide</a:t>
            </a:r>
          </a:p>
        </p:txBody>
      </p:sp>
      <p:sp>
        <p:nvSpPr>
          <p:cNvPr id="15" name="Right Arrow 14"/>
          <p:cNvSpPr/>
          <p:nvPr/>
        </p:nvSpPr>
        <p:spPr>
          <a:xfrm>
            <a:off x="9946156" y="3246120"/>
            <a:ext cx="365760" cy="320040"/>
          </a:xfrm>
          <a:prstGeom prst="rightArrow">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351863" y="2743200"/>
            <a:ext cx="1554480" cy="1554480"/>
          </a:xfrm>
          <a:prstGeom prst="roundRect">
            <a:avLst/>
          </a:prstGeom>
          <a:solidFill>
            <a:srgbClr val="4A2D7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t>Operate</a:t>
            </a:r>
          </a:p>
        </p:txBody>
      </p:sp>
      <p:sp>
        <p:nvSpPr>
          <p:cNvPr id="17" name="TextBox 16"/>
          <p:cNvSpPr txBox="1"/>
          <p:nvPr/>
        </p:nvSpPr>
        <p:spPr>
          <a:xfrm>
            <a:off x="209895" y="4434840"/>
            <a:ext cx="1737360" cy="731520"/>
          </a:xfrm>
          <a:prstGeom prst="rect">
            <a:avLst/>
          </a:prstGeom>
          <a:noFill/>
        </p:spPr>
        <p:txBody>
          <a:bodyPr wrap="square" anchor="t">
            <a:spAutoFit/>
          </a:bodyPr>
          <a:lstStyle/>
          <a:p>
            <a:pPr algn="ctr"/>
            <a:r>
              <a:t>Market bars</a:t>
            </a:r>
          </a:p>
          <a:p>
            <a:r>
              <a:t>(OHLC)</a:t>
            </a:r>
          </a:p>
        </p:txBody>
      </p:sp>
      <p:sp>
        <p:nvSpPr>
          <p:cNvPr id="18" name="TextBox 17"/>
          <p:cNvSpPr txBox="1"/>
          <p:nvPr/>
        </p:nvSpPr>
        <p:spPr>
          <a:xfrm>
            <a:off x="2215796" y="4434840"/>
            <a:ext cx="1737360" cy="731520"/>
          </a:xfrm>
          <a:prstGeom prst="rect">
            <a:avLst/>
          </a:prstGeom>
          <a:noFill/>
        </p:spPr>
        <p:txBody>
          <a:bodyPr wrap="square" anchor="t">
            <a:spAutoFit/>
          </a:bodyPr>
          <a:lstStyle/>
          <a:p>
            <a:pPr algn="ctr"/>
            <a:r>
              <a:t>Pattern</a:t>
            </a:r>
          </a:p>
          <a:p>
            <a:r>
              <a:t>signals</a:t>
            </a:r>
          </a:p>
        </p:txBody>
      </p:sp>
      <p:sp>
        <p:nvSpPr>
          <p:cNvPr id="19" name="TextBox 18"/>
          <p:cNvSpPr txBox="1"/>
          <p:nvPr/>
        </p:nvSpPr>
        <p:spPr>
          <a:xfrm>
            <a:off x="4232206" y="4434840"/>
            <a:ext cx="1737360" cy="731520"/>
          </a:xfrm>
          <a:prstGeom prst="rect">
            <a:avLst/>
          </a:prstGeom>
          <a:noFill/>
        </p:spPr>
        <p:txBody>
          <a:bodyPr wrap="square" anchor="t">
            <a:spAutoFit/>
          </a:bodyPr>
          <a:lstStyle/>
          <a:p>
            <a:pPr algn="ctr"/>
            <a:r>
              <a:t>H1/H3/H5/H10/H20</a:t>
            </a:r>
          </a:p>
          <a:p>
            <a:r>
              <a:t>outcomes</a:t>
            </a:r>
          </a:p>
        </p:txBody>
      </p:sp>
      <p:sp>
        <p:nvSpPr>
          <p:cNvPr id="20" name="TextBox 19"/>
          <p:cNvSpPr txBox="1"/>
          <p:nvPr/>
        </p:nvSpPr>
        <p:spPr>
          <a:xfrm>
            <a:off x="6248620" y="4434840"/>
            <a:ext cx="1737360" cy="731520"/>
          </a:xfrm>
          <a:prstGeom prst="rect">
            <a:avLst/>
          </a:prstGeom>
          <a:noFill/>
        </p:spPr>
        <p:txBody>
          <a:bodyPr wrap="square" anchor="t">
            <a:spAutoFit/>
          </a:bodyPr>
          <a:lstStyle/>
          <a:p>
            <a:pPr algn="ctr"/>
            <a:r>
              <a:t>Maturity + coverage +</a:t>
            </a:r>
          </a:p>
          <a:p>
            <a:r>
              <a:t>trust labels</a:t>
            </a:r>
          </a:p>
        </p:txBody>
      </p:sp>
      <p:sp>
        <p:nvSpPr>
          <p:cNvPr id="21" name="TextBox 20"/>
          <p:cNvSpPr txBox="1"/>
          <p:nvPr/>
        </p:nvSpPr>
        <p:spPr>
          <a:xfrm>
            <a:off x="8254516" y="4434840"/>
            <a:ext cx="1737360" cy="731520"/>
          </a:xfrm>
          <a:prstGeom prst="rect">
            <a:avLst/>
          </a:prstGeom>
          <a:noFill/>
        </p:spPr>
        <p:txBody>
          <a:bodyPr wrap="square" anchor="t">
            <a:spAutoFit/>
          </a:bodyPr>
          <a:lstStyle/>
          <a:p>
            <a:pPr algn="ctr"/>
            <a:r>
              <a:t>Committee verdicts</a:t>
            </a:r>
          </a:p>
          <a:p>
            <a:r>
              <a:t>and reason codes</a:t>
            </a:r>
          </a:p>
        </p:txBody>
      </p:sp>
      <p:sp>
        <p:nvSpPr>
          <p:cNvPr id="22" name="TextBox 21"/>
          <p:cNvSpPr txBox="1"/>
          <p:nvPr/>
        </p:nvSpPr>
        <p:spPr>
          <a:xfrm>
            <a:off x="10260423" y="4434840"/>
            <a:ext cx="1737360" cy="731520"/>
          </a:xfrm>
          <a:prstGeom prst="rect">
            <a:avLst/>
          </a:prstGeom>
          <a:noFill/>
        </p:spPr>
        <p:txBody>
          <a:bodyPr wrap="square" anchor="t">
            <a:spAutoFit/>
          </a:bodyPr>
          <a:lstStyle/>
          <a:p>
            <a:pPr algn="ctr"/>
            <a:r>
              <a:t>Live workflow,</a:t>
            </a:r>
          </a:p>
          <a:p>
            <a:r>
              <a:t>performance, audit</a:t>
            </a:r>
          </a:p>
        </p:txBody>
      </p:sp>
      <p:sp>
        <p:nvSpPr>
          <p:cNvPr id="23" name="Rounded Rectangle 22"/>
          <p:cNvSpPr/>
          <p:nvPr/>
        </p:nvSpPr>
        <p:spPr>
          <a:xfrm>
            <a:off x="1371600" y="5303520"/>
            <a:ext cx="9418320" cy="9144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645920" y="5394960"/>
            <a:ext cx="8961120" cy="731520"/>
          </a:xfrm>
          <a:prstGeom prst="rect">
            <a:avLst/>
          </a:prstGeom>
          <a:noFill/>
        </p:spPr>
        <p:txBody>
          <a:bodyPr wrap="square" anchor="t">
            <a:spAutoFit/>
          </a:bodyPr>
          <a:lstStyle/>
          <a:p>
            <a:pPr algn="ctr"/>
            <a:r>
              <a:t>Research and trading are one continuous loop, not separate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9144000" cy="640080"/>
          </a:xfrm>
          <a:prstGeom prst="rect">
            <a:avLst/>
          </a:prstGeom>
          <a:noFill/>
        </p:spPr>
        <p:txBody>
          <a:bodyPr wrap="square" anchor="t">
            <a:spAutoFit/>
          </a:bodyPr>
          <a:lstStyle/>
          <a:p>
            <a:pPr algn="l"/>
            <a:r>
              <a:t>Current MIP Operating Map</a:t>
            </a:r>
          </a:p>
        </p:txBody>
      </p:sp>
      <p:sp>
        <p:nvSpPr>
          <p:cNvPr id="4" name="Rectangle 3"/>
          <p:cNvSpPr/>
          <p:nvPr/>
        </p:nvSpPr>
        <p:spPr>
          <a:xfrm>
            <a:off x="731520" y="77724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51560"/>
            <a:ext cx="10058400" cy="365760"/>
          </a:xfrm>
          <a:prstGeom prst="rect">
            <a:avLst/>
          </a:prstGeom>
          <a:noFill/>
        </p:spPr>
        <p:txBody>
          <a:bodyPr wrap="square" anchor="t">
            <a:spAutoFit/>
          </a:bodyPr>
          <a:lstStyle/>
          <a:p>
            <a:pPr algn="l"/>
            <a:r>
              <a:t>Updated navigation and responsibilities across pages in the current UI.</a:t>
            </a:r>
          </a:p>
        </p:txBody>
      </p:sp>
      <p:sp>
        <p:nvSpPr>
          <p:cNvPr id="6" name="Rounded Rectangle 5"/>
          <p:cNvSpPr/>
          <p:nvPr/>
        </p:nvSpPr>
        <p:spPr>
          <a:xfrm>
            <a:off x="457200" y="1645920"/>
            <a:ext cx="3291840" cy="3200400"/>
          </a:xfrm>
          <a:prstGeom prst="round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691640"/>
            <a:ext cx="3017520" cy="365760"/>
          </a:xfrm>
          <a:prstGeom prst="rect">
            <a:avLst/>
          </a:prstGeom>
          <a:noFill/>
        </p:spPr>
        <p:txBody>
          <a:bodyPr wrap="square" anchor="t">
            <a:spAutoFit/>
          </a:bodyPr>
          <a:lstStyle/>
          <a:p>
            <a:pPr algn="l"/>
            <a:r>
              <a:t>Dashboard</a:t>
            </a:r>
          </a:p>
        </p:txBody>
      </p:sp>
      <p:sp>
        <p:nvSpPr>
          <p:cNvPr id="8" name="TextBox 7"/>
          <p:cNvSpPr txBox="1"/>
          <p:nvPr/>
        </p:nvSpPr>
        <p:spPr>
          <a:xfrm>
            <a:off x="594360" y="2011680"/>
            <a:ext cx="3017520" cy="228600"/>
          </a:xfrm>
          <a:prstGeom prst="rect">
            <a:avLst/>
          </a:prstGeom>
          <a:noFill/>
        </p:spPr>
        <p:txBody>
          <a:bodyPr wrap="square" anchor="t">
            <a:spAutoFit/>
          </a:bodyPr>
          <a:lstStyle/>
          <a:p>
            <a:pPr algn="l"/>
            <a:r>
              <a:t>Cockpit, Home,</a:t>
            </a:r>
          </a:p>
          <a:p>
            <a:r>
              <a:t>Performance</a:t>
            </a:r>
          </a:p>
        </p:txBody>
      </p:sp>
      <p:sp>
        <p:nvSpPr>
          <p:cNvPr id="9" name="Oval 8"/>
          <p:cNvSpPr/>
          <p:nvPr/>
        </p:nvSpPr>
        <p:spPr>
          <a:xfrm>
            <a:off x="594360" y="2386584"/>
            <a:ext cx="109728" cy="10972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331720"/>
            <a:ext cx="2834640" cy="640080"/>
          </a:xfrm>
          <a:prstGeom prst="rect">
            <a:avLst/>
          </a:prstGeom>
          <a:noFill/>
        </p:spPr>
        <p:txBody>
          <a:bodyPr wrap="square" anchor="t">
            <a:spAutoFit/>
          </a:bodyPr>
          <a:lstStyle/>
          <a:p>
            <a:pPr algn="l"/>
            <a:r>
              <a:t>Portfolio</a:t>
            </a:r>
          </a:p>
        </p:txBody>
      </p:sp>
      <p:sp>
        <p:nvSpPr>
          <p:cNvPr id="11" name="Oval 10"/>
          <p:cNvSpPr/>
          <p:nvPr/>
        </p:nvSpPr>
        <p:spPr>
          <a:xfrm>
            <a:off x="594360" y="2679192"/>
            <a:ext cx="109728" cy="10972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624328"/>
            <a:ext cx="2834640" cy="640080"/>
          </a:xfrm>
          <a:prstGeom prst="rect">
            <a:avLst/>
          </a:prstGeom>
          <a:noFill/>
        </p:spPr>
        <p:txBody>
          <a:bodyPr wrap="square" anchor="t">
            <a:spAutoFit/>
          </a:bodyPr>
          <a:lstStyle/>
          <a:p>
            <a:pPr algn="l"/>
            <a:r>
              <a:t>Live Portfolio Link,</a:t>
            </a:r>
          </a:p>
          <a:p>
            <a:r>
              <a:t>Live Activity,</a:t>
            </a:r>
          </a:p>
          <a:p>
            <a:r>
              <a:t>Live Symbol Tracker</a:t>
            </a:r>
          </a:p>
        </p:txBody>
      </p:sp>
      <p:sp>
        <p:nvSpPr>
          <p:cNvPr id="13" name="Oval 12"/>
          <p:cNvSpPr/>
          <p:nvPr/>
        </p:nvSpPr>
        <p:spPr>
          <a:xfrm>
            <a:off x="594360" y="3172968"/>
            <a:ext cx="109728" cy="10972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118104"/>
            <a:ext cx="2834640" cy="640080"/>
          </a:xfrm>
          <a:prstGeom prst="rect">
            <a:avLst/>
          </a:prstGeom>
          <a:noFill/>
        </p:spPr>
        <p:txBody>
          <a:bodyPr wrap="square" anchor="t">
            <a:spAutoFit/>
          </a:bodyPr>
          <a:lstStyle/>
          <a:p>
            <a:pPr algn="l"/>
            <a:r>
              <a:t>Research</a:t>
            </a:r>
          </a:p>
        </p:txBody>
      </p:sp>
      <p:sp>
        <p:nvSpPr>
          <p:cNvPr id="15" name="Oval 14"/>
          <p:cNvSpPr/>
          <p:nvPr/>
        </p:nvSpPr>
        <p:spPr>
          <a:xfrm>
            <a:off x="594360" y="3465576"/>
            <a:ext cx="109728" cy="10972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410712"/>
            <a:ext cx="2834640" cy="640080"/>
          </a:xfrm>
          <a:prstGeom prst="rect">
            <a:avLst/>
          </a:prstGeom>
          <a:noFill/>
        </p:spPr>
        <p:txBody>
          <a:bodyPr wrap="square" anchor="t">
            <a:spAutoFit/>
          </a:bodyPr>
          <a:lstStyle/>
          <a:p>
            <a:pPr algn="l"/>
            <a:r>
              <a:t>Training Status,</a:t>
            </a:r>
          </a:p>
          <a:p>
            <a:r>
              <a:t>Market Timeline,</a:t>
            </a:r>
          </a:p>
          <a:p>
            <a:r>
              <a:t>Parallel Worlds,</a:t>
            </a:r>
          </a:p>
          <a:p>
            <a:r>
              <a:t>News Intelligence</a:t>
            </a:r>
          </a:p>
        </p:txBody>
      </p:sp>
      <p:sp>
        <p:nvSpPr>
          <p:cNvPr id="17" name="Rounded Rectangle 16"/>
          <p:cNvSpPr/>
          <p:nvPr/>
        </p:nvSpPr>
        <p:spPr>
          <a:xfrm>
            <a:off x="4023360" y="1645919"/>
            <a:ext cx="3017520" cy="1600201"/>
          </a:xfrm>
          <a:prstGeom prst="roundRect">
            <a:avLst/>
          </a:prstGeom>
          <a:solidFill>
            <a:srgbClr val="20C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60520" y="1691640"/>
            <a:ext cx="2743200" cy="365760"/>
          </a:xfrm>
          <a:prstGeom prst="rect">
            <a:avLst/>
          </a:prstGeom>
          <a:noFill/>
        </p:spPr>
        <p:txBody>
          <a:bodyPr wrap="square" anchor="t">
            <a:spAutoFit/>
          </a:bodyPr>
          <a:lstStyle/>
          <a:p>
            <a:pPr algn="l"/>
            <a:r>
              <a:t>Decision Executions</a:t>
            </a:r>
          </a:p>
        </p:txBody>
      </p:sp>
      <p:sp>
        <p:nvSpPr>
          <p:cNvPr id="19" name="TextBox 18"/>
          <p:cNvSpPr txBox="1"/>
          <p:nvPr/>
        </p:nvSpPr>
        <p:spPr>
          <a:xfrm>
            <a:off x="4160520" y="2011680"/>
            <a:ext cx="2743200" cy="228600"/>
          </a:xfrm>
          <a:prstGeom prst="rect">
            <a:avLst/>
          </a:prstGeom>
          <a:noFill/>
        </p:spPr>
        <p:txBody>
          <a:bodyPr wrap="square" anchor="t">
            <a:spAutoFit/>
          </a:bodyPr>
          <a:lstStyle/>
          <a:p>
            <a:pPr algn="l"/>
            <a:r>
              <a:t>AI Agent Decisions,</a:t>
            </a:r>
          </a:p>
          <a:p>
            <a:r>
              <a:t>Learning Ledger</a:t>
            </a:r>
          </a:p>
        </p:txBody>
      </p:sp>
      <p:sp>
        <p:nvSpPr>
          <p:cNvPr id="20" name="Oval 19"/>
          <p:cNvSpPr/>
          <p:nvPr/>
        </p:nvSpPr>
        <p:spPr>
          <a:xfrm>
            <a:off x="4160520" y="2386584"/>
            <a:ext cx="109728" cy="10972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43400" y="2331720"/>
            <a:ext cx="2560320" cy="274320"/>
          </a:xfrm>
          <a:prstGeom prst="rect">
            <a:avLst/>
          </a:prstGeom>
          <a:noFill/>
        </p:spPr>
        <p:txBody>
          <a:bodyPr wrap="square" anchor="t">
            <a:spAutoFit/>
          </a:bodyPr>
          <a:lstStyle/>
          <a:p>
            <a:pPr algn="l"/>
            <a:r>
              <a:t>Operations</a:t>
            </a:r>
          </a:p>
        </p:txBody>
      </p:sp>
      <p:sp>
        <p:nvSpPr>
          <p:cNvPr id="22" name="Oval 21"/>
          <p:cNvSpPr/>
          <p:nvPr/>
        </p:nvSpPr>
        <p:spPr>
          <a:xfrm>
            <a:off x="4160520" y="2642616"/>
            <a:ext cx="109728" cy="10972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43400" y="2587752"/>
            <a:ext cx="2560320" cy="274320"/>
          </a:xfrm>
          <a:prstGeom prst="rect">
            <a:avLst/>
          </a:prstGeom>
          <a:noFill/>
        </p:spPr>
        <p:txBody>
          <a:bodyPr wrap="square" anchor="t">
            <a:spAutoFit/>
          </a:bodyPr>
          <a:lstStyle/>
          <a:p>
            <a:pPr algn="l"/>
            <a:r>
              <a:t>Runs (Audit),</a:t>
            </a:r>
          </a:p>
          <a:p>
            <a:r>
              <a:t>Debug</a:t>
            </a:r>
          </a:p>
        </p:txBody>
      </p:sp>
      <p:sp>
        <p:nvSpPr>
          <p:cNvPr id="24" name="Oval 23"/>
          <p:cNvSpPr/>
          <p:nvPr/>
        </p:nvSpPr>
        <p:spPr>
          <a:xfrm>
            <a:off x="4160520" y="2898648"/>
            <a:ext cx="109728" cy="10972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43400" y="2843784"/>
            <a:ext cx="2560320" cy="274320"/>
          </a:xfrm>
          <a:prstGeom prst="rect">
            <a:avLst/>
          </a:prstGeom>
          <a:noFill/>
        </p:spPr>
        <p:txBody>
          <a:bodyPr wrap="square" anchor="t">
            <a:spAutoFit/>
          </a:bodyPr>
          <a:lstStyle/>
          <a:p>
            <a:pPr algn="l"/>
            <a:r>
              <a:t>Ask MIP</a:t>
            </a:r>
          </a:p>
        </p:txBody>
      </p:sp>
      <p:sp>
        <p:nvSpPr>
          <p:cNvPr id="26" name="Right Arrow 25"/>
          <p:cNvSpPr/>
          <p:nvPr/>
        </p:nvSpPr>
        <p:spPr>
          <a:xfrm>
            <a:off x="3749039" y="2103120"/>
            <a:ext cx="274320" cy="274320"/>
          </a:xfrm>
          <a:prstGeom prst="rightArrow">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ight Arrow 26"/>
          <p:cNvSpPr/>
          <p:nvPr/>
        </p:nvSpPr>
        <p:spPr>
          <a:xfrm>
            <a:off x="7040880" y="2103120"/>
            <a:ext cx="274320" cy="274320"/>
          </a:xfrm>
          <a:prstGeom prst="rightArrow">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315200" y="1645920"/>
            <a:ext cx="4572000" cy="3200400"/>
          </a:xfrm>
          <a:prstGeom prst="roundRect">
            <a:avLst/>
          </a:prstGeom>
          <a:solidFill>
            <a:srgbClr val="1A2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52360" y="1691640"/>
            <a:ext cx="4297680" cy="365760"/>
          </a:xfrm>
          <a:prstGeom prst="rect">
            <a:avLst/>
          </a:prstGeom>
          <a:noFill/>
        </p:spPr>
        <p:txBody>
          <a:bodyPr wrap="square" anchor="t">
            <a:spAutoFit/>
          </a:bodyPr>
          <a:lstStyle/>
          <a:p>
            <a:pPr algn="l"/>
            <a:r>
              <a:t>Cross-page AI assistant</a:t>
            </a:r>
          </a:p>
          <a:p>
            <a:r>
              <a:t>for plain-language guidance</a:t>
            </a:r>
          </a:p>
        </p:txBody>
      </p:sp>
      <p:sp>
        <p:nvSpPr>
          <p:cNvPr id="30" name="TextBox 29"/>
          <p:cNvSpPr txBox="1"/>
          <p:nvPr/>
        </p:nvSpPr>
        <p:spPr>
          <a:xfrm>
            <a:off x="7452360" y="2011680"/>
            <a:ext cx="4297680" cy="228600"/>
          </a:xfrm>
          <a:prstGeom prst="rect">
            <a:avLst/>
          </a:prstGeom>
          <a:noFill/>
        </p:spPr>
        <p:txBody>
          <a:bodyPr wrap="square" anchor="t">
            <a:spAutoFit/>
          </a:bodyPr>
          <a:lstStyle/>
          <a:p>
            <a:pPr algn="l"/>
            <a:r>
              <a:t>Evidence + decisions + operations are connected in one flow.</a:t>
            </a:r>
          </a:p>
        </p:txBody>
      </p:sp>
      <p:sp>
        <p:nvSpPr>
          <p:cNvPr id="32" name="TextBox 31"/>
          <p:cNvSpPr txBox="1"/>
          <p:nvPr/>
        </p:nvSpPr>
        <p:spPr>
          <a:xfrm>
            <a:off x="7475215" y="2359152"/>
            <a:ext cx="3474720" cy="320040"/>
          </a:xfrm>
          <a:prstGeom prst="rect">
            <a:avLst/>
          </a:prstGeom>
          <a:noFill/>
        </p:spPr>
        <p:txBody>
          <a:bodyPr wrap="square" anchor="t">
            <a:spAutoFit/>
          </a:bodyPr>
          <a:lstStyle/>
          <a:p>
            <a:pPr algn="l"/>
            <a:r>
              <a:t>APP</a:t>
            </a:r>
          </a:p>
        </p:txBody>
      </p:sp>
      <p:sp>
        <p:nvSpPr>
          <p:cNvPr id="34" name="TextBox 33"/>
          <p:cNvSpPr txBox="1"/>
          <p:nvPr/>
        </p:nvSpPr>
        <p:spPr>
          <a:xfrm>
            <a:off x="7475215" y="2724911"/>
            <a:ext cx="3474720" cy="320040"/>
          </a:xfrm>
          <a:prstGeom prst="rect">
            <a:avLst/>
          </a:prstGeom>
          <a:noFill/>
        </p:spPr>
        <p:txBody>
          <a:bodyPr wrap="square" anchor="t">
            <a:spAutoFit/>
          </a:bodyPr>
          <a:lstStyle/>
          <a:p>
            <a:pPr algn="l"/>
            <a:r>
              <a:t>MART</a:t>
            </a:r>
          </a:p>
        </p:txBody>
      </p:sp>
      <p:sp>
        <p:nvSpPr>
          <p:cNvPr id="36" name="TextBox 35"/>
          <p:cNvSpPr txBox="1"/>
          <p:nvPr/>
        </p:nvSpPr>
        <p:spPr>
          <a:xfrm>
            <a:off x="7475215" y="3090671"/>
            <a:ext cx="3474720" cy="320040"/>
          </a:xfrm>
          <a:prstGeom prst="rect">
            <a:avLst/>
          </a:prstGeom>
          <a:noFill/>
        </p:spPr>
        <p:txBody>
          <a:bodyPr wrap="square" anchor="t">
            <a:spAutoFit/>
          </a:bodyPr>
          <a:lstStyle/>
          <a:p>
            <a:pPr algn="l"/>
            <a:r>
              <a:t>AGENT_OUT</a:t>
            </a:r>
          </a:p>
        </p:txBody>
      </p:sp>
      <p:sp>
        <p:nvSpPr>
          <p:cNvPr id="38" name="TextBox 37"/>
          <p:cNvSpPr txBox="1"/>
          <p:nvPr/>
        </p:nvSpPr>
        <p:spPr>
          <a:xfrm>
            <a:off x="7475215" y="3456432"/>
            <a:ext cx="3474720" cy="320040"/>
          </a:xfrm>
          <a:prstGeom prst="rect">
            <a:avLst/>
          </a:prstGeom>
          <a:noFill/>
        </p:spPr>
        <p:txBody>
          <a:bodyPr wrap="square" anchor="t">
            <a:spAutoFit/>
          </a:bodyPr>
          <a:lstStyle/>
          <a:p>
            <a:pPr algn="l"/>
            <a:r>
              <a:t>RAW_EXT</a:t>
            </a:r>
          </a:p>
        </p:txBody>
      </p:sp>
      <p:sp>
        <p:nvSpPr>
          <p:cNvPr id="39" name="Rounded Rectangle 38"/>
          <p:cNvSpPr/>
          <p:nvPr/>
        </p:nvSpPr>
        <p:spPr>
          <a:xfrm>
            <a:off x="7452360" y="3840480"/>
            <a:ext cx="1005840" cy="868680"/>
          </a:xfrm>
          <a:prstGeom prst="roundRect">
            <a:avLst/>
          </a:prstGeom>
          <a:solidFill>
            <a:srgbClr val="253585"/>
          </a:solidFill>
          <a:ln w="19050">
            <a:solidFill>
              <a:srgbClr val="FD7E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79792" y="3858768"/>
            <a:ext cx="950976" cy="274320"/>
          </a:xfrm>
          <a:prstGeom prst="rect">
            <a:avLst/>
          </a:prstGeom>
          <a:noFill/>
        </p:spPr>
        <p:txBody>
          <a:bodyPr wrap="square" anchor="t">
            <a:spAutoFit/>
          </a:bodyPr>
          <a:lstStyle/>
          <a:p>
            <a:pPr algn="ctr"/>
            <a:r>
              <a:t>Core Data Zones</a:t>
            </a:r>
          </a:p>
        </p:txBody>
      </p:sp>
      <p:sp>
        <p:nvSpPr>
          <p:cNvPr id="41" name="TextBox 40"/>
          <p:cNvSpPr txBox="1"/>
          <p:nvPr/>
        </p:nvSpPr>
        <p:spPr>
          <a:xfrm>
            <a:off x="7479792" y="4114800"/>
            <a:ext cx="950976" cy="502920"/>
          </a:xfrm>
          <a:prstGeom prst="rect">
            <a:avLst/>
          </a:prstGeom>
          <a:noFill/>
        </p:spPr>
        <p:txBody>
          <a:bodyPr wrap="square" anchor="t">
            <a:spAutoFit/>
          </a:bodyPr>
          <a:lstStyle/>
          <a:p>
            <a:pPr algn="ctr"/>
            <a:r>
              <a:t>Execution tables,</a:t>
            </a:r>
          </a:p>
          <a:p>
            <a:r>
              <a:t>trades, controls</a:t>
            </a:r>
          </a:p>
        </p:txBody>
      </p:sp>
      <p:sp>
        <p:nvSpPr>
          <p:cNvPr id="42" name="Rounded Rectangle 41"/>
          <p:cNvSpPr/>
          <p:nvPr/>
        </p:nvSpPr>
        <p:spPr>
          <a:xfrm>
            <a:off x="8549640" y="3840480"/>
            <a:ext cx="1005840" cy="868680"/>
          </a:xfrm>
          <a:prstGeom prst="roundRect">
            <a:avLst/>
          </a:prstGeom>
          <a:solidFill>
            <a:srgbClr val="253585"/>
          </a:solidFill>
          <a:ln w="19050">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577072" y="3858768"/>
            <a:ext cx="950976" cy="274320"/>
          </a:xfrm>
          <a:prstGeom prst="rect">
            <a:avLst/>
          </a:prstGeom>
          <a:noFill/>
        </p:spPr>
        <p:txBody>
          <a:bodyPr wrap="square" anchor="t">
            <a:spAutoFit/>
          </a:bodyPr>
          <a:lstStyle/>
          <a:p>
            <a:pPr algn="ctr"/>
            <a:r>
              <a:t>Analytics views,</a:t>
            </a:r>
          </a:p>
          <a:p>
            <a:r>
              <a:t>KPIs, training</a:t>
            </a:r>
          </a:p>
        </p:txBody>
      </p:sp>
      <p:sp>
        <p:nvSpPr>
          <p:cNvPr id="44" name="TextBox 43"/>
          <p:cNvSpPr txBox="1"/>
          <p:nvPr/>
        </p:nvSpPr>
        <p:spPr>
          <a:xfrm>
            <a:off x="8577072" y="4114800"/>
            <a:ext cx="950976" cy="502920"/>
          </a:xfrm>
          <a:prstGeom prst="rect">
            <a:avLst/>
          </a:prstGeom>
          <a:noFill/>
        </p:spPr>
        <p:txBody>
          <a:bodyPr wrap="square" anchor="t">
            <a:spAutoFit/>
          </a:bodyPr>
          <a:lstStyle/>
          <a:p>
            <a:pPr algn="ctr"/>
          </a:p>
        </p:txBody>
      </p:sp>
      <p:sp>
        <p:nvSpPr>
          <p:cNvPr id="45" name="Rounded Rectangle 44"/>
          <p:cNvSpPr/>
          <p:nvPr/>
        </p:nvSpPr>
        <p:spPr>
          <a:xfrm>
            <a:off x="9646920" y="3840480"/>
            <a:ext cx="1005840" cy="868680"/>
          </a:xfrm>
          <a:prstGeom prst="roundRect">
            <a:avLst/>
          </a:prstGeom>
          <a:solidFill>
            <a:srgbClr val="253585"/>
          </a:solidFill>
          <a:ln w="19050">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674352" y="3858768"/>
            <a:ext cx="950976" cy="274320"/>
          </a:xfrm>
          <a:prstGeom prst="rect">
            <a:avLst/>
          </a:prstGeom>
          <a:noFill/>
        </p:spPr>
        <p:txBody>
          <a:bodyPr wrap="square" anchor="t">
            <a:spAutoFit/>
          </a:bodyPr>
          <a:lstStyle/>
          <a:p>
            <a:pPr algn="ctr"/>
            <a:r>
              <a:t>Narratives,</a:t>
            </a:r>
          </a:p>
          <a:p>
            <a:r>
              <a:t>digests,</a:t>
            </a:r>
          </a:p>
          <a:p>
            <a:r>
              <a:t>committee output</a:t>
            </a:r>
          </a:p>
        </p:txBody>
      </p:sp>
      <p:sp>
        <p:nvSpPr>
          <p:cNvPr id="47" name="TextBox 46"/>
          <p:cNvSpPr txBox="1"/>
          <p:nvPr/>
        </p:nvSpPr>
        <p:spPr>
          <a:xfrm>
            <a:off x="9674352" y="4114800"/>
            <a:ext cx="950976" cy="502920"/>
          </a:xfrm>
          <a:prstGeom prst="rect">
            <a:avLst/>
          </a:prstGeom>
          <a:noFill/>
        </p:spPr>
        <p:txBody>
          <a:bodyPr wrap="square" anchor="t">
            <a:spAutoFit/>
          </a:bodyPr>
          <a:lstStyle/>
          <a:p>
            <a:pPr algn="ctr"/>
          </a:p>
        </p:txBody>
      </p:sp>
      <p:sp>
        <p:nvSpPr>
          <p:cNvPr id="48" name="Rounded Rectangle 47"/>
          <p:cNvSpPr/>
          <p:nvPr/>
        </p:nvSpPr>
        <p:spPr>
          <a:xfrm>
            <a:off x="10744200" y="3840480"/>
            <a:ext cx="1005840" cy="868680"/>
          </a:xfrm>
          <a:prstGeom prst="roundRect">
            <a:avLst/>
          </a:prstGeom>
          <a:solidFill>
            <a:srgbClr val="253585"/>
          </a:solidFill>
          <a:ln w="1905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771632" y="3858768"/>
            <a:ext cx="950976" cy="274320"/>
          </a:xfrm>
          <a:prstGeom prst="rect">
            <a:avLst/>
          </a:prstGeom>
          <a:noFill/>
        </p:spPr>
        <p:txBody>
          <a:bodyPr wrap="square" anchor="t">
            <a:spAutoFit/>
          </a:bodyPr>
          <a:lstStyle/>
          <a:p>
            <a:pPr algn="ctr"/>
            <a:r>
              <a:t>External market +</a:t>
            </a:r>
          </a:p>
          <a:p>
            <a:r>
              <a:t>news ingestion</a:t>
            </a:r>
          </a:p>
        </p:txBody>
      </p:sp>
      <p:sp>
        <p:nvSpPr>
          <p:cNvPr id="50" name="TextBox 49"/>
          <p:cNvSpPr txBox="1"/>
          <p:nvPr/>
        </p:nvSpPr>
        <p:spPr>
          <a:xfrm>
            <a:off x="10771632" y="4114800"/>
            <a:ext cx="950976" cy="502920"/>
          </a:xfrm>
          <a:prstGeom prst="rect">
            <a:avLst/>
          </a:prstGeom>
          <a:noFill/>
        </p:spPr>
        <p:txBody>
          <a:bodyPr wrap="square" anchor="t">
            <a:spAutoFit/>
          </a:bodyPr>
          <a:lstStyle/>
          <a:p>
            <a:pPr algn="ctr"/>
          </a:p>
        </p:txBody>
      </p:sp>
      <p:sp>
        <p:nvSpPr>
          <p:cNvPr id="51" name="Rounded Rectangle 50"/>
          <p:cNvSpPr/>
          <p:nvPr/>
        </p:nvSpPr>
        <p:spPr>
          <a:xfrm>
            <a:off x="4023360" y="3383280"/>
            <a:ext cx="3017520" cy="1463040"/>
          </a:xfrm>
          <a:prstGeom prst="roundRect">
            <a:avLst/>
          </a:prstGeom>
          <a:solidFill>
            <a:srgbClr val="FDF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160520" y="3429000"/>
            <a:ext cx="2743200" cy="274320"/>
          </a:xfrm>
          <a:prstGeom prst="rect">
            <a:avLst/>
          </a:prstGeom>
          <a:noFill/>
        </p:spPr>
        <p:txBody>
          <a:bodyPr wrap="square" anchor="t">
            <a:spAutoFit/>
          </a:bodyPr>
          <a:lstStyle/>
          <a:p>
            <a:pPr algn="l"/>
            <a:r>
              <a:t>Why this matters:</a:t>
            </a:r>
          </a:p>
        </p:txBody>
      </p:sp>
      <p:sp>
        <p:nvSpPr>
          <p:cNvPr id="53" name="TextBox 52"/>
          <p:cNvSpPr txBox="1"/>
          <p:nvPr/>
        </p:nvSpPr>
        <p:spPr>
          <a:xfrm>
            <a:off x="4160520" y="3749039"/>
            <a:ext cx="1463040" cy="274320"/>
          </a:xfrm>
          <a:prstGeom prst="rect">
            <a:avLst/>
          </a:prstGeom>
          <a:noFill/>
        </p:spPr>
        <p:txBody>
          <a:bodyPr wrap="square" anchor="t">
            <a:spAutoFit/>
          </a:bodyPr>
          <a:lstStyle/>
          <a:p>
            <a:pPr algn="l"/>
            <a:r>
              <a:t>One platform model: deterministic data, bounded AI narration, and full auditability.</a:t>
            </a:r>
          </a:p>
        </p:txBody>
      </p:sp>
      <p:sp>
        <p:nvSpPr>
          <p:cNvPr id="54" name="TextBox 53"/>
          <p:cNvSpPr txBox="1"/>
          <p:nvPr/>
        </p:nvSpPr>
        <p:spPr>
          <a:xfrm>
            <a:off x="5623560" y="3749039"/>
            <a:ext cx="1280160" cy="274320"/>
          </a:xfrm>
          <a:prstGeom prst="rect">
            <a:avLst/>
          </a:prstGeom>
          <a:noFill/>
        </p:spPr>
        <p:txBody>
          <a:bodyPr wrap="square" anchor="t">
            <a:spAutoFit/>
          </a:bodyPr>
          <a:lstStyle/>
          <a:p>
            <a:pPr algn="l"/>
          </a:p>
        </p:txBody>
      </p:sp>
      <p:sp>
        <p:nvSpPr>
          <p:cNvPr id="55" name="TextBox 54"/>
          <p:cNvSpPr txBox="1"/>
          <p:nvPr/>
        </p:nvSpPr>
        <p:spPr>
          <a:xfrm>
            <a:off x="4160520" y="4069079"/>
            <a:ext cx="1463040" cy="274320"/>
          </a:xfrm>
          <a:prstGeom prst="rect">
            <a:avLst/>
          </a:prstGeom>
          <a:noFill/>
        </p:spPr>
        <p:txBody>
          <a:bodyPr wrap="square" anchor="t">
            <a:spAutoFit/>
          </a:bodyPr>
          <a:lstStyle/>
          <a:p>
            <a:pPr algn="l"/>
          </a:p>
        </p:txBody>
      </p:sp>
      <p:sp>
        <p:nvSpPr>
          <p:cNvPr id="56" name="TextBox 55"/>
          <p:cNvSpPr txBox="1"/>
          <p:nvPr/>
        </p:nvSpPr>
        <p:spPr>
          <a:xfrm>
            <a:off x="5623560" y="4069079"/>
            <a:ext cx="1280160" cy="274320"/>
          </a:xfrm>
          <a:prstGeom prst="rect">
            <a:avLst/>
          </a:prstGeom>
          <a:noFill/>
        </p:spPr>
        <p:txBody>
          <a:bodyPr wrap="square" anchor="t">
            <a:spAutoFit/>
          </a:bodyPr>
          <a:lstStyle/>
          <a:p>
            <a:pPr algn="l"/>
          </a:p>
        </p:txBody>
      </p:sp>
      <p:sp>
        <p:nvSpPr>
          <p:cNvPr id="57" name="TextBox 56"/>
          <p:cNvSpPr txBox="1"/>
          <p:nvPr/>
        </p:nvSpPr>
        <p:spPr>
          <a:xfrm>
            <a:off x="4160520" y="4389120"/>
            <a:ext cx="1463040" cy="274320"/>
          </a:xfrm>
          <a:prstGeom prst="rect">
            <a:avLst/>
          </a:prstGeom>
          <a:noFill/>
        </p:spPr>
        <p:txBody>
          <a:bodyPr wrap="square" anchor="t">
            <a:spAutoFit/>
          </a:bodyPr>
          <a:lstStyle/>
          <a:p>
            <a:pPr algn="l"/>
          </a:p>
        </p:txBody>
      </p:sp>
      <p:sp>
        <p:nvSpPr>
          <p:cNvPr id="58" name="TextBox 57"/>
          <p:cNvSpPr txBox="1"/>
          <p:nvPr/>
        </p:nvSpPr>
        <p:spPr>
          <a:xfrm>
            <a:off x="5623560" y="4389120"/>
            <a:ext cx="1280160" cy="274320"/>
          </a:xfrm>
          <a:prstGeom prst="rect">
            <a:avLst/>
          </a:prstGeom>
          <a:noFill/>
        </p:spPr>
        <p:txBody>
          <a:bodyPr wrap="square" anchor="t">
            <a:spAutoFit/>
          </a:bodyPr>
          <a:lstStyle/>
          <a:p>
            <a:pPr algn="l"/>
          </a:p>
        </p:txBody>
      </p:sp>
      <p:sp>
        <p:nvSpPr>
          <p:cNvPr id="59" name="Rounded Rectangle 58"/>
          <p:cNvSpPr/>
          <p:nvPr/>
        </p:nvSpPr>
        <p:spPr>
          <a:xfrm>
            <a:off x="457200" y="5120640"/>
            <a:ext cx="11247120" cy="109728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31520" y="5212080"/>
            <a:ext cx="3657600" cy="274320"/>
          </a:xfrm>
          <a:prstGeom prst="rect">
            <a:avLst/>
          </a:prstGeom>
          <a:noFill/>
        </p:spPr>
        <p:txBody>
          <a:bodyPr wrap="square" anchor="t">
            <a:spAutoFit/>
          </a:bodyPr>
          <a:lstStyle/>
          <a:p>
            <a:pPr algn="l"/>
          </a:p>
        </p:txBody>
      </p:sp>
      <p:sp>
        <p:nvSpPr>
          <p:cNvPr id="61" name="TextBox 60"/>
          <p:cNvSpPr txBox="1"/>
          <p:nvPr/>
        </p:nvSpPr>
        <p:spPr>
          <a:xfrm>
            <a:off x="731520" y="5486400"/>
            <a:ext cx="10515600" cy="640080"/>
          </a:xfrm>
          <a:prstGeom prst="rect">
            <a:avLst/>
          </a:prstGeom>
          <a:noFill/>
        </p:spPr>
        <p:txBody>
          <a:bodyPr wrap="square" anchor="t">
            <a:spAutoFit/>
          </a:bodyPr>
          <a:lstStyle/>
          <a:p>
            <a:pPr algn="l"/>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9144000" cy="640080"/>
          </a:xfrm>
          <a:prstGeom prst="rect">
            <a:avLst/>
          </a:prstGeom>
          <a:noFill/>
        </p:spPr>
        <p:txBody>
          <a:bodyPr wrap="square" anchor="t">
            <a:spAutoFit/>
          </a:bodyPr>
          <a:lstStyle/>
          <a:p>
            <a:pPr algn="l"/>
            <a:r>
              <a:t>Training Status</a:t>
            </a:r>
          </a:p>
        </p:txBody>
      </p:sp>
      <p:sp>
        <p:nvSpPr>
          <p:cNvPr id="4" name="Rectangle 3"/>
          <p:cNvSpPr/>
          <p:nvPr/>
        </p:nvSpPr>
        <p:spPr>
          <a:xfrm>
            <a:off x="731520" y="77724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97280"/>
            <a:ext cx="10515600" cy="457200"/>
          </a:xfrm>
          <a:prstGeom prst="rect">
            <a:avLst/>
          </a:prstGeom>
          <a:noFill/>
        </p:spPr>
        <p:txBody>
          <a:bodyPr wrap="square" anchor="t">
            <a:spAutoFit/>
          </a:bodyPr>
          <a:lstStyle/>
          <a:p>
            <a:pPr algn="l"/>
            <a:r>
              <a:t>Core question: how much evidence do we have for each symbol + pattern before trading influence?</a:t>
            </a:r>
          </a:p>
        </p:txBody>
      </p:sp>
      <p:sp>
        <p:nvSpPr>
          <p:cNvPr id="6" name="TextBox 5"/>
          <p:cNvSpPr txBox="1"/>
          <p:nvPr/>
        </p:nvSpPr>
        <p:spPr>
          <a:xfrm>
            <a:off x="731520" y="1645920"/>
            <a:ext cx="5029200" cy="365760"/>
          </a:xfrm>
          <a:prstGeom prst="rect">
            <a:avLst/>
          </a:prstGeom>
          <a:noFill/>
        </p:spPr>
        <p:txBody>
          <a:bodyPr wrap="square" anchor="t">
            <a:spAutoFit/>
          </a:bodyPr>
          <a:lstStyle/>
          <a:p>
            <a:pPr algn="l"/>
            <a:r>
              <a:t>How to Read</a:t>
            </a:r>
          </a:p>
        </p:txBody>
      </p:sp>
      <p:sp>
        <p:nvSpPr>
          <p:cNvPr id="7" name="Rectangle 6"/>
          <p:cNvSpPr/>
          <p:nvPr/>
        </p:nvSpPr>
        <p:spPr>
          <a:xfrm>
            <a:off x="731520" y="2011680"/>
            <a:ext cx="1097280" cy="381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94560"/>
            <a:ext cx="4846320" cy="1828800"/>
          </a:xfrm>
          <a:prstGeom prst="rect">
            <a:avLst/>
          </a:prstGeom>
          <a:noFill/>
        </p:spPr>
        <p:txBody>
          <a:bodyPr wrap="square" anchor="t">
            <a:spAutoFit/>
          </a:bodyPr>
          <a:lstStyle/>
          <a:p>
            <a:pPr algn="l"/>
            <a:r>
              <a:t>Start with sample size + coverage.</a:t>
            </a:r>
          </a:p>
          <a:p>
            <a:r>
              <a:t>Then evaluate horizon averages.</a:t>
            </a:r>
          </a:p>
          <a:p>
            <a:r>
              <a:t>Maturity is confidence-in-evidence.</a:t>
            </a:r>
          </a:p>
        </p:txBody>
      </p:sp>
      <p:sp>
        <p:nvSpPr>
          <p:cNvPr id="9" name="TextBox 8"/>
          <p:cNvSpPr txBox="1"/>
          <p:nvPr/>
        </p:nvSpPr>
        <p:spPr>
          <a:xfrm>
            <a:off x="6400800" y="1645920"/>
            <a:ext cx="5029200" cy="365760"/>
          </a:xfrm>
          <a:prstGeom prst="rect">
            <a:avLst/>
          </a:prstGeom>
          <a:noFill/>
        </p:spPr>
        <p:txBody>
          <a:bodyPr wrap="square" anchor="t">
            <a:spAutoFit/>
          </a:bodyPr>
          <a:lstStyle/>
          <a:p>
            <a:pPr algn="l"/>
            <a:r>
              <a:t>Maturity Bands</a:t>
            </a:r>
          </a:p>
        </p:txBody>
      </p:sp>
      <p:sp>
        <p:nvSpPr>
          <p:cNvPr id="10" name="Rectangle 9"/>
          <p:cNvSpPr/>
          <p:nvPr/>
        </p:nvSpPr>
        <p:spPr>
          <a:xfrm>
            <a:off x="6400800" y="2011680"/>
            <a:ext cx="1097280" cy="38100"/>
          </a:xfrm>
          <a:prstGeom prst="rect">
            <a:avLst/>
          </a:prstGeom>
          <a:solidFill>
            <a:srgbClr val="20C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400800" y="2377440"/>
            <a:ext cx="5029200" cy="822960"/>
          </a:xfrm>
          <a:prstGeom prst="round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2423160"/>
            <a:ext cx="1371600" cy="320040"/>
          </a:xfrm>
          <a:prstGeom prst="rect">
            <a:avLst/>
          </a:prstGeom>
          <a:noFill/>
        </p:spPr>
        <p:txBody>
          <a:bodyPr wrap="square" anchor="t">
            <a:spAutoFit/>
          </a:bodyPr>
          <a:lstStyle/>
          <a:p>
            <a:pPr algn="l"/>
            <a:r>
              <a:t>TRUST READY</a:t>
            </a:r>
          </a:p>
        </p:txBody>
      </p:sp>
      <p:sp>
        <p:nvSpPr>
          <p:cNvPr id="13" name="TextBox 12"/>
          <p:cNvSpPr txBox="1"/>
          <p:nvPr/>
        </p:nvSpPr>
        <p:spPr>
          <a:xfrm>
            <a:off x="7955280" y="2423160"/>
            <a:ext cx="3337560" cy="320040"/>
          </a:xfrm>
          <a:prstGeom prst="rect">
            <a:avLst/>
          </a:prstGeom>
          <a:noFill/>
        </p:spPr>
        <p:txBody>
          <a:bodyPr wrap="square" anchor="t">
            <a:spAutoFit/>
          </a:bodyPr>
          <a:lstStyle/>
          <a:p>
            <a:pPr algn="l"/>
            <a:r>
              <a:t>High sample + coverage,</a:t>
            </a:r>
          </a:p>
          <a:p>
            <a:r>
              <a:t>consistent outcomes</a:t>
            </a:r>
          </a:p>
        </p:txBody>
      </p:sp>
      <p:sp>
        <p:nvSpPr>
          <p:cNvPr id="14" name="TextBox 13"/>
          <p:cNvSpPr txBox="1"/>
          <p:nvPr/>
        </p:nvSpPr>
        <p:spPr>
          <a:xfrm>
            <a:off x="6537960" y="2788920"/>
            <a:ext cx="4754880" cy="320040"/>
          </a:xfrm>
          <a:prstGeom prst="rect">
            <a:avLst/>
          </a:prstGeom>
          <a:noFill/>
        </p:spPr>
        <p:txBody>
          <a:bodyPr wrap="square" anchor="t">
            <a:spAutoFit/>
          </a:bodyPr>
          <a:lstStyle/>
          <a:p>
            <a:pPr algn="l"/>
            <a:r>
              <a:t>Eligible for proposal flow</a:t>
            </a:r>
          </a:p>
        </p:txBody>
      </p:sp>
      <p:sp>
        <p:nvSpPr>
          <p:cNvPr id="15" name="Rounded Rectangle 14"/>
          <p:cNvSpPr/>
          <p:nvPr/>
        </p:nvSpPr>
        <p:spPr>
          <a:xfrm>
            <a:off x="6858000" y="3383280"/>
            <a:ext cx="4572000" cy="822960"/>
          </a:xfrm>
          <a:prstGeom prst="round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95160" y="3429000"/>
            <a:ext cx="1371600" cy="320040"/>
          </a:xfrm>
          <a:prstGeom prst="rect">
            <a:avLst/>
          </a:prstGeom>
          <a:noFill/>
        </p:spPr>
        <p:txBody>
          <a:bodyPr wrap="square" anchor="t">
            <a:spAutoFit/>
          </a:bodyPr>
          <a:lstStyle/>
          <a:p>
            <a:pPr algn="l"/>
            <a:r>
              <a:t>LEARNING</a:t>
            </a:r>
          </a:p>
        </p:txBody>
      </p:sp>
      <p:sp>
        <p:nvSpPr>
          <p:cNvPr id="17" name="TextBox 16"/>
          <p:cNvSpPr txBox="1"/>
          <p:nvPr/>
        </p:nvSpPr>
        <p:spPr>
          <a:xfrm>
            <a:off x="8412480" y="3429000"/>
            <a:ext cx="2880360" cy="320040"/>
          </a:xfrm>
          <a:prstGeom prst="rect">
            <a:avLst/>
          </a:prstGeom>
          <a:noFill/>
        </p:spPr>
        <p:txBody>
          <a:bodyPr wrap="square" anchor="t">
            <a:spAutoFit/>
          </a:bodyPr>
          <a:lstStyle/>
          <a:p>
            <a:pPr algn="l"/>
            <a:r>
              <a:t>Growing evidence but</a:t>
            </a:r>
          </a:p>
          <a:p>
            <a:r>
              <a:t>not fully stable yet</a:t>
            </a:r>
          </a:p>
        </p:txBody>
      </p:sp>
      <p:sp>
        <p:nvSpPr>
          <p:cNvPr id="18" name="TextBox 17"/>
          <p:cNvSpPr txBox="1"/>
          <p:nvPr/>
        </p:nvSpPr>
        <p:spPr>
          <a:xfrm>
            <a:off x="6995160" y="3794760"/>
            <a:ext cx="4297680" cy="320040"/>
          </a:xfrm>
          <a:prstGeom prst="rect">
            <a:avLst/>
          </a:prstGeom>
          <a:noFill/>
        </p:spPr>
        <p:txBody>
          <a:bodyPr wrap="square" anchor="t">
            <a:spAutoFit/>
          </a:bodyPr>
          <a:lstStyle/>
          <a:p>
            <a:pPr algn="l"/>
            <a:r>
              <a:t>Monitor before promoting</a:t>
            </a:r>
          </a:p>
        </p:txBody>
      </p:sp>
      <p:sp>
        <p:nvSpPr>
          <p:cNvPr id="19" name="Rounded Rectangle 18"/>
          <p:cNvSpPr/>
          <p:nvPr/>
        </p:nvSpPr>
        <p:spPr>
          <a:xfrm>
            <a:off x="7315200" y="4389120"/>
            <a:ext cx="4114800" cy="822960"/>
          </a:xfrm>
          <a:prstGeom prst="round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52360" y="4434840"/>
            <a:ext cx="1371600" cy="320040"/>
          </a:xfrm>
          <a:prstGeom prst="rect">
            <a:avLst/>
          </a:prstGeom>
          <a:noFill/>
        </p:spPr>
        <p:txBody>
          <a:bodyPr wrap="square" anchor="t">
            <a:spAutoFit/>
          </a:bodyPr>
          <a:lstStyle/>
          <a:p>
            <a:pPr algn="l"/>
            <a:r>
              <a:t>EARLY</a:t>
            </a:r>
          </a:p>
        </p:txBody>
      </p:sp>
      <p:sp>
        <p:nvSpPr>
          <p:cNvPr id="21" name="TextBox 20"/>
          <p:cNvSpPr txBox="1"/>
          <p:nvPr/>
        </p:nvSpPr>
        <p:spPr>
          <a:xfrm>
            <a:off x="8869680" y="4434840"/>
            <a:ext cx="2423160" cy="320040"/>
          </a:xfrm>
          <a:prstGeom prst="rect">
            <a:avLst/>
          </a:prstGeom>
          <a:noFill/>
        </p:spPr>
        <p:txBody>
          <a:bodyPr wrap="square" anchor="t">
            <a:spAutoFit/>
          </a:bodyPr>
          <a:lstStyle/>
          <a:p>
            <a:pPr algn="l"/>
            <a:r>
              <a:t>Insufficient observations</a:t>
            </a:r>
          </a:p>
          <a:p>
            <a:r>
              <a:t>or weak coverage</a:t>
            </a:r>
          </a:p>
        </p:txBody>
      </p:sp>
      <p:sp>
        <p:nvSpPr>
          <p:cNvPr id="22" name="TextBox 21"/>
          <p:cNvSpPr txBox="1"/>
          <p:nvPr/>
        </p:nvSpPr>
        <p:spPr>
          <a:xfrm>
            <a:off x="7452360" y="4800600"/>
            <a:ext cx="3840480" cy="320040"/>
          </a:xfrm>
          <a:prstGeom prst="rect">
            <a:avLst/>
          </a:prstGeom>
          <a:noFill/>
        </p:spPr>
        <p:txBody>
          <a:bodyPr wrap="square" anchor="t">
            <a:spAutoFit/>
          </a:bodyPr>
          <a:lstStyle/>
          <a:p>
            <a:pPr algn="l"/>
            <a:r>
              <a:t>Research only</a:t>
            </a:r>
          </a:p>
        </p:txBody>
      </p:sp>
      <p:sp>
        <p:nvSpPr>
          <p:cNvPr id="23" name="Rounded Rectangle 22"/>
          <p:cNvSpPr/>
          <p:nvPr/>
        </p:nvSpPr>
        <p:spPr>
          <a:xfrm>
            <a:off x="731520" y="5486400"/>
            <a:ext cx="10698480" cy="91440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5532120"/>
            <a:ext cx="2743200" cy="365760"/>
          </a:xfrm>
          <a:prstGeom prst="rect">
            <a:avLst/>
          </a:prstGeom>
          <a:noFill/>
        </p:spPr>
        <p:txBody>
          <a:bodyPr wrap="square" anchor="t">
            <a:spAutoFit/>
          </a:bodyPr>
          <a:lstStyle/>
          <a:p>
            <a:pPr algn="l"/>
            <a:r>
              <a:t>Tracked horizons:</a:t>
            </a:r>
          </a:p>
        </p:txBody>
      </p:sp>
      <p:sp>
        <p:nvSpPr>
          <p:cNvPr id="25" name="Rounded Rectangle 24"/>
          <p:cNvSpPr/>
          <p:nvPr/>
        </p:nvSpPr>
        <p:spPr>
          <a:xfrm>
            <a:off x="1097280" y="5897880"/>
            <a:ext cx="1463040" cy="36576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88720" y="5916168"/>
            <a:ext cx="1280160" cy="320040"/>
          </a:xfrm>
          <a:prstGeom prst="rect">
            <a:avLst/>
          </a:prstGeom>
          <a:noFill/>
        </p:spPr>
        <p:txBody>
          <a:bodyPr wrap="square" anchor="ctr">
            <a:spAutoFit/>
          </a:bodyPr>
          <a:lstStyle/>
          <a:p>
            <a:pPr algn="ctr"/>
            <a:r>
              <a:t>H1</a:t>
            </a:r>
          </a:p>
        </p:txBody>
      </p:sp>
      <p:sp>
        <p:nvSpPr>
          <p:cNvPr id="27" name="Rounded Rectangle 26"/>
          <p:cNvSpPr/>
          <p:nvPr/>
        </p:nvSpPr>
        <p:spPr>
          <a:xfrm>
            <a:off x="3108960" y="5897880"/>
            <a:ext cx="1463040" cy="36576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00400" y="5916168"/>
            <a:ext cx="1280160" cy="320040"/>
          </a:xfrm>
          <a:prstGeom prst="rect">
            <a:avLst/>
          </a:prstGeom>
          <a:noFill/>
        </p:spPr>
        <p:txBody>
          <a:bodyPr wrap="square" anchor="ctr">
            <a:spAutoFit/>
          </a:bodyPr>
          <a:lstStyle/>
          <a:p>
            <a:pPr algn="ctr"/>
            <a:r>
              <a:t>H3</a:t>
            </a:r>
          </a:p>
        </p:txBody>
      </p:sp>
      <p:sp>
        <p:nvSpPr>
          <p:cNvPr id="29" name="Rounded Rectangle 28"/>
          <p:cNvSpPr/>
          <p:nvPr/>
        </p:nvSpPr>
        <p:spPr>
          <a:xfrm>
            <a:off x="5120640" y="5897880"/>
            <a:ext cx="1463040" cy="36576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212080" y="5916168"/>
            <a:ext cx="1280160" cy="320040"/>
          </a:xfrm>
          <a:prstGeom prst="rect">
            <a:avLst/>
          </a:prstGeom>
          <a:noFill/>
        </p:spPr>
        <p:txBody>
          <a:bodyPr wrap="square" anchor="ctr">
            <a:spAutoFit/>
          </a:bodyPr>
          <a:lstStyle/>
          <a:p>
            <a:pPr algn="ctr"/>
            <a:r>
              <a:t>H5</a:t>
            </a:r>
          </a:p>
        </p:txBody>
      </p:sp>
      <p:sp>
        <p:nvSpPr>
          <p:cNvPr id="31" name="Rounded Rectangle 30"/>
          <p:cNvSpPr/>
          <p:nvPr/>
        </p:nvSpPr>
        <p:spPr>
          <a:xfrm>
            <a:off x="7132320" y="5897880"/>
            <a:ext cx="1463040" cy="36576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23760" y="5916168"/>
            <a:ext cx="1280160" cy="320040"/>
          </a:xfrm>
          <a:prstGeom prst="rect">
            <a:avLst/>
          </a:prstGeom>
          <a:noFill/>
        </p:spPr>
        <p:txBody>
          <a:bodyPr wrap="square" anchor="ctr">
            <a:spAutoFit/>
          </a:bodyPr>
          <a:lstStyle/>
          <a:p>
            <a:pPr algn="ctr"/>
            <a:r>
              <a:t>H10</a:t>
            </a:r>
          </a:p>
        </p:txBody>
      </p:sp>
      <p:sp>
        <p:nvSpPr>
          <p:cNvPr id="33" name="Rounded Rectangle 32"/>
          <p:cNvSpPr/>
          <p:nvPr/>
        </p:nvSpPr>
        <p:spPr>
          <a:xfrm>
            <a:off x="9144000" y="5897880"/>
            <a:ext cx="1463040" cy="36576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235440" y="5916168"/>
            <a:ext cx="1280160" cy="320040"/>
          </a:xfrm>
          <a:prstGeom prst="rect">
            <a:avLst/>
          </a:prstGeom>
          <a:noFill/>
        </p:spPr>
        <p:txBody>
          <a:bodyPr wrap="square" anchor="ctr">
            <a:spAutoFit/>
          </a:bodyPr>
          <a:lstStyle/>
          <a:p>
            <a:pPr algn="ctr"/>
            <a:r>
              <a:t>H20</a:t>
            </a:r>
          </a:p>
        </p:txBody>
      </p:sp>
      <p:sp>
        <p:nvSpPr>
          <p:cNvPr id="35" name="TextBox 34"/>
          <p:cNvSpPr txBox="1"/>
          <p:nvPr/>
        </p:nvSpPr>
        <p:spPr>
          <a:xfrm>
            <a:off x="731520" y="4206240"/>
            <a:ext cx="5029200" cy="365760"/>
          </a:xfrm>
          <a:prstGeom prst="rect">
            <a:avLst/>
          </a:prstGeom>
          <a:noFill/>
        </p:spPr>
        <p:txBody>
          <a:bodyPr wrap="square" anchor="t">
            <a:spAutoFit/>
          </a:bodyPr>
          <a:lstStyle/>
          <a:p>
            <a:pPr algn="l"/>
            <a:r>
              <a:t>Example Interpretation</a:t>
            </a:r>
          </a:p>
        </p:txBody>
      </p:sp>
      <p:sp>
        <p:nvSpPr>
          <p:cNvPr id="36" name="Rounded Rectangle 35"/>
          <p:cNvSpPr/>
          <p:nvPr/>
        </p:nvSpPr>
        <p:spPr>
          <a:xfrm>
            <a:off x="731520" y="4572000"/>
            <a:ext cx="1234440" cy="365760"/>
          </a:xfrm>
          <a:prstGeom prst="round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7240" y="4590288"/>
            <a:ext cx="1143000" cy="320040"/>
          </a:xfrm>
          <a:prstGeom prst="rect">
            <a:avLst/>
          </a:prstGeom>
          <a:noFill/>
        </p:spPr>
        <p:txBody>
          <a:bodyPr wrap="square" anchor="ctr">
            <a:spAutoFit/>
          </a:bodyPr>
          <a:lstStyle/>
          <a:p>
            <a:pPr algn="ctr"/>
            <a:r>
              <a:t>Avg H5 = +0.8%</a:t>
            </a:r>
          </a:p>
        </p:txBody>
      </p:sp>
      <p:sp>
        <p:nvSpPr>
          <p:cNvPr id="38" name="TextBox 37"/>
          <p:cNvSpPr txBox="1"/>
          <p:nvPr/>
        </p:nvSpPr>
        <p:spPr>
          <a:xfrm>
            <a:off x="1965960" y="4572000"/>
            <a:ext cx="182880" cy="365760"/>
          </a:xfrm>
          <a:prstGeom prst="rect">
            <a:avLst/>
          </a:prstGeom>
          <a:noFill/>
        </p:spPr>
        <p:txBody>
          <a:bodyPr wrap="square" anchor="ctr">
            <a:spAutoFit/>
          </a:bodyPr>
          <a:lstStyle/>
          <a:p>
            <a:pPr algn="ctr"/>
          </a:p>
        </p:txBody>
      </p:sp>
      <p:sp>
        <p:nvSpPr>
          <p:cNvPr id="39" name="Rounded Rectangle 38"/>
          <p:cNvSpPr/>
          <p:nvPr/>
        </p:nvSpPr>
        <p:spPr>
          <a:xfrm>
            <a:off x="2103120" y="4572000"/>
            <a:ext cx="1234440" cy="365760"/>
          </a:xfrm>
          <a:prstGeom prst="roundRect">
            <a:avLst/>
          </a:prstGeom>
          <a:solidFill>
            <a:srgbClr val="7D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48840" y="4590288"/>
            <a:ext cx="1143000" cy="320040"/>
          </a:xfrm>
          <a:prstGeom prst="rect">
            <a:avLst/>
          </a:prstGeom>
          <a:noFill/>
        </p:spPr>
        <p:txBody>
          <a:bodyPr wrap="square" anchor="ctr">
            <a:spAutoFit/>
          </a:bodyPr>
          <a:lstStyle/>
          <a:p>
            <a:pPr algn="ctr"/>
            <a:r>
              <a:t>Coverage = 86%</a:t>
            </a:r>
          </a:p>
        </p:txBody>
      </p:sp>
      <p:sp>
        <p:nvSpPr>
          <p:cNvPr id="41" name="TextBox 40"/>
          <p:cNvSpPr txBox="1"/>
          <p:nvPr/>
        </p:nvSpPr>
        <p:spPr>
          <a:xfrm>
            <a:off x="3337560" y="4572000"/>
            <a:ext cx="182880" cy="365760"/>
          </a:xfrm>
          <a:prstGeom prst="rect">
            <a:avLst/>
          </a:prstGeom>
          <a:noFill/>
        </p:spPr>
        <p:txBody>
          <a:bodyPr wrap="square" anchor="ctr">
            <a:spAutoFit/>
          </a:bodyPr>
          <a:lstStyle/>
          <a:p>
            <a:pPr algn="ctr"/>
          </a:p>
        </p:txBody>
      </p:sp>
      <p:sp>
        <p:nvSpPr>
          <p:cNvPr id="42" name="Rounded Rectangle 41"/>
          <p:cNvSpPr/>
          <p:nvPr/>
        </p:nvSpPr>
        <p:spPr>
          <a:xfrm>
            <a:off x="3474720" y="4572000"/>
            <a:ext cx="1234440" cy="365760"/>
          </a:xfrm>
          <a:prstGeom prst="roundRect">
            <a:avLst/>
          </a:prstGeom>
          <a:solidFill>
            <a:srgbClr val="0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520440" y="4590288"/>
            <a:ext cx="1143000" cy="320040"/>
          </a:xfrm>
          <a:prstGeom prst="rect">
            <a:avLst/>
          </a:prstGeom>
          <a:noFill/>
        </p:spPr>
        <p:txBody>
          <a:bodyPr wrap="square" anchor="ctr">
            <a:spAutoFit/>
          </a:bodyPr>
          <a:lstStyle/>
          <a:p>
            <a:pPr algn="ctr"/>
            <a:r>
              <a:t>Maturity = 78</a:t>
            </a:r>
          </a:p>
        </p:txBody>
      </p:sp>
      <p:sp>
        <p:nvSpPr>
          <p:cNvPr id="44" name="TextBox 43"/>
          <p:cNvSpPr txBox="1"/>
          <p:nvPr/>
        </p:nvSpPr>
        <p:spPr>
          <a:xfrm>
            <a:off x="4709160" y="4572000"/>
            <a:ext cx="182880" cy="365760"/>
          </a:xfrm>
          <a:prstGeom prst="rect">
            <a:avLst/>
          </a:prstGeom>
          <a:noFill/>
        </p:spPr>
        <p:txBody>
          <a:bodyPr wrap="square" anchor="ctr">
            <a:spAutoFit/>
          </a:bodyPr>
          <a:lstStyle/>
          <a:p>
            <a:pPr algn="ctr"/>
          </a:p>
        </p:txBody>
      </p:sp>
      <p:sp>
        <p:nvSpPr>
          <p:cNvPr id="45" name="Rounded Rectangle 44"/>
          <p:cNvSpPr/>
          <p:nvPr/>
        </p:nvSpPr>
        <p:spPr>
          <a:xfrm>
            <a:off x="4846320" y="4572000"/>
            <a:ext cx="1234440" cy="365760"/>
          </a:xfrm>
          <a:prstGeom prst="roundRect">
            <a:avLst/>
          </a:prstGeom>
          <a:solidFill>
            <a:srgbClr val="0D5C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892040" y="4590288"/>
            <a:ext cx="1143000" cy="320040"/>
          </a:xfrm>
          <a:prstGeom prst="rect">
            <a:avLst/>
          </a:prstGeom>
          <a:noFill/>
        </p:spPr>
        <p:txBody>
          <a:bodyPr wrap="square" anchor="ctr">
            <a:spAutoFit/>
          </a:bodyPr>
          <a:lstStyle/>
          <a:p>
            <a:pPr algn="ctr"/>
            <a:r>
              <a:t>AI note: Ask MIP can translate rows into plain-language confidence.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9144000" cy="640080"/>
          </a:xfrm>
          <a:prstGeom prst="rect">
            <a:avLst/>
          </a:prstGeom>
          <a:noFill/>
        </p:spPr>
        <p:txBody>
          <a:bodyPr wrap="square" anchor="t">
            <a:spAutoFit/>
          </a:bodyPr>
          <a:lstStyle/>
          <a:p>
            <a:pPr algn="l"/>
            <a:r>
              <a:t>Market Timeline</a:t>
            </a:r>
          </a:p>
        </p:txBody>
      </p:sp>
      <p:sp>
        <p:nvSpPr>
          <p:cNvPr id="4" name="Rectangle 3"/>
          <p:cNvSpPr/>
          <p:nvPr/>
        </p:nvSpPr>
        <p:spPr>
          <a:xfrm>
            <a:off x="731520" y="77724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97280"/>
            <a:ext cx="10058400" cy="365760"/>
          </a:xfrm>
          <a:prstGeom prst="rect">
            <a:avLst/>
          </a:prstGeom>
          <a:noFill/>
        </p:spPr>
        <p:txBody>
          <a:bodyPr wrap="square" anchor="t">
            <a:spAutoFit/>
          </a:bodyPr>
          <a:lstStyle/>
          <a:p>
            <a:pPr algn="l"/>
            <a:r>
              <a:t>Symbol-level observability from signal to proposal to execution, with narrative context.</a:t>
            </a:r>
          </a:p>
        </p:txBody>
      </p:sp>
      <p:sp>
        <p:nvSpPr>
          <p:cNvPr id="6" name="TextBox 5"/>
          <p:cNvSpPr txBox="1"/>
          <p:nvPr/>
        </p:nvSpPr>
        <p:spPr>
          <a:xfrm>
            <a:off x="457200" y="1554480"/>
            <a:ext cx="5486400" cy="365760"/>
          </a:xfrm>
          <a:prstGeom prst="rect">
            <a:avLst/>
          </a:prstGeom>
          <a:noFill/>
        </p:spPr>
        <p:txBody>
          <a:bodyPr wrap="square" anchor="t">
            <a:spAutoFit/>
          </a:bodyPr>
          <a:lstStyle/>
          <a:p>
            <a:pPr algn="l"/>
            <a:r>
              <a:t>Timeline Funnel</a:t>
            </a:r>
          </a:p>
        </p:txBody>
      </p:sp>
      <p:sp>
        <p:nvSpPr>
          <p:cNvPr id="7" name="Rounded Rectangle 6"/>
          <p:cNvSpPr/>
          <p:nvPr/>
        </p:nvSpPr>
        <p:spPr>
          <a:xfrm>
            <a:off x="457200" y="2011680"/>
            <a:ext cx="2286000" cy="914400"/>
          </a:xfrm>
          <a:prstGeom prst="round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084832"/>
            <a:ext cx="2103120" cy="365760"/>
          </a:xfrm>
          <a:prstGeom prst="rect">
            <a:avLst/>
          </a:prstGeom>
          <a:noFill/>
        </p:spPr>
        <p:txBody>
          <a:bodyPr wrap="square" anchor="t">
            <a:spAutoFit/>
          </a:bodyPr>
          <a:lstStyle/>
          <a:p>
            <a:pPr algn="ctr"/>
            <a:r>
              <a:t>Signals</a:t>
            </a:r>
          </a:p>
        </p:txBody>
      </p:sp>
      <p:sp>
        <p:nvSpPr>
          <p:cNvPr id="9" name="TextBox 8"/>
          <p:cNvSpPr txBox="1"/>
          <p:nvPr/>
        </p:nvSpPr>
        <p:spPr>
          <a:xfrm>
            <a:off x="548640" y="2468880"/>
            <a:ext cx="2103120" cy="365760"/>
          </a:xfrm>
          <a:prstGeom prst="rect">
            <a:avLst/>
          </a:prstGeom>
          <a:noFill/>
        </p:spPr>
        <p:txBody>
          <a:bodyPr wrap="square" anchor="t">
            <a:spAutoFit/>
          </a:bodyPr>
          <a:lstStyle/>
          <a:p>
            <a:pPr algn="ctr"/>
            <a:r>
              <a:t>Detections in selected window</a:t>
            </a:r>
          </a:p>
        </p:txBody>
      </p:sp>
      <p:sp>
        <p:nvSpPr>
          <p:cNvPr id="10" name="Right Arrow 9"/>
          <p:cNvSpPr/>
          <p:nvPr/>
        </p:nvSpPr>
        <p:spPr>
          <a:xfrm>
            <a:off x="2834640" y="2286000"/>
            <a:ext cx="411480" cy="320040"/>
          </a:xfrm>
          <a:prstGeom prst="rightArrow">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337560" y="2011680"/>
            <a:ext cx="2286000" cy="914400"/>
          </a:xfrm>
          <a:prstGeom prst="roundRect">
            <a:avLst/>
          </a:prstGeom>
          <a:solidFill>
            <a:srgbClr val="7D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29000" y="2084832"/>
            <a:ext cx="2103120" cy="365760"/>
          </a:xfrm>
          <a:prstGeom prst="rect">
            <a:avLst/>
          </a:prstGeom>
          <a:noFill/>
        </p:spPr>
        <p:txBody>
          <a:bodyPr wrap="square" anchor="t">
            <a:spAutoFit/>
          </a:bodyPr>
          <a:lstStyle/>
          <a:p>
            <a:pPr algn="ctr"/>
            <a:r>
              <a:t>Proposals</a:t>
            </a:r>
          </a:p>
        </p:txBody>
      </p:sp>
      <p:sp>
        <p:nvSpPr>
          <p:cNvPr id="13" name="TextBox 12"/>
          <p:cNvSpPr txBox="1"/>
          <p:nvPr/>
        </p:nvSpPr>
        <p:spPr>
          <a:xfrm>
            <a:off x="3429000" y="2468880"/>
            <a:ext cx="2103120" cy="365760"/>
          </a:xfrm>
          <a:prstGeom prst="rect">
            <a:avLst/>
          </a:prstGeom>
          <a:noFill/>
        </p:spPr>
        <p:txBody>
          <a:bodyPr wrap="square" anchor="t">
            <a:spAutoFit/>
          </a:bodyPr>
          <a:lstStyle/>
          <a:p>
            <a:pPr algn="ctr"/>
            <a:r>
              <a:t>Signals passing trust/risk filters</a:t>
            </a:r>
          </a:p>
        </p:txBody>
      </p:sp>
      <p:sp>
        <p:nvSpPr>
          <p:cNvPr id="14" name="Right Arrow 13"/>
          <p:cNvSpPr/>
          <p:nvPr/>
        </p:nvSpPr>
        <p:spPr>
          <a:xfrm>
            <a:off x="5715000" y="2286000"/>
            <a:ext cx="411480" cy="320040"/>
          </a:xfrm>
          <a:prstGeom prst="rightArrow">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17920" y="2011680"/>
            <a:ext cx="2286000" cy="914400"/>
          </a:xfrm>
          <a:prstGeom prst="roundRect">
            <a:avLst/>
          </a:prstGeom>
          <a:solidFill>
            <a:srgbClr val="0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0" y="2084832"/>
            <a:ext cx="2103120" cy="365760"/>
          </a:xfrm>
          <a:prstGeom prst="rect">
            <a:avLst/>
          </a:prstGeom>
          <a:noFill/>
        </p:spPr>
        <p:txBody>
          <a:bodyPr wrap="square" anchor="t">
            <a:spAutoFit/>
          </a:bodyPr>
          <a:lstStyle/>
          <a:p>
            <a:pPr algn="ctr"/>
            <a:r>
              <a:t>Trades</a:t>
            </a:r>
          </a:p>
        </p:txBody>
      </p:sp>
      <p:sp>
        <p:nvSpPr>
          <p:cNvPr id="17" name="TextBox 16"/>
          <p:cNvSpPr txBox="1"/>
          <p:nvPr/>
        </p:nvSpPr>
        <p:spPr>
          <a:xfrm>
            <a:off x="6309360" y="2468880"/>
            <a:ext cx="2103120" cy="365760"/>
          </a:xfrm>
          <a:prstGeom prst="rect">
            <a:avLst/>
          </a:prstGeom>
          <a:noFill/>
        </p:spPr>
        <p:txBody>
          <a:bodyPr wrap="square" anchor="t">
            <a:spAutoFit/>
          </a:bodyPr>
          <a:lstStyle/>
          <a:p>
            <a:pPr algn="ctr"/>
            <a:r>
              <a:t>Executed actions by portfolio</a:t>
            </a:r>
          </a:p>
        </p:txBody>
      </p:sp>
      <p:sp>
        <p:nvSpPr>
          <p:cNvPr id="18" name="Right Arrow 17"/>
          <p:cNvSpPr/>
          <p:nvPr/>
        </p:nvSpPr>
        <p:spPr>
          <a:xfrm>
            <a:off x="8595360" y="2286000"/>
            <a:ext cx="411480" cy="320040"/>
          </a:xfrm>
          <a:prstGeom prst="rightArrow">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098280" y="2011680"/>
            <a:ext cx="2286000" cy="914400"/>
          </a:xfrm>
          <a:prstGeom prst="roundRect">
            <a:avLst/>
          </a:prstGeom>
          <a:solidFill>
            <a:srgbClr val="0D5C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89720" y="2084832"/>
            <a:ext cx="2103120" cy="365760"/>
          </a:xfrm>
          <a:prstGeom prst="rect">
            <a:avLst/>
          </a:prstGeom>
          <a:noFill/>
        </p:spPr>
        <p:txBody>
          <a:bodyPr wrap="square" anchor="t">
            <a:spAutoFit/>
          </a:bodyPr>
          <a:lstStyle/>
          <a:p>
            <a:pPr algn="ctr"/>
            <a:r>
              <a:t>Narrative + Chain</a:t>
            </a:r>
          </a:p>
        </p:txBody>
      </p:sp>
      <p:sp>
        <p:nvSpPr>
          <p:cNvPr id="21" name="TextBox 20"/>
          <p:cNvSpPr txBox="1"/>
          <p:nvPr/>
        </p:nvSpPr>
        <p:spPr>
          <a:xfrm>
            <a:off x="9189720" y="2468880"/>
            <a:ext cx="2103120" cy="365760"/>
          </a:xfrm>
          <a:prstGeom prst="rect">
            <a:avLst/>
          </a:prstGeom>
          <a:noFill/>
        </p:spPr>
        <p:txBody>
          <a:bodyPr wrap="square" anchor="t">
            <a:spAutoFit/>
          </a:bodyPr>
          <a:lstStyle/>
          <a:p>
            <a:pPr algn="ctr"/>
            <a:r>
              <a:t>Decision narrative explains why flow advanced or stalled</a:t>
            </a:r>
          </a:p>
        </p:txBody>
      </p:sp>
      <p:sp>
        <p:nvSpPr>
          <p:cNvPr id="22" name="Rectangle 21"/>
          <p:cNvSpPr/>
          <p:nvPr/>
        </p:nvSpPr>
        <p:spPr>
          <a:xfrm>
            <a:off x="457200" y="3017520"/>
            <a:ext cx="11247120" cy="12700"/>
          </a:xfrm>
          <a:prstGeom prst="rect">
            <a:avLst/>
          </a:prstGeom>
          <a:solidFill>
            <a:srgbClr val="E9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3154680"/>
            <a:ext cx="10972800" cy="365760"/>
          </a:xfrm>
          <a:prstGeom prst="rect">
            <a:avLst/>
          </a:prstGeom>
          <a:noFill/>
        </p:spPr>
        <p:txBody>
          <a:bodyPr wrap="square" anchor="t">
            <a:spAutoFit/>
          </a:bodyPr>
          <a:lstStyle/>
          <a:p>
            <a:pPr algn="l"/>
            <a:r>
              <a:t>Tile states: executed, proposed, signal-only, inactive</a:t>
            </a:r>
          </a:p>
        </p:txBody>
      </p:sp>
      <p:sp>
        <p:nvSpPr>
          <p:cNvPr id="24" name="Rounded Rectangle 23"/>
          <p:cNvSpPr/>
          <p:nvPr/>
        </p:nvSpPr>
        <p:spPr>
          <a:xfrm>
            <a:off x="457200" y="3566160"/>
            <a:ext cx="3474720" cy="1143000"/>
          </a:xfrm>
          <a:prstGeom prst="round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3639312"/>
            <a:ext cx="3108960" cy="320040"/>
          </a:xfrm>
          <a:prstGeom prst="rect">
            <a:avLst/>
          </a:prstGeom>
          <a:noFill/>
        </p:spPr>
        <p:txBody>
          <a:bodyPr wrap="square" anchor="t">
            <a:spAutoFit/>
          </a:bodyPr>
          <a:lstStyle/>
          <a:p>
            <a:pPr algn="l"/>
            <a:r>
              <a:t>Cross-links: Live Activity, AI Agent Decisions, Runs</a:t>
            </a:r>
          </a:p>
        </p:txBody>
      </p:sp>
      <p:sp>
        <p:nvSpPr>
          <p:cNvPr id="26" name="TextBox 25"/>
          <p:cNvSpPr txBox="1"/>
          <p:nvPr/>
        </p:nvSpPr>
        <p:spPr>
          <a:xfrm>
            <a:off x="640080" y="3931920"/>
            <a:ext cx="3108960" cy="685800"/>
          </a:xfrm>
          <a:prstGeom prst="rect">
            <a:avLst/>
          </a:prstGeom>
          <a:noFill/>
        </p:spPr>
        <p:txBody>
          <a:bodyPr wrap="square" anchor="t">
            <a:spAutoFit/>
          </a:bodyPr>
          <a:lstStyle/>
          <a:p>
            <a:pPr algn="l"/>
          </a:p>
        </p:txBody>
      </p:sp>
      <p:sp>
        <p:nvSpPr>
          <p:cNvPr id="27" name="Rounded Rectangle 26"/>
          <p:cNvSpPr/>
          <p:nvPr/>
        </p:nvSpPr>
        <p:spPr>
          <a:xfrm>
            <a:off x="4297680" y="3566160"/>
            <a:ext cx="3474720" cy="1143000"/>
          </a:xfrm>
          <a:prstGeom prst="round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80560" y="3639312"/>
            <a:ext cx="3108960" cy="320040"/>
          </a:xfrm>
          <a:prstGeom prst="rect">
            <a:avLst/>
          </a:prstGeom>
          <a:noFill/>
        </p:spPr>
        <p:txBody>
          <a:bodyPr wrap="square" anchor="t">
            <a:spAutoFit/>
          </a:bodyPr>
          <a:lstStyle/>
          <a:p>
            <a:pPr algn="l"/>
            <a:r>
              <a:t>Concrete Example</a:t>
            </a:r>
          </a:p>
        </p:txBody>
      </p:sp>
      <p:sp>
        <p:nvSpPr>
          <p:cNvPr id="29" name="TextBox 28"/>
          <p:cNvSpPr txBox="1"/>
          <p:nvPr/>
        </p:nvSpPr>
        <p:spPr>
          <a:xfrm>
            <a:off x="4480560" y="3931920"/>
            <a:ext cx="3108960" cy="685800"/>
          </a:xfrm>
          <a:prstGeom prst="rect">
            <a:avLst/>
          </a:prstGeom>
          <a:noFill/>
        </p:spPr>
        <p:txBody>
          <a:bodyPr wrap="square" anchor="t">
            <a:spAutoFit/>
          </a:bodyPr>
          <a:lstStyle/>
          <a:p>
            <a:pPr algn="l"/>
            <a:r>
              <a:t>Symbol</a:t>
            </a:r>
          </a:p>
        </p:txBody>
      </p:sp>
      <p:sp>
        <p:nvSpPr>
          <p:cNvPr id="30" name="Rounded Rectangle 29"/>
          <p:cNvSpPr/>
          <p:nvPr/>
        </p:nvSpPr>
        <p:spPr>
          <a:xfrm>
            <a:off x="8138160" y="3566160"/>
            <a:ext cx="3474720" cy="1143000"/>
          </a:xfrm>
          <a:prstGeom prst="round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t>AAPL</a:t>
            </a:r>
            <a:endParaRPr/>
          </a:p>
        </p:txBody>
      </p:sp>
      <p:sp>
        <p:nvSpPr>
          <p:cNvPr id="31" name="TextBox 30"/>
          <p:cNvSpPr txBox="1"/>
          <p:nvPr/>
        </p:nvSpPr>
        <p:spPr>
          <a:xfrm>
            <a:off x="8321040" y="3639312"/>
            <a:ext cx="3108960" cy="320040"/>
          </a:xfrm>
          <a:prstGeom prst="rect">
            <a:avLst/>
          </a:prstGeom>
          <a:noFill/>
        </p:spPr>
        <p:txBody>
          <a:bodyPr wrap="square" anchor="t">
            <a:spAutoFit/>
          </a:bodyPr>
          <a:lstStyle/>
          <a:p>
            <a:pPr algn="l"/>
            <a:r>
              <a:t>Signals</a:t>
            </a:r>
          </a:p>
        </p:txBody>
      </p:sp>
      <p:sp>
        <p:nvSpPr>
          <p:cNvPr id="32" name="TextBox 31"/>
          <p:cNvSpPr txBox="1"/>
          <p:nvPr/>
        </p:nvSpPr>
        <p:spPr>
          <a:xfrm>
            <a:off x="8321040" y="3931920"/>
            <a:ext cx="3108960" cy="685800"/>
          </a:xfrm>
          <a:prstGeom prst="rect">
            <a:avLst/>
          </a:prstGeom>
          <a:noFill/>
        </p:spPr>
        <p:txBody>
          <a:bodyPr wrap="square" anchor="t">
            <a:spAutoFit/>
          </a:bodyPr>
          <a:lstStyle/>
          <a:p>
            <a:pPr algn="l"/>
            <a:r>
              <a:t>12</a:t>
            </a:r>
          </a:p>
        </p:txBody>
      </p:sp>
      <p:sp>
        <p:nvSpPr>
          <p:cNvPr id="33" name="Rounded Rectangle 32"/>
          <p:cNvSpPr/>
          <p:nvPr/>
        </p:nvSpPr>
        <p:spPr>
          <a:xfrm>
            <a:off x="457200" y="4937760"/>
            <a:ext cx="11247120" cy="164592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t>Proposals</a:t>
            </a:r>
            <a:endParaRPr/>
          </a:p>
        </p:txBody>
      </p:sp>
      <p:sp>
        <p:nvSpPr>
          <p:cNvPr id="34" name="TextBox 33"/>
          <p:cNvSpPr txBox="1"/>
          <p:nvPr/>
        </p:nvSpPr>
        <p:spPr>
          <a:xfrm>
            <a:off x="640080" y="5029200"/>
            <a:ext cx="2743200" cy="320040"/>
          </a:xfrm>
          <a:prstGeom prst="rect">
            <a:avLst/>
          </a:prstGeom>
          <a:noFill/>
        </p:spPr>
        <p:txBody>
          <a:bodyPr wrap="square" anchor="t">
            <a:spAutoFit/>
          </a:bodyPr>
          <a:lstStyle/>
          <a:p>
            <a:pPr algn="l"/>
            <a:r>
              <a:t>3</a:t>
            </a:r>
          </a:p>
        </p:txBody>
      </p:sp>
      <p:sp>
        <p:nvSpPr>
          <p:cNvPr id="35" name="TextBox 34"/>
          <p:cNvSpPr txBox="1"/>
          <p:nvPr/>
        </p:nvSpPr>
        <p:spPr>
          <a:xfrm>
            <a:off x="640080" y="5394960"/>
            <a:ext cx="1371600" cy="228600"/>
          </a:xfrm>
          <a:prstGeom prst="rect">
            <a:avLst/>
          </a:prstGeom>
          <a:noFill/>
        </p:spPr>
        <p:txBody>
          <a:bodyPr wrap="square" anchor="t">
            <a:spAutoFit/>
          </a:bodyPr>
          <a:lstStyle/>
          <a:p>
            <a:pPr algn="l"/>
            <a:r>
              <a:t>Trades</a:t>
            </a:r>
          </a:p>
        </p:txBody>
      </p:sp>
      <p:sp>
        <p:nvSpPr>
          <p:cNvPr id="36" name="TextBox 35"/>
          <p:cNvSpPr txBox="1"/>
          <p:nvPr/>
        </p:nvSpPr>
        <p:spPr>
          <a:xfrm>
            <a:off x="640080" y="5623560"/>
            <a:ext cx="1371600" cy="274320"/>
          </a:xfrm>
          <a:prstGeom prst="rect">
            <a:avLst/>
          </a:prstGeom>
          <a:noFill/>
        </p:spPr>
        <p:txBody>
          <a:bodyPr wrap="square" anchor="t">
            <a:spAutoFit/>
          </a:bodyPr>
          <a:lstStyle/>
          <a:p>
            <a:pPr algn="l"/>
            <a:r>
              <a:t>1</a:t>
            </a:r>
          </a:p>
        </p:txBody>
      </p:sp>
      <p:sp>
        <p:nvSpPr>
          <p:cNvPr id="37" name="TextBox 36"/>
          <p:cNvSpPr txBox="1"/>
          <p:nvPr/>
        </p:nvSpPr>
        <p:spPr>
          <a:xfrm>
            <a:off x="2194560" y="5394960"/>
            <a:ext cx="1371600" cy="228600"/>
          </a:xfrm>
          <a:prstGeom prst="rect">
            <a:avLst/>
          </a:prstGeom>
          <a:noFill/>
        </p:spPr>
        <p:txBody>
          <a:bodyPr wrap="square" anchor="t">
            <a:spAutoFit/>
          </a:bodyPr>
          <a:lstStyle/>
          <a:p>
            <a:pPr algn="l"/>
            <a:r>
              <a:t>Trust</a:t>
            </a:r>
          </a:p>
        </p:txBody>
      </p:sp>
      <p:sp>
        <p:nvSpPr>
          <p:cNvPr id="38" name="TextBox 37"/>
          <p:cNvSpPr txBox="1"/>
          <p:nvPr/>
        </p:nvSpPr>
        <p:spPr>
          <a:xfrm>
            <a:off x="2194560" y="5623560"/>
            <a:ext cx="1371600" cy="274320"/>
          </a:xfrm>
          <a:prstGeom prst="rect">
            <a:avLst/>
          </a:prstGeom>
          <a:noFill/>
        </p:spPr>
        <p:txBody>
          <a:bodyPr wrap="square" anchor="t">
            <a:spAutoFit/>
          </a:bodyPr>
          <a:lstStyle/>
          <a:p>
            <a:pPr algn="l"/>
            <a:r>
              <a:t>TRUSTED</a:t>
            </a:r>
          </a:p>
        </p:txBody>
      </p:sp>
      <p:sp>
        <p:nvSpPr>
          <p:cNvPr id="39" name="TextBox 38"/>
          <p:cNvSpPr txBox="1"/>
          <p:nvPr/>
        </p:nvSpPr>
        <p:spPr>
          <a:xfrm>
            <a:off x="3749039" y="5394960"/>
            <a:ext cx="1371600" cy="228600"/>
          </a:xfrm>
          <a:prstGeom prst="rect">
            <a:avLst/>
          </a:prstGeom>
          <a:noFill/>
        </p:spPr>
        <p:txBody>
          <a:bodyPr wrap="square" anchor="t">
            <a:spAutoFit/>
          </a:bodyPr>
          <a:lstStyle/>
          <a:p>
            <a:pPr algn="l"/>
            <a:r>
              <a:t>Open Status</a:t>
            </a:r>
          </a:p>
        </p:txBody>
      </p:sp>
      <p:sp>
        <p:nvSpPr>
          <p:cNvPr id="40" name="TextBox 39"/>
          <p:cNvSpPr txBox="1"/>
          <p:nvPr/>
        </p:nvSpPr>
        <p:spPr>
          <a:xfrm>
            <a:off x="3749039" y="5623560"/>
            <a:ext cx="1371600" cy="274320"/>
          </a:xfrm>
          <a:prstGeom prst="rect">
            <a:avLst/>
          </a:prstGeom>
          <a:noFill/>
        </p:spPr>
        <p:txBody>
          <a:bodyPr wrap="square" anchor="t">
            <a:spAutoFit/>
          </a:bodyPr>
          <a:lstStyle/>
          <a:p>
            <a:pPr algn="l"/>
            <a:r>
              <a:t>WATCH CLOSELY</a:t>
            </a:r>
          </a:p>
        </p:txBody>
      </p:sp>
      <p:sp>
        <p:nvSpPr>
          <p:cNvPr id="41" name="TextBox 40"/>
          <p:cNvSpPr txBox="1"/>
          <p:nvPr/>
        </p:nvSpPr>
        <p:spPr>
          <a:xfrm>
            <a:off x="5303520" y="5394960"/>
            <a:ext cx="1371600" cy="228600"/>
          </a:xfrm>
          <a:prstGeom prst="rect">
            <a:avLst/>
          </a:prstGeom>
          <a:noFill/>
        </p:spPr>
        <p:txBody>
          <a:bodyPr wrap="square" anchor="t">
            <a:spAutoFit/>
          </a:bodyPr>
          <a:lstStyle/>
          <a:p>
            <a:pPr algn="l"/>
          </a:p>
        </p:txBody>
      </p:sp>
      <p:sp>
        <p:nvSpPr>
          <p:cNvPr id="42" name="TextBox 41"/>
          <p:cNvSpPr txBox="1"/>
          <p:nvPr/>
        </p:nvSpPr>
        <p:spPr>
          <a:xfrm>
            <a:off x="5303520" y="5623560"/>
            <a:ext cx="1371600" cy="274320"/>
          </a:xfrm>
          <a:prstGeom prst="rect">
            <a:avLst/>
          </a:prstGeom>
          <a:noFill/>
        </p:spPr>
        <p:txBody>
          <a:bodyPr wrap="square" anchor="t">
            <a:spAutoFit/>
          </a:bodyPr>
          <a:lstStyle/>
          <a:p>
            <a:pPr algn="l"/>
          </a:p>
        </p:txBody>
      </p:sp>
      <p:sp>
        <p:nvSpPr>
          <p:cNvPr id="43" name="TextBox 42"/>
          <p:cNvSpPr txBox="1"/>
          <p:nvPr/>
        </p:nvSpPr>
        <p:spPr>
          <a:xfrm>
            <a:off x="6858000" y="5394960"/>
            <a:ext cx="1371600" cy="228600"/>
          </a:xfrm>
          <a:prstGeom prst="rect">
            <a:avLst/>
          </a:prstGeom>
          <a:noFill/>
        </p:spPr>
        <p:txBody>
          <a:bodyPr wrap="square" anchor="t">
            <a:spAutoFit/>
          </a:bodyPr>
          <a:lstStyle/>
          <a:p>
            <a:pPr algn="l"/>
          </a:p>
        </p:txBody>
      </p:sp>
      <p:sp>
        <p:nvSpPr>
          <p:cNvPr id="44" name="TextBox 43"/>
          <p:cNvSpPr txBox="1"/>
          <p:nvPr/>
        </p:nvSpPr>
        <p:spPr>
          <a:xfrm>
            <a:off x="6858000" y="5623560"/>
            <a:ext cx="1371600" cy="274320"/>
          </a:xfrm>
          <a:prstGeom prst="rect">
            <a:avLst/>
          </a:prstGeom>
          <a:noFill/>
        </p:spPr>
        <p:txBody>
          <a:bodyPr wrap="square" anchor="t">
            <a:spAutoFit/>
          </a:bodyPr>
          <a:lstStyle/>
          <a:p>
            <a:pPr algn="l"/>
          </a:p>
        </p:txBody>
      </p:sp>
      <p:sp>
        <p:nvSpPr>
          <p:cNvPr id="45" name="TextBox 44"/>
          <p:cNvSpPr txBox="1"/>
          <p:nvPr/>
        </p:nvSpPr>
        <p:spPr>
          <a:xfrm>
            <a:off x="8412480" y="5394960"/>
            <a:ext cx="1371600" cy="228600"/>
          </a:xfrm>
          <a:prstGeom prst="rect">
            <a:avLst/>
          </a:prstGeom>
          <a:noFill/>
        </p:spPr>
        <p:txBody>
          <a:bodyPr wrap="square" anchor="t">
            <a:spAutoFit/>
          </a:bodyPr>
          <a:lstStyle/>
          <a:p>
            <a:pPr algn="l"/>
          </a:p>
        </p:txBody>
      </p:sp>
      <p:sp>
        <p:nvSpPr>
          <p:cNvPr id="46" name="TextBox 45"/>
          <p:cNvSpPr txBox="1"/>
          <p:nvPr/>
        </p:nvSpPr>
        <p:spPr>
          <a:xfrm>
            <a:off x="8412480" y="5623560"/>
            <a:ext cx="1371600" cy="274320"/>
          </a:xfrm>
          <a:prstGeom prst="rect">
            <a:avLst/>
          </a:prstGeom>
          <a:noFill/>
        </p:spPr>
        <p:txBody>
          <a:bodyPr wrap="square" anchor="t">
            <a:spAutoFit/>
          </a:bodyPr>
          <a:lstStyle/>
          <a:p>
            <a:pPr algn="l"/>
          </a:p>
        </p:txBody>
      </p:sp>
      <p:sp>
        <p:nvSpPr>
          <p:cNvPr id="47" name="TextBox 46"/>
          <p:cNvSpPr txBox="1"/>
          <p:nvPr/>
        </p:nvSpPr>
        <p:spPr>
          <a:xfrm>
            <a:off x="9966959" y="5394960"/>
            <a:ext cx="1371600" cy="228600"/>
          </a:xfrm>
          <a:prstGeom prst="rect">
            <a:avLst/>
          </a:prstGeom>
          <a:noFill/>
        </p:spPr>
        <p:txBody>
          <a:bodyPr wrap="square" anchor="t">
            <a:spAutoFit/>
          </a:bodyPr>
          <a:lstStyle/>
          <a:p>
            <a:pPr algn="l"/>
          </a:p>
        </p:txBody>
      </p:sp>
      <p:sp>
        <p:nvSpPr>
          <p:cNvPr id="48" name="TextBox 47"/>
          <p:cNvSpPr txBox="1"/>
          <p:nvPr/>
        </p:nvSpPr>
        <p:spPr>
          <a:xfrm>
            <a:off x="9966959" y="5623560"/>
            <a:ext cx="1371600" cy="274320"/>
          </a:xfrm>
          <a:prstGeom prst="rect">
            <a:avLst/>
          </a:prstGeom>
          <a:noFill/>
        </p:spPr>
        <p:txBody>
          <a:bodyPr wrap="square" anchor="t">
            <a:spAutoFit/>
          </a:bodyPr>
          <a:lstStyle/>
          <a:p>
            <a:pPr algn="l"/>
          </a:p>
        </p:txBody>
      </p:sp>
      <p:sp>
        <p:nvSpPr>
          <p:cNvPr id="49" name="TextBox 48"/>
          <p:cNvSpPr txBox="1"/>
          <p:nvPr/>
        </p:nvSpPr>
        <p:spPr>
          <a:xfrm>
            <a:off x="640080" y="6035040"/>
            <a:ext cx="10515600" cy="365760"/>
          </a:xfrm>
          <a:prstGeom prst="rect">
            <a:avLst/>
          </a:prstGeom>
          <a:noFill/>
        </p:spPr>
        <p:txBody>
          <a:bodyPr wrap="square" anchor="t">
            <a:spAutoFit/>
          </a:bodyPr>
          <a:lstStyle/>
          <a:p>
            <a:pPr algn="l"/>
            <a:r>
              <a:t>Use this page to tell the symbol story end-to-end in the demo.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9144000" cy="640080"/>
          </a:xfrm>
          <a:prstGeom prst="rect">
            <a:avLst/>
          </a:prstGeom>
          <a:noFill/>
        </p:spPr>
        <p:txBody>
          <a:bodyPr wrap="square" anchor="t">
            <a:spAutoFit/>
          </a:bodyPr>
          <a:lstStyle/>
          <a:p>
            <a:pPr algn="l"/>
            <a:r>
              <a:t>Live Portfolio Link</a:t>
            </a:r>
          </a:p>
        </p:txBody>
      </p:sp>
      <p:sp>
        <p:nvSpPr>
          <p:cNvPr id="4" name="Rectangle 3"/>
          <p:cNvSpPr/>
          <p:nvPr/>
        </p:nvSpPr>
        <p:spPr>
          <a:xfrm>
            <a:off x="731520" y="77724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365760"/>
          </a:xfrm>
          <a:prstGeom prst="rect">
            <a:avLst/>
          </a:prstGeom>
          <a:noFill/>
        </p:spPr>
        <p:txBody>
          <a:bodyPr wrap="square" anchor="t">
            <a:spAutoFit/>
          </a:bodyPr>
          <a:lstStyle/>
          <a:p>
            <a:pPr algn="l"/>
            <a:r>
              <a:t>Control plane connecting MIP live workflow to broker truth.</a:t>
            </a:r>
          </a:p>
        </p:txBody>
      </p:sp>
      <p:sp>
        <p:nvSpPr>
          <p:cNvPr id="6" name="Rectangle 5"/>
          <p:cNvSpPr/>
          <p:nvPr/>
        </p:nvSpPr>
        <p:spPr>
          <a:xfrm>
            <a:off x="731520" y="1554480"/>
            <a:ext cx="1097280" cy="38100"/>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1792224"/>
            <a:ext cx="137160" cy="137160"/>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737360"/>
            <a:ext cx="4754880" cy="320040"/>
          </a:xfrm>
          <a:prstGeom prst="rect">
            <a:avLst/>
          </a:prstGeom>
          <a:noFill/>
        </p:spPr>
        <p:txBody>
          <a:bodyPr wrap="square" anchor="t">
            <a:spAutoFit/>
          </a:bodyPr>
          <a:lstStyle/>
          <a:p>
            <a:pPr algn="l"/>
            <a:r>
              <a:t>Create/edit live config with system-assigned IDs</a:t>
            </a:r>
          </a:p>
        </p:txBody>
      </p:sp>
      <p:sp>
        <p:nvSpPr>
          <p:cNvPr id="9" name="Oval 8"/>
          <p:cNvSpPr/>
          <p:nvPr/>
        </p:nvSpPr>
        <p:spPr>
          <a:xfrm>
            <a:off x="731520" y="2157984"/>
            <a:ext cx="137160" cy="137160"/>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103120"/>
            <a:ext cx="4754880" cy="320040"/>
          </a:xfrm>
          <a:prstGeom prst="rect">
            <a:avLst/>
          </a:prstGeom>
          <a:noFill/>
        </p:spPr>
        <p:txBody>
          <a:bodyPr wrap="square" anchor="t">
            <a:spAutoFit/>
          </a:bodyPr>
          <a:lstStyle/>
          <a:p>
            <a:pPr algn="l"/>
            <a:r>
              <a:t>Bind IBKR account and adapter mode</a:t>
            </a:r>
          </a:p>
        </p:txBody>
      </p:sp>
      <p:sp>
        <p:nvSpPr>
          <p:cNvPr id="11" name="Oval 10"/>
          <p:cNvSpPr/>
          <p:nvPr/>
        </p:nvSpPr>
        <p:spPr>
          <a:xfrm>
            <a:off x="731520" y="2523744"/>
            <a:ext cx="137160" cy="137160"/>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468880"/>
            <a:ext cx="4754880" cy="320040"/>
          </a:xfrm>
          <a:prstGeom prst="rect">
            <a:avLst/>
          </a:prstGeom>
          <a:noFill/>
        </p:spPr>
        <p:txBody>
          <a:bodyPr wrap="square" anchor="t">
            <a:spAutoFit/>
          </a:bodyPr>
          <a:lstStyle/>
          <a:p>
            <a:pPr algn="l"/>
            <a:r>
              <a:t>Set freshness, size, and drawdown controls</a:t>
            </a:r>
          </a:p>
        </p:txBody>
      </p:sp>
      <p:sp>
        <p:nvSpPr>
          <p:cNvPr id="13" name="Oval 12"/>
          <p:cNvSpPr/>
          <p:nvPr/>
        </p:nvSpPr>
        <p:spPr>
          <a:xfrm>
            <a:off x="731520" y="2889504"/>
            <a:ext cx="137160" cy="137160"/>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2834640"/>
            <a:ext cx="4754880" cy="320040"/>
          </a:xfrm>
          <a:prstGeom prst="rect">
            <a:avLst/>
          </a:prstGeom>
          <a:noFill/>
        </p:spPr>
        <p:txBody>
          <a:bodyPr wrap="square" anchor="t">
            <a:spAutoFit/>
          </a:bodyPr>
          <a:lstStyle/>
          <a:p>
            <a:pPr algn="l"/>
            <a:r>
              <a:t>Validate activation guard and readiness chain</a:t>
            </a:r>
          </a:p>
        </p:txBody>
      </p:sp>
      <p:sp>
        <p:nvSpPr>
          <p:cNvPr id="15" name="Oval 14"/>
          <p:cNvSpPr/>
          <p:nvPr/>
        </p:nvSpPr>
        <p:spPr>
          <a:xfrm>
            <a:off x="731520" y="3255264"/>
            <a:ext cx="137160" cy="137160"/>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3200400"/>
            <a:ext cx="4754880" cy="320040"/>
          </a:xfrm>
          <a:prstGeom prst="rect">
            <a:avLst/>
          </a:prstGeom>
          <a:noFill/>
        </p:spPr>
        <p:txBody>
          <a:bodyPr wrap="square" anchor="t">
            <a:spAutoFit/>
          </a:bodyPr>
          <a:lstStyle/>
          <a:p>
            <a:pPr algn="l"/>
            <a:r>
              <a:t>Research source selected at import in Live Activity</a:t>
            </a:r>
          </a:p>
        </p:txBody>
      </p:sp>
      <p:sp>
        <p:nvSpPr>
          <p:cNvPr id="17" name="Oval 16"/>
          <p:cNvSpPr/>
          <p:nvPr/>
        </p:nvSpPr>
        <p:spPr>
          <a:xfrm>
            <a:off x="731520" y="3621024"/>
            <a:ext cx="137160" cy="137160"/>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3566160"/>
            <a:ext cx="4754880" cy="320040"/>
          </a:xfrm>
          <a:prstGeom prst="rect">
            <a:avLst/>
          </a:prstGeom>
          <a:noFill/>
        </p:spPr>
        <p:txBody>
          <a:bodyPr wrap="square" anchor="t">
            <a:spAutoFit/>
          </a:bodyPr>
          <a:lstStyle/>
          <a:p>
            <a:pPr algn="l"/>
            <a:r>
              <a:t>Saving config writes governance state only</a:t>
            </a:r>
          </a:p>
        </p:txBody>
      </p:sp>
      <p:sp>
        <p:nvSpPr>
          <p:cNvPr id="19" name="TextBox 18"/>
          <p:cNvSpPr txBox="1"/>
          <p:nvPr/>
        </p:nvSpPr>
        <p:spPr>
          <a:xfrm>
            <a:off x="6400800" y="1188720"/>
            <a:ext cx="5029200" cy="365760"/>
          </a:xfrm>
          <a:prstGeom prst="rect">
            <a:avLst/>
          </a:prstGeom>
          <a:noFill/>
        </p:spPr>
        <p:txBody>
          <a:bodyPr wrap="square" anchor="t">
            <a:spAutoFit/>
          </a:bodyPr>
          <a:lstStyle/>
          <a:p>
            <a:pPr algn="l"/>
            <a:r>
              <a:t>Execution Readiness States</a:t>
            </a:r>
          </a:p>
        </p:txBody>
      </p:sp>
      <p:sp>
        <p:nvSpPr>
          <p:cNvPr id="20" name="Rectangle 19"/>
          <p:cNvSpPr/>
          <p:nvPr/>
        </p:nvSpPr>
        <p:spPr>
          <a:xfrm>
            <a:off x="6400800" y="1554480"/>
            <a:ext cx="1097280" cy="38100"/>
          </a:xfrm>
          <a:prstGeom prst="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400800" y="1828800"/>
            <a:ext cx="1691640" cy="914400"/>
          </a:xfrm>
          <a:prstGeom prst="round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0" y="1874519"/>
            <a:ext cx="1508760" cy="365760"/>
          </a:xfrm>
          <a:prstGeom prst="rect">
            <a:avLst/>
          </a:prstGeom>
          <a:noFill/>
        </p:spPr>
        <p:txBody>
          <a:bodyPr wrap="square" anchor="t">
            <a:spAutoFit/>
          </a:bodyPr>
          <a:lstStyle/>
          <a:p>
            <a:pPr algn="ctr"/>
            <a:r>
              <a:t>CONNECTED</a:t>
            </a:r>
          </a:p>
        </p:txBody>
      </p:sp>
      <p:sp>
        <p:nvSpPr>
          <p:cNvPr id="23" name="TextBox 22"/>
          <p:cNvSpPr txBox="1"/>
          <p:nvPr/>
        </p:nvSpPr>
        <p:spPr>
          <a:xfrm>
            <a:off x="6492240" y="2286000"/>
            <a:ext cx="1508760" cy="365760"/>
          </a:xfrm>
          <a:prstGeom prst="rect">
            <a:avLst/>
          </a:prstGeom>
          <a:noFill/>
        </p:spPr>
        <p:txBody>
          <a:bodyPr wrap="square" anchor="t">
            <a:spAutoFit/>
          </a:bodyPr>
          <a:lstStyle/>
          <a:p>
            <a:pPr algn="ctr"/>
            <a:r>
              <a:t>Wiring and config pass checks</a:t>
            </a:r>
          </a:p>
        </p:txBody>
      </p:sp>
      <p:sp>
        <p:nvSpPr>
          <p:cNvPr id="24" name="Rounded Rectangle 23"/>
          <p:cNvSpPr/>
          <p:nvPr/>
        </p:nvSpPr>
        <p:spPr>
          <a:xfrm>
            <a:off x="8366760" y="1828800"/>
            <a:ext cx="1691640" cy="914400"/>
          </a:xfrm>
          <a:prstGeom prst="round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58200" y="1874519"/>
            <a:ext cx="1508760" cy="365760"/>
          </a:xfrm>
          <a:prstGeom prst="rect">
            <a:avLst/>
          </a:prstGeom>
          <a:noFill/>
        </p:spPr>
        <p:txBody>
          <a:bodyPr wrap="square" anchor="t">
            <a:spAutoFit/>
          </a:bodyPr>
          <a:lstStyle/>
          <a:p>
            <a:pPr algn="ctr"/>
            <a:r>
              <a:t>CAUTION</a:t>
            </a:r>
          </a:p>
        </p:txBody>
      </p:sp>
      <p:sp>
        <p:nvSpPr>
          <p:cNvPr id="26" name="TextBox 25"/>
          <p:cNvSpPr txBox="1"/>
          <p:nvPr/>
        </p:nvSpPr>
        <p:spPr>
          <a:xfrm>
            <a:off x="8458200" y="2286000"/>
            <a:ext cx="1508760" cy="365760"/>
          </a:xfrm>
          <a:prstGeom prst="rect">
            <a:avLst/>
          </a:prstGeom>
          <a:noFill/>
        </p:spPr>
        <p:txBody>
          <a:bodyPr wrap="square" anchor="t">
            <a:spAutoFit/>
          </a:bodyPr>
          <a:lstStyle/>
          <a:p>
            <a:pPr algn="ctr"/>
            <a:r>
              <a:t>Freshness/drift or limit threshold approaching</a:t>
            </a:r>
          </a:p>
        </p:txBody>
      </p:sp>
      <p:sp>
        <p:nvSpPr>
          <p:cNvPr id="27" name="Rounded Rectangle 26"/>
          <p:cNvSpPr/>
          <p:nvPr/>
        </p:nvSpPr>
        <p:spPr>
          <a:xfrm>
            <a:off x="10332720" y="1828800"/>
            <a:ext cx="1691640" cy="914400"/>
          </a:xfrm>
          <a:prstGeom prst="round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424160" y="1874519"/>
            <a:ext cx="1508760" cy="365760"/>
          </a:xfrm>
          <a:prstGeom prst="rect">
            <a:avLst/>
          </a:prstGeom>
          <a:noFill/>
        </p:spPr>
        <p:txBody>
          <a:bodyPr wrap="square" anchor="t">
            <a:spAutoFit/>
          </a:bodyPr>
          <a:lstStyle/>
          <a:p>
            <a:pPr algn="ctr"/>
            <a:r>
              <a:t>BLOCKED</a:t>
            </a:r>
          </a:p>
        </p:txBody>
      </p:sp>
      <p:sp>
        <p:nvSpPr>
          <p:cNvPr id="29" name="TextBox 28"/>
          <p:cNvSpPr txBox="1"/>
          <p:nvPr/>
        </p:nvSpPr>
        <p:spPr>
          <a:xfrm>
            <a:off x="10424160" y="2286000"/>
            <a:ext cx="1508760" cy="365760"/>
          </a:xfrm>
          <a:prstGeom prst="rect">
            <a:avLst/>
          </a:prstGeom>
          <a:noFill/>
        </p:spPr>
        <p:txBody>
          <a:bodyPr wrap="square" anchor="t">
            <a:spAutoFit/>
          </a:bodyPr>
          <a:lstStyle/>
          <a:p>
            <a:pPr algn="ctr"/>
            <a:r>
              <a:t>Readiness failed; new execution blocked</a:t>
            </a:r>
          </a:p>
        </p:txBody>
      </p:sp>
      <p:sp>
        <p:nvSpPr>
          <p:cNvPr id="30" name="TextBox 29"/>
          <p:cNvSpPr txBox="1"/>
          <p:nvPr/>
        </p:nvSpPr>
        <p:spPr>
          <a:xfrm>
            <a:off x="6400800" y="3017520"/>
            <a:ext cx="5029200" cy="365760"/>
          </a:xfrm>
          <a:prstGeom prst="rect">
            <a:avLst/>
          </a:prstGeom>
          <a:noFill/>
        </p:spPr>
        <p:txBody>
          <a:bodyPr wrap="square" anchor="t">
            <a:spAutoFit/>
          </a:bodyPr>
          <a:lstStyle/>
          <a:p>
            <a:pPr algn="l"/>
            <a:r>
              <a:t>Key control fields:</a:t>
            </a:r>
          </a:p>
        </p:txBody>
      </p:sp>
      <p:sp>
        <p:nvSpPr>
          <p:cNvPr id="31" name="TextBox 30"/>
          <p:cNvSpPr txBox="1"/>
          <p:nvPr/>
        </p:nvSpPr>
        <p:spPr>
          <a:xfrm>
            <a:off x="6400800" y="3383280"/>
            <a:ext cx="2011680" cy="320040"/>
          </a:xfrm>
          <a:prstGeom prst="rect">
            <a:avLst/>
          </a:prstGeom>
          <a:noFill/>
        </p:spPr>
        <p:txBody>
          <a:bodyPr wrap="square" anchor="t">
            <a:spAutoFit/>
          </a:bodyPr>
          <a:lstStyle/>
          <a:p>
            <a:pPr algn="l"/>
            <a:r>
              <a:t>Max Positions</a:t>
            </a:r>
          </a:p>
        </p:txBody>
      </p:sp>
      <p:sp>
        <p:nvSpPr>
          <p:cNvPr id="32" name="TextBox 31"/>
          <p:cNvSpPr txBox="1"/>
          <p:nvPr/>
        </p:nvSpPr>
        <p:spPr>
          <a:xfrm>
            <a:off x="8412480" y="3383280"/>
            <a:ext cx="3474720" cy="320040"/>
          </a:xfrm>
          <a:prstGeom prst="rect">
            <a:avLst/>
          </a:prstGeom>
          <a:noFill/>
        </p:spPr>
        <p:txBody>
          <a:bodyPr wrap="square" anchor="t">
            <a:spAutoFit/>
          </a:bodyPr>
          <a:lstStyle/>
          <a:p>
            <a:pPr algn="l"/>
            <a:r>
              <a:t>Max concurrent holdings</a:t>
            </a:r>
          </a:p>
        </p:txBody>
      </p:sp>
      <p:sp>
        <p:nvSpPr>
          <p:cNvPr id="33" name="TextBox 32"/>
          <p:cNvSpPr txBox="1"/>
          <p:nvPr/>
        </p:nvSpPr>
        <p:spPr>
          <a:xfrm>
            <a:off x="6400800" y="3749040"/>
            <a:ext cx="2011680" cy="320040"/>
          </a:xfrm>
          <a:prstGeom prst="rect">
            <a:avLst/>
          </a:prstGeom>
          <a:noFill/>
        </p:spPr>
        <p:txBody>
          <a:bodyPr wrap="square" anchor="t">
            <a:spAutoFit/>
          </a:bodyPr>
          <a:lstStyle/>
          <a:p>
            <a:pPr algn="l"/>
            <a:r>
              <a:t>Max Position %</a:t>
            </a:r>
          </a:p>
        </p:txBody>
      </p:sp>
      <p:sp>
        <p:nvSpPr>
          <p:cNvPr id="34" name="TextBox 33"/>
          <p:cNvSpPr txBox="1"/>
          <p:nvPr/>
        </p:nvSpPr>
        <p:spPr>
          <a:xfrm>
            <a:off x="8412480" y="3749040"/>
            <a:ext cx="3474720" cy="320040"/>
          </a:xfrm>
          <a:prstGeom prst="rect">
            <a:avLst/>
          </a:prstGeom>
          <a:noFill/>
        </p:spPr>
        <p:txBody>
          <a:bodyPr wrap="square" anchor="t">
            <a:spAutoFit/>
          </a:bodyPr>
          <a:lstStyle/>
          <a:p>
            <a:pPr algn="l"/>
            <a:r>
              <a:t>Per-position exposure cap</a:t>
            </a:r>
          </a:p>
        </p:txBody>
      </p:sp>
      <p:sp>
        <p:nvSpPr>
          <p:cNvPr id="35" name="TextBox 34"/>
          <p:cNvSpPr txBox="1"/>
          <p:nvPr/>
        </p:nvSpPr>
        <p:spPr>
          <a:xfrm>
            <a:off x="6400800" y="4114800"/>
            <a:ext cx="2011680" cy="320040"/>
          </a:xfrm>
          <a:prstGeom prst="rect">
            <a:avLst/>
          </a:prstGeom>
          <a:noFill/>
        </p:spPr>
        <p:txBody>
          <a:bodyPr wrap="square" anchor="t">
            <a:spAutoFit/>
          </a:bodyPr>
          <a:lstStyle/>
          <a:p>
            <a:pPr algn="l"/>
            <a:r>
              <a:t>Quote/Snapshot Freshness</a:t>
            </a:r>
          </a:p>
        </p:txBody>
      </p:sp>
      <p:sp>
        <p:nvSpPr>
          <p:cNvPr id="36" name="TextBox 35"/>
          <p:cNvSpPr txBox="1"/>
          <p:nvPr/>
        </p:nvSpPr>
        <p:spPr>
          <a:xfrm>
            <a:off x="8412480" y="4114800"/>
            <a:ext cx="3474720" cy="320040"/>
          </a:xfrm>
          <a:prstGeom prst="rect">
            <a:avLst/>
          </a:prstGeom>
          <a:noFill/>
        </p:spPr>
        <p:txBody>
          <a:bodyPr wrap="square" anchor="t">
            <a:spAutoFit/>
          </a:bodyPr>
          <a:lstStyle/>
          <a:p>
            <a:pPr algn="l"/>
            <a:r>
              <a:t>Stale-data blocker</a:t>
            </a:r>
          </a:p>
        </p:txBody>
      </p:sp>
      <p:sp>
        <p:nvSpPr>
          <p:cNvPr id="37" name="TextBox 36"/>
          <p:cNvSpPr txBox="1"/>
          <p:nvPr/>
        </p:nvSpPr>
        <p:spPr>
          <a:xfrm>
            <a:off x="6400800" y="4480560"/>
            <a:ext cx="2011680" cy="320040"/>
          </a:xfrm>
          <a:prstGeom prst="rect">
            <a:avLst/>
          </a:prstGeom>
          <a:noFill/>
        </p:spPr>
        <p:txBody>
          <a:bodyPr wrap="square" anchor="t">
            <a:spAutoFit/>
          </a:bodyPr>
          <a:lstStyle/>
          <a:p>
            <a:pPr algn="l"/>
            <a:r>
              <a:t>Drawdown Stop / Bust %</a:t>
            </a:r>
          </a:p>
        </p:txBody>
      </p:sp>
      <p:sp>
        <p:nvSpPr>
          <p:cNvPr id="38" name="TextBox 37"/>
          <p:cNvSpPr txBox="1"/>
          <p:nvPr/>
        </p:nvSpPr>
        <p:spPr>
          <a:xfrm>
            <a:off x="8412480" y="4480560"/>
            <a:ext cx="3474720" cy="320040"/>
          </a:xfrm>
          <a:prstGeom prst="rect">
            <a:avLst/>
          </a:prstGeom>
          <a:noFill/>
        </p:spPr>
        <p:txBody>
          <a:bodyPr wrap="square" anchor="t">
            <a:spAutoFit/>
          </a:bodyPr>
          <a:lstStyle/>
          <a:p>
            <a:pPr algn="l"/>
            <a:r>
              <a:t>Portfolio safety brakes</a:t>
            </a:r>
          </a:p>
        </p:txBody>
      </p:sp>
      <p:sp>
        <p:nvSpPr>
          <p:cNvPr id="39" name="TextBox 38"/>
          <p:cNvSpPr txBox="1"/>
          <p:nvPr/>
        </p:nvSpPr>
        <p:spPr>
          <a:xfrm>
            <a:off x="6400800" y="4846320"/>
            <a:ext cx="2011680" cy="320040"/>
          </a:xfrm>
          <a:prstGeom prst="rect">
            <a:avLst/>
          </a:prstGeom>
          <a:noFill/>
        </p:spPr>
        <p:txBody>
          <a:bodyPr wrap="square" anchor="t">
            <a:spAutoFit/>
          </a:bodyPr>
          <a:lstStyle/>
          <a:p>
            <a:pPr algn="l"/>
          </a:p>
        </p:txBody>
      </p:sp>
      <p:sp>
        <p:nvSpPr>
          <p:cNvPr id="40" name="TextBox 39"/>
          <p:cNvSpPr txBox="1"/>
          <p:nvPr/>
        </p:nvSpPr>
        <p:spPr>
          <a:xfrm>
            <a:off x="8412480" y="4846320"/>
            <a:ext cx="3474720" cy="320040"/>
          </a:xfrm>
          <a:prstGeom prst="rect">
            <a:avLst/>
          </a:prstGeom>
          <a:noFill/>
        </p:spPr>
        <p:txBody>
          <a:bodyPr wrap="square" anchor="t">
            <a:spAutoFit/>
          </a:bodyPr>
          <a:lstStyle/>
          <a:p>
            <a:pPr algn="l"/>
          </a:p>
        </p:txBody>
      </p:sp>
      <p:sp>
        <p:nvSpPr>
          <p:cNvPr id="41" name="TextBox 40"/>
          <p:cNvSpPr txBox="1"/>
          <p:nvPr/>
        </p:nvSpPr>
        <p:spPr>
          <a:xfrm>
            <a:off x="6400800" y="5212080"/>
            <a:ext cx="2011680" cy="320040"/>
          </a:xfrm>
          <a:prstGeom prst="rect">
            <a:avLst/>
          </a:prstGeom>
          <a:noFill/>
        </p:spPr>
        <p:txBody>
          <a:bodyPr wrap="square" anchor="t">
            <a:spAutoFit/>
          </a:bodyPr>
          <a:lstStyle/>
          <a:p>
            <a:pPr algn="l"/>
          </a:p>
        </p:txBody>
      </p:sp>
      <p:sp>
        <p:nvSpPr>
          <p:cNvPr id="42" name="TextBox 41"/>
          <p:cNvSpPr txBox="1"/>
          <p:nvPr/>
        </p:nvSpPr>
        <p:spPr>
          <a:xfrm>
            <a:off x="8412480" y="5212080"/>
            <a:ext cx="3474720" cy="320040"/>
          </a:xfrm>
          <a:prstGeom prst="rect">
            <a:avLst/>
          </a:prstGeom>
          <a:noFill/>
        </p:spPr>
        <p:txBody>
          <a:bodyPr wrap="square" anchor="t">
            <a:spAutoFit/>
          </a:bodyPr>
          <a:lstStyle/>
          <a:p>
            <a:pPr algn="l"/>
          </a:p>
        </p:txBody>
      </p:sp>
      <p:sp>
        <p:nvSpPr>
          <p:cNvPr id="43" name="Rounded Rectangle 42"/>
          <p:cNvSpPr/>
          <p:nvPr/>
        </p:nvSpPr>
        <p:spPr>
          <a:xfrm>
            <a:off x="731520" y="5692141"/>
            <a:ext cx="10698480" cy="82296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1201190" y="5912429"/>
            <a:ext cx="1280160" cy="457200"/>
          </a:xfrm>
          <a:prstGeom prst="round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246910" y="5930717"/>
            <a:ext cx="1188720" cy="411480"/>
          </a:xfrm>
          <a:prstGeom prst="rect">
            <a:avLst/>
          </a:prstGeom>
          <a:noFill/>
        </p:spPr>
        <p:txBody>
          <a:bodyPr wrap="square" anchor="ctr">
            <a:spAutoFit/>
          </a:bodyPr>
          <a:lstStyle/>
          <a:p>
            <a:pPr algn="ctr"/>
            <a:r>
              <a:t>Source -&gt; Live Portfolio -&gt; IBKR -&gt; Guard -&gt; Readiness</a:t>
            </a:r>
          </a:p>
        </p:txBody>
      </p:sp>
      <p:sp>
        <p:nvSpPr>
          <p:cNvPr id="46" name="TextBox 45"/>
          <p:cNvSpPr txBox="1"/>
          <p:nvPr/>
        </p:nvSpPr>
        <p:spPr>
          <a:xfrm>
            <a:off x="2481350" y="5912429"/>
            <a:ext cx="365760" cy="457200"/>
          </a:xfrm>
          <a:prstGeom prst="rect">
            <a:avLst/>
          </a:prstGeom>
          <a:noFill/>
        </p:spPr>
        <p:txBody>
          <a:bodyPr wrap="square" anchor="ctr">
            <a:spAutoFit/>
          </a:bodyPr>
          <a:lstStyle/>
          <a:p>
            <a:pPr algn="ctr"/>
            <a:r>
              <a:t>Full control chain:</a:t>
            </a:r>
          </a:p>
        </p:txBody>
      </p:sp>
      <p:sp>
        <p:nvSpPr>
          <p:cNvPr id="47" name="Rounded Rectangle 46"/>
          <p:cNvSpPr/>
          <p:nvPr/>
        </p:nvSpPr>
        <p:spPr>
          <a:xfrm>
            <a:off x="2892830" y="5912429"/>
            <a:ext cx="1280160" cy="457200"/>
          </a:xfrm>
          <a:prstGeom prst="round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938550" y="5930717"/>
            <a:ext cx="1188720" cy="411480"/>
          </a:xfrm>
          <a:prstGeom prst="rect">
            <a:avLst/>
          </a:prstGeom>
          <a:noFill/>
        </p:spPr>
        <p:txBody>
          <a:bodyPr wrap="square" anchor="ctr">
            <a:spAutoFit/>
          </a:bodyPr>
          <a:lstStyle/>
          <a:p>
            <a:pPr algn="ctr"/>
          </a:p>
        </p:txBody>
      </p:sp>
      <p:sp>
        <p:nvSpPr>
          <p:cNvPr id="49" name="TextBox 48"/>
          <p:cNvSpPr txBox="1"/>
          <p:nvPr/>
        </p:nvSpPr>
        <p:spPr>
          <a:xfrm>
            <a:off x="4172990" y="5912429"/>
            <a:ext cx="365760" cy="457200"/>
          </a:xfrm>
          <a:prstGeom prst="rect">
            <a:avLst/>
          </a:prstGeom>
          <a:noFill/>
        </p:spPr>
        <p:txBody>
          <a:bodyPr wrap="square" anchor="ctr">
            <a:spAutoFit/>
          </a:bodyPr>
          <a:lstStyle/>
          <a:p>
            <a:pPr algn="ctr"/>
          </a:p>
        </p:txBody>
      </p:sp>
      <p:sp>
        <p:nvSpPr>
          <p:cNvPr id="50" name="Rounded Rectangle 49"/>
          <p:cNvSpPr/>
          <p:nvPr/>
        </p:nvSpPr>
        <p:spPr>
          <a:xfrm>
            <a:off x="4584470" y="5912429"/>
            <a:ext cx="1280160" cy="457200"/>
          </a:xfrm>
          <a:prstGeom prst="round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630190" y="5930717"/>
            <a:ext cx="1188720" cy="411480"/>
          </a:xfrm>
          <a:prstGeom prst="rect">
            <a:avLst/>
          </a:prstGeom>
          <a:noFill/>
        </p:spPr>
        <p:txBody>
          <a:bodyPr wrap="square" anchor="ctr">
            <a:spAutoFit/>
          </a:bodyPr>
          <a:lstStyle/>
          <a:p>
            <a:pPr algn="ctr"/>
          </a:p>
        </p:txBody>
      </p:sp>
      <p:sp>
        <p:nvSpPr>
          <p:cNvPr id="52" name="TextBox 51"/>
          <p:cNvSpPr txBox="1"/>
          <p:nvPr/>
        </p:nvSpPr>
        <p:spPr>
          <a:xfrm>
            <a:off x="5864630" y="5912429"/>
            <a:ext cx="365760" cy="457200"/>
          </a:xfrm>
          <a:prstGeom prst="rect">
            <a:avLst/>
          </a:prstGeom>
          <a:noFill/>
        </p:spPr>
        <p:txBody>
          <a:bodyPr wrap="square" anchor="ctr">
            <a:spAutoFit/>
          </a:bodyPr>
          <a:lstStyle/>
          <a:p>
            <a:pPr algn="ctr"/>
          </a:p>
        </p:txBody>
      </p:sp>
      <p:sp>
        <p:nvSpPr>
          <p:cNvPr id="53" name="Rounded Rectangle 52"/>
          <p:cNvSpPr/>
          <p:nvPr/>
        </p:nvSpPr>
        <p:spPr>
          <a:xfrm>
            <a:off x="6276110" y="5912429"/>
            <a:ext cx="1280160" cy="457200"/>
          </a:xfrm>
          <a:prstGeom prst="round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321830" y="5930717"/>
            <a:ext cx="1188720" cy="411480"/>
          </a:xfrm>
          <a:prstGeom prst="rect">
            <a:avLst/>
          </a:prstGeom>
          <a:noFill/>
        </p:spPr>
        <p:txBody>
          <a:bodyPr wrap="square" anchor="ctr">
            <a:spAutoFit/>
          </a:bodyPr>
          <a:lstStyle/>
          <a:p>
            <a:pPr algn="ctr"/>
          </a:p>
        </p:txBody>
      </p:sp>
      <p:sp>
        <p:nvSpPr>
          <p:cNvPr id="55" name="TextBox 54"/>
          <p:cNvSpPr txBox="1"/>
          <p:nvPr/>
        </p:nvSpPr>
        <p:spPr>
          <a:xfrm>
            <a:off x="7556270" y="5912429"/>
            <a:ext cx="365760" cy="457200"/>
          </a:xfrm>
          <a:prstGeom prst="rect">
            <a:avLst/>
          </a:prstGeom>
          <a:noFill/>
        </p:spPr>
        <p:txBody>
          <a:bodyPr wrap="square" anchor="ctr">
            <a:spAutoFit/>
          </a:bodyPr>
          <a:lstStyle/>
          <a:p>
            <a:pPr algn="ctr"/>
          </a:p>
        </p:txBody>
      </p:sp>
      <p:sp>
        <p:nvSpPr>
          <p:cNvPr id="56" name="Rounded Rectangle 55"/>
          <p:cNvSpPr/>
          <p:nvPr/>
        </p:nvSpPr>
        <p:spPr>
          <a:xfrm>
            <a:off x="7967750" y="5912429"/>
            <a:ext cx="1280160" cy="457200"/>
          </a:xfrm>
          <a:prstGeom prst="round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013470" y="5930717"/>
            <a:ext cx="1188720" cy="411480"/>
          </a:xfrm>
          <a:prstGeom prst="rect">
            <a:avLst/>
          </a:prstGeom>
          <a:noFill/>
        </p:spPr>
        <p:txBody>
          <a:bodyPr wrap="square" anchor="ctr">
            <a:spAutoFit/>
          </a:bodyPr>
          <a:lstStyle/>
          <a:p>
            <a:pPr algn="ctr"/>
          </a:p>
        </p:txBody>
      </p:sp>
      <p:sp>
        <p:nvSpPr>
          <p:cNvPr id="58" name="TextBox 57"/>
          <p:cNvSpPr txBox="1"/>
          <p:nvPr/>
        </p:nvSpPr>
        <p:spPr>
          <a:xfrm>
            <a:off x="9247910" y="5912429"/>
            <a:ext cx="365760" cy="457200"/>
          </a:xfrm>
          <a:prstGeom prst="rect">
            <a:avLst/>
          </a:prstGeom>
          <a:noFill/>
        </p:spPr>
        <p:txBody>
          <a:bodyPr wrap="square" anchor="ctr">
            <a:spAutoFit/>
          </a:bodyPr>
          <a:lstStyle/>
          <a:p>
            <a:pPr algn="ctr"/>
          </a:p>
        </p:txBody>
      </p:sp>
      <p:sp>
        <p:nvSpPr>
          <p:cNvPr id="59" name="Rounded Rectangle 58"/>
          <p:cNvSpPr/>
          <p:nvPr/>
        </p:nvSpPr>
        <p:spPr>
          <a:xfrm>
            <a:off x="9659390" y="5912429"/>
            <a:ext cx="1280160" cy="457200"/>
          </a:xfrm>
          <a:prstGeom prst="round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705110" y="5930717"/>
            <a:ext cx="1188720" cy="411480"/>
          </a:xfrm>
          <a:prstGeom prst="rect">
            <a:avLst/>
          </a:prstGeom>
          <a:noFill/>
        </p:spPr>
        <p:txBody>
          <a:bodyPr wrap="square" anchor="ctr">
            <a:spAutoFit/>
          </a:bodyPr>
          <a:lstStyle/>
          <a:p>
            <a:pPr algn="ctr"/>
          </a:p>
        </p:txBody>
      </p:sp>
      <p:sp>
        <p:nvSpPr>
          <p:cNvPr id="61" name="TextBox 60"/>
          <p:cNvSpPr txBox="1"/>
          <p:nvPr/>
        </p:nvSpPr>
        <p:spPr>
          <a:xfrm>
            <a:off x="914400" y="5692141"/>
            <a:ext cx="2743200" cy="182880"/>
          </a:xfrm>
          <a:prstGeom prst="rect">
            <a:avLst/>
          </a:prstGeom>
          <a:noFill/>
        </p:spPr>
        <p:txBody>
          <a:bodyPr wrap="square" anchor="t">
            <a:spAutoFit/>
          </a:bodyPr>
          <a:lstStyle/>
          <a:p>
            <a:pPr algn="l"/>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9144000" cy="640080"/>
          </a:xfrm>
          <a:prstGeom prst="rect">
            <a:avLst/>
          </a:prstGeom>
          <a:noFill/>
        </p:spPr>
        <p:txBody>
          <a:bodyPr wrap="square" anchor="t">
            <a:spAutoFit/>
          </a:bodyPr>
          <a:lstStyle/>
          <a:p>
            <a:pPr algn="l"/>
            <a:r>
              <a:t>Live Portfolio Activity</a:t>
            </a:r>
          </a:p>
        </p:txBody>
      </p:sp>
      <p:sp>
        <p:nvSpPr>
          <p:cNvPr id="4" name="Rectangle 3"/>
          <p:cNvSpPr/>
          <p:nvPr/>
        </p:nvSpPr>
        <p:spPr>
          <a:xfrm>
            <a:off x="731520" y="77724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97280"/>
            <a:ext cx="10058400" cy="457200"/>
          </a:xfrm>
          <a:prstGeom prst="rect">
            <a:avLst/>
          </a:prstGeom>
          <a:noFill/>
        </p:spPr>
        <p:txBody>
          <a:bodyPr wrap="square" anchor="t">
            <a:spAutoFit/>
          </a:bodyPr>
          <a:lstStyle/>
          <a:p>
            <a:pPr algn="l"/>
            <a:r>
              <a:t>Operational lifecycle for live-linked paper workflow with committee checkpoints.</a:t>
            </a:r>
          </a:p>
        </p:txBody>
      </p:sp>
      <p:sp>
        <p:nvSpPr>
          <p:cNvPr id="6" name="Rounded Rectangle 5"/>
          <p:cNvSpPr/>
          <p:nvPr/>
        </p:nvSpPr>
        <p:spPr>
          <a:xfrm>
            <a:off x="779321" y="1835033"/>
            <a:ext cx="2286000" cy="2011680"/>
          </a:xfrm>
          <a:prstGeom prst="round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0761" y="1972193"/>
            <a:ext cx="2103120" cy="365760"/>
          </a:xfrm>
          <a:prstGeom prst="rect">
            <a:avLst/>
          </a:prstGeom>
          <a:noFill/>
        </p:spPr>
        <p:txBody>
          <a:bodyPr wrap="square" anchor="t">
            <a:spAutoFit/>
          </a:bodyPr>
          <a:lstStyle/>
          <a:p>
            <a:pPr algn="ctr"/>
            <a:r>
              <a:t>IMPORTED</a:t>
            </a:r>
          </a:p>
        </p:txBody>
      </p:sp>
      <p:sp>
        <p:nvSpPr>
          <p:cNvPr id="8" name="TextBox 7"/>
          <p:cNvSpPr txBox="1"/>
          <p:nvPr/>
        </p:nvSpPr>
        <p:spPr>
          <a:xfrm>
            <a:off x="870761" y="2429393"/>
            <a:ext cx="2103120" cy="1188720"/>
          </a:xfrm>
          <a:prstGeom prst="rect">
            <a:avLst/>
          </a:prstGeom>
          <a:noFill/>
        </p:spPr>
        <p:txBody>
          <a:bodyPr wrap="square" anchor="t">
            <a:spAutoFit/>
          </a:bodyPr>
          <a:lstStyle/>
          <a:p>
            <a:pPr algn="ctr"/>
            <a:r>
              <a:t>Proposal imported</a:t>
            </a:r>
          </a:p>
          <a:p>
            <a:r>
              <a:t>into live flow</a:t>
            </a:r>
          </a:p>
        </p:txBody>
      </p:sp>
      <p:sp>
        <p:nvSpPr>
          <p:cNvPr id="9" name="Rounded Rectangle 8"/>
          <p:cNvSpPr/>
          <p:nvPr/>
        </p:nvSpPr>
        <p:spPr>
          <a:xfrm>
            <a:off x="3532912" y="1835033"/>
            <a:ext cx="2286000" cy="2011680"/>
          </a:xfrm>
          <a:prstGeom prst="round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24352" y="1972193"/>
            <a:ext cx="2103120" cy="365760"/>
          </a:xfrm>
          <a:prstGeom prst="rect">
            <a:avLst/>
          </a:prstGeom>
          <a:noFill/>
        </p:spPr>
        <p:txBody>
          <a:bodyPr wrap="square" anchor="t">
            <a:spAutoFit/>
          </a:bodyPr>
          <a:lstStyle/>
          <a:p>
            <a:pPr algn="ctr"/>
            <a:r>
              <a:t>VALIDATED</a:t>
            </a:r>
          </a:p>
        </p:txBody>
      </p:sp>
      <p:sp>
        <p:nvSpPr>
          <p:cNvPr id="11" name="TextBox 10"/>
          <p:cNvSpPr txBox="1"/>
          <p:nvPr/>
        </p:nvSpPr>
        <p:spPr>
          <a:xfrm>
            <a:off x="3624352" y="2429393"/>
            <a:ext cx="2103120" cy="1188720"/>
          </a:xfrm>
          <a:prstGeom prst="rect">
            <a:avLst/>
          </a:prstGeom>
          <a:noFill/>
        </p:spPr>
        <p:txBody>
          <a:bodyPr wrap="square" anchor="t">
            <a:spAutoFit/>
          </a:bodyPr>
          <a:lstStyle/>
          <a:p>
            <a:pPr algn="ctr"/>
            <a:r>
              <a:t>Freshness + realism</a:t>
            </a:r>
          </a:p>
          <a:p>
            <a:r>
              <a:t>checks passed</a:t>
            </a:r>
          </a:p>
        </p:txBody>
      </p:sp>
      <p:sp>
        <p:nvSpPr>
          <p:cNvPr id="12" name="Rounded Rectangle 11"/>
          <p:cNvSpPr/>
          <p:nvPr/>
        </p:nvSpPr>
        <p:spPr>
          <a:xfrm>
            <a:off x="6276112" y="1835033"/>
            <a:ext cx="2286000" cy="201168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67552" y="1972193"/>
            <a:ext cx="2103120" cy="365760"/>
          </a:xfrm>
          <a:prstGeom prst="rect">
            <a:avLst/>
          </a:prstGeom>
          <a:noFill/>
        </p:spPr>
        <p:txBody>
          <a:bodyPr wrap="square" anchor="t">
            <a:spAutoFit/>
          </a:bodyPr>
          <a:lstStyle/>
          <a:p>
            <a:pPr algn="ctr"/>
            <a:r>
              <a:t>COMMITTEE</a:t>
            </a:r>
          </a:p>
        </p:txBody>
      </p:sp>
      <p:sp>
        <p:nvSpPr>
          <p:cNvPr id="14" name="TextBox 13"/>
          <p:cNvSpPr txBox="1"/>
          <p:nvPr/>
        </p:nvSpPr>
        <p:spPr>
          <a:xfrm>
            <a:off x="6367552" y="2429393"/>
            <a:ext cx="2103120" cy="1188720"/>
          </a:xfrm>
          <a:prstGeom prst="rect">
            <a:avLst/>
          </a:prstGeom>
          <a:noFill/>
        </p:spPr>
        <p:txBody>
          <a:bodyPr wrap="square" anchor="t">
            <a:spAutoFit/>
          </a:bodyPr>
          <a:lstStyle/>
          <a:p>
            <a:pPr algn="ctr"/>
            <a:r>
              <a:t>Verdict + reason codes</a:t>
            </a:r>
          </a:p>
          <a:p>
            <a:r>
              <a:t>recorded</a:t>
            </a:r>
          </a:p>
        </p:txBody>
      </p:sp>
      <p:sp>
        <p:nvSpPr>
          <p:cNvPr id="15" name="Rounded Rectangle 14"/>
          <p:cNvSpPr/>
          <p:nvPr/>
        </p:nvSpPr>
        <p:spPr>
          <a:xfrm>
            <a:off x="9019312" y="1835033"/>
            <a:ext cx="2286000" cy="2011680"/>
          </a:xfrm>
          <a:prstGeom prst="round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10752" y="1972193"/>
            <a:ext cx="2103120" cy="365760"/>
          </a:xfrm>
          <a:prstGeom prst="rect">
            <a:avLst/>
          </a:prstGeom>
          <a:noFill/>
        </p:spPr>
        <p:txBody>
          <a:bodyPr wrap="square" anchor="t">
            <a:spAutoFit/>
          </a:bodyPr>
          <a:lstStyle/>
          <a:p>
            <a:pPr algn="ctr"/>
            <a:r>
              <a:t>APPROVED</a:t>
            </a:r>
          </a:p>
        </p:txBody>
      </p:sp>
      <p:sp>
        <p:nvSpPr>
          <p:cNvPr id="17" name="TextBox 16"/>
          <p:cNvSpPr txBox="1"/>
          <p:nvPr/>
        </p:nvSpPr>
        <p:spPr>
          <a:xfrm>
            <a:off x="9110752" y="2429393"/>
            <a:ext cx="2103120" cy="1188720"/>
          </a:xfrm>
          <a:prstGeom prst="rect">
            <a:avLst/>
          </a:prstGeom>
          <a:noFill/>
        </p:spPr>
        <p:txBody>
          <a:bodyPr wrap="square" anchor="t">
            <a:spAutoFit/>
          </a:bodyPr>
          <a:lstStyle/>
          <a:p>
            <a:pPr algn="ctr"/>
            <a:r>
              <a:t>PM/compliance +</a:t>
            </a:r>
          </a:p>
          <a:p>
            <a:r>
              <a:t>revalidation success</a:t>
            </a:r>
          </a:p>
        </p:txBody>
      </p:sp>
      <p:sp>
        <p:nvSpPr>
          <p:cNvPr id="18" name="Right Arrow 17"/>
          <p:cNvSpPr/>
          <p:nvPr/>
        </p:nvSpPr>
        <p:spPr>
          <a:xfrm>
            <a:off x="3075712" y="2657993"/>
            <a:ext cx="411480" cy="320040"/>
          </a:xfrm>
          <a:prstGeom prst="rightArrow">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ight Arrow 18"/>
          <p:cNvSpPr/>
          <p:nvPr/>
        </p:nvSpPr>
        <p:spPr>
          <a:xfrm>
            <a:off x="5818912" y="2657993"/>
            <a:ext cx="411480" cy="320040"/>
          </a:xfrm>
          <a:prstGeom prst="rightArrow">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ight Arrow 19"/>
          <p:cNvSpPr/>
          <p:nvPr/>
        </p:nvSpPr>
        <p:spPr>
          <a:xfrm>
            <a:off x="8562112" y="2657993"/>
            <a:ext cx="411480" cy="320040"/>
          </a:xfrm>
          <a:prstGeom prst="rightArrow">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89712" y="3983873"/>
            <a:ext cx="10515600" cy="594360"/>
          </a:xfrm>
          <a:prstGeom prst="roundRect">
            <a:avLst/>
          </a:prstGeom>
          <a:noFill/>
          <a:ln w="254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04312" y="4121033"/>
            <a:ext cx="5486400" cy="457200"/>
          </a:xfrm>
          <a:prstGeom prst="rect">
            <a:avLst/>
          </a:prstGeom>
          <a:noFill/>
        </p:spPr>
        <p:txBody>
          <a:bodyPr wrap="square" anchor="t">
            <a:spAutoFit/>
          </a:bodyPr>
          <a:lstStyle/>
          <a:p>
            <a:pPr algn="ctr"/>
            <a:r>
              <a:t>EXECUTED</a:t>
            </a:r>
          </a:p>
        </p:txBody>
      </p:sp>
      <p:sp>
        <p:nvSpPr>
          <p:cNvPr id="23" name="Rounded Rectangle 22"/>
          <p:cNvSpPr/>
          <p:nvPr/>
        </p:nvSpPr>
        <p:spPr>
          <a:xfrm>
            <a:off x="5081155" y="5029200"/>
            <a:ext cx="2286000" cy="822960"/>
          </a:xfrm>
          <a:prstGeom prst="round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t>Action completed</a:t>
            </a:r>
            <a:endParaRPr/>
          </a:p>
          <a:p>
            <a:r>
              <a:t>and tracked</a:t>
            </a:r>
          </a:p>
        </p:txBody>
      </p:sp>
      <p:sp>
        <p:nvSpPr>
          <p:cNvPr id="24" name="TextBox 23"/>
          <p:cNvSpPr txBox="1"/>
          <p:nvPr/>
        </p:nvSpPr>
        <p:spPr>
          <a:xfrm>
            <a:off x="5172595" y="5074920"/>
            <a:ext cx="2103120" cy="320040"/>
          </a:xfrm>
          <a:prstGeom prst="rect">
            <a:avLst/>
          </a:prstGeom>
          <a:noFill/>
        </p:spPr>
        <p:txBody>
          <a:bodyPr wrap="square" anchor="t">
            <a:spAutoFit/>
          </a:bodyPr>
          <a:lstStyle/>
          <a:p>
            <a:pPr algn="ctr"/>
            <a:r>
              <a:t>Live Activity Use</a:t>
            </a:r>
          </a:p>
        </p:txBody>
      </p:sp>
      <p:sp>
        <p:nvSpPr>
          <p:cNvPr id="25" name="TextBox 24"/>
          <p:cNvSpPr txBox="1"/>
          <p:nvPr/>
        </p:nvSpPr>
        <p:spPr>
          <a:xfrm>
            <a:off x="5172595" y="5349240"/>
            <a:ext cx="2103120" cy="457200"/>
          </a:xfrm>
          <a:prstGeom prst="rect">
            <a:avLst/>
          </a:prstGeom>
          <a:noFill/>
        </p:spPr>
        <p:txBody>
          <a:bodyPr wrap="square" anchor="t">
            <a:spAutoFit/>
          </a:bodyPr>
          <a:lstStyle/>
          <a:p>
            <a:pPr algn="ctr"/>
            <a:r>
              <a:t>Confirm freshness and latest transitions</a:t>
            </a:r>
          </a:p>
        </p:txBody>
      </p:sp>
      <p:sp>
        <p:nvSpPr>
          <p:cNvPr id="26" name="Down Arrow 25"/>
          <p:cNvSpPr/>
          <p:nvPr/>
        </p:nvSpPr>
        <p:spPr>
          <a:xfrm>
            <a:off x="6024652" y="4693573"/>
            <a:ext cx="365760" cy="228600"/>
          </a:xfrm>
          <a:prstGeom prst="downArrow">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550035" y="5166360"/>
            <a:ext cx="2286000" cy="548640"/>
          </a:xfrm>
          <a:prstGeom prst="rect">
            <a:avLst/>
          </a:prstGeom>
          <a:noFill/>
        </p:spPr>
        <p:txBody>
          <a:bodyPr wrap="square" anchor="t">
            <a:spAutoFit/>
          </a:bodyPr>
          <a:lstStyle/>
          <a:p>
            <a:pPr algn="l"/>
            <a:r>
              <a:t>Investigate delays via reason fields</a:t>
            </a:r>
          </a:p>
        </p:txBody>
      </p:sp>
      <p:sp>
        <p:nvSpPr>
          <p:cNvPr id="28" name="Rounded Rectangle 27"/>
          <p:cNvSpPr/>
          <p:nvPr/>
        </p:nvSpPr>
        <p:spPr>
          <a:xfrm>
            <a:off x="457200" y="6035040"/>
            <a:ext cx="11247120" cy="64008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6080760"/>
            <a:ext cx="10789920" cy="502920"/>
          </a:xfrm>
          <a:prstGeom prst="rect">
            <a:avLst/>
          </a:prstGeom>
          <a:noFill/>
        </p:spPr>
        <p:txBody>
          <a:bodyPr wrap="square" anchor="t">
            <a:spAutoFit/>
          </a:bodyPr>
          <a:lstStyle/>
          <a:p>
            <a:pPr algn="ctr"/>
            <a:r>
              <a:t>Cross-check with AI Agent Decisions + Runs.</a:t>
            </a:r>
          </a:p>
          <a:p>
            <a:r>
              <a:t>Committee touchpoint is explicit and auditable.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9144000" cy="640080"/>
          </a:xfrm>
          <a:prstGeom prst="rect">
            <a:avLst/>
          </a:prstGeom>
          <a:noFill/>
        </p:spPr>
        <p:txBody>
          <a:bodyPr wrap="square" anchor="t">
            <a:spAutoFit/>
          </a:bodyPr>
          <a:lstStyle/>
          <a:p>
            <a:pPr algn="l"/>
            <a:r>
              <a:t>News Intelligence</a:t>
            </a:r>
          </a:p>
        </p:txBody>
      </p:sp>
      <p:sp>
        <p:nvSpPr>
          <p:cNvPr id="4" name="Rectangle 3"/>
          <p:cNvSpPr/>
          <p:nvPr/>
        </p:nvSpPr>
        <p:spPr>
          <a:xfrm>
            <a:off x="731520" y="77724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43000"/>
            <a:ext cx="10515600" cy="457200"/>
          </a:xfrm>
          <a:prstGeom prst="rect">
            <a:avLst/>
          </a:prstGeom>
          <a:noFill/>
        </p:spPr>
        <p:txBody>
          <a:bodyPr wrap="square" anchor="t">
            <a:spAutoFit/>
          </a:bodyPr>
          <a:lstStyle/>
          <a:p>
            <a:pPr algn="l"/>
            <a:r>
              <a:t>Evidence-backed news context for decisions. Explainable and bounded, not narrative guesswork.</a:t>
            </a:r>
          </a:p>
        </p:txBody>
      </p:sp>
      <p:sp>
        <p:nvSpPr>
          <p:cNvPr id="6" name="Rounded Rectangle 5"/>
          <p:cNvSpPr/>
          <p:nvPr/>
        </p:nvSpPr>
        <p:spPr>
          <a:xfrm>
            <a:off x="411480" y="1828800"/>
            <a:ext cx="2651760" cy="4389120"/>
          </a:xfrm>
          <a:prstGeom prst="roundRect">
            <a:avLst/>
          </a:prstGeom>
          <a:solidFill>
            <a:srgbClr val="FAFBFC"/>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828800"/>
            <a:ext cx="2651760" cy="63500"/>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2011680"/>
            <a:ext cx="640080" cy="256032"/>
          </a:xfrm>
          <a:prstGeom prst="roundRect">
            <a:avLst/>
          </a:prstGeom>
          <a:solidFill>
            <a:srgbClr val="E8D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2011680"/>
            <a:ext cx="548640" cy="256032"/>
          </a:xfrm>
          <a:prstGeom prst="rect">
            <a:avLst/>
          </a:prstGeom>
          <a:noFill/>
        </p:spPr>
        <p:txBody>
          <a:bodyPr wrap="square" anchor="ctr">
            <a:spAutoFit/>
          </a:bodyPr>
          <a:lstStyle/>
          <a:p>
            <a:pPr algn="ctr"/>
            <a:r>
              <a:t>CONTEXT</a:t>
            </a:r>
          </a:p>
        </p:txBody>
      </p:sp>
      <p:sp>
        <p:nvSpPr>
          <p:cNvPr id="10" name="TextBox 9"/>
          <p:cNvSpPr txBox="1"/>
          <p:nvPr/>
        </p:nvSpPr>
        <p:spPr>
          <a:xfrm>
            <a:off x="548640" y="2377440"/>
            <a:ext cx="2377440" cy="365760"/>
          </a:xfrm>
          <a:prstGeom prst="rect">
            <a:avLst/>
          </a:prstGeom>
          <a:noFill/>
        </p:spPr>
        <p:txBody>
          <a:bodyPr wrap="square" anchor="t">
            <a:spAutoFit/>
          </a:bodyPr>
          <a:lstStyle/>
          <a:p>
            <a:pPr algn="l"/>
            <a:r>
              <a:t>Market KPIs</a:t>
            </a:r>
          </a:p>
        </p:txBody>
      </p:sp>
      <p:sp>
        <p:nvSpPr>
          <p:cNvPr id="11" name="TextBox 10"/>
          <p:cNvSpPr txBox="1"/>
          <p:nvPr/>
        </p:nvSpPr>
        <p:spPr>
          <a:xfrm>
            <a:off x="548640" y="2834640"/>
            <a:ext cx="2377440" cy="914400"/>
          </a:xfrm>
          <a:prstGeom prst="rect">
            <a:avLst/>
          </a:prstGeom>
          <a:noFill/>
        </p:spPr>
        <p:txBody>
          <a:bodyPr wrap="square" anchor="t">
            <a:spAutoFit/>
          </a:bodyPr>
          <a:lstStyle/>
          <a:p>
            <a:pPr algn="l"/>
            <a:r>
              <a:t>Symbols with news</a:t>
            </a:r>
          </a:p>
          <a:p>
            <a:r>
              <a:t>HOT symbols</a:t>
            </a:r>
          </a:p>
          <a:p>
            <a:r>
              <a:t>snapshot age</a:t>
            </a:r>
          </a:p>
        </p:txBody>
      </p:sp>
      <p:sp>
        <p:nvSpPr>
          <p:cNvPr id="12" name="TextBox 11"/>
          <p:cNvSpPr txBox="1"/>
          <p:nvPr/>
        </p:nvSpPr>
        <p:spPr>
          <a:xfrm>
            <a:off x="548640" y="3840480"/>
            <a:ext cx="2377440" cy="2194560"/>
          </a:xfrm>
          <a:prstGeom prst="rect">
            <a:avLst/>
          </a:prstGeom>
          <a:noFill/>
        </p:spPr>
        <p:txBody>
          <a:bodyPr wrap="square" anchor="t">
            <a:spAutoFit/>
          </a:bodyPr>
          <a:lstStyle/>
          <a:p>
            <a:pPr algn="l"/>
          </a:p>
        </p:txBody>
      </p:sp>
      <p:sp>
        <p:nvSpPr>
          <p:cNvPr id="13" name="Rounded Rectangle 12"/>
          <p:cNvSpPr/>
          <p:nvPr/>
        </p:nvSpPr>
        <p:spPr>
          <a:xfrm>
            <a:off x="3337560" y="1828800"/>
            <a:ext cx="2651760" cy="4389120"/>
          </a:xfrm>
          <a:prstGeom prst="roundRect">
            <a:avLst/>
          </a:prstGeom>
          <a:solidFill>
            <a:srgbClr val="FAFBFC"/>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37560" y="1828800"/>
            <a:ext cx="2651760" cy="63500"/>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29000" y="2011680"/>
            <a:ext cx="640080" cy="256032"/>
          </a:xfrm>
          <a:prstGeom prst="roundRect">
            <a:avLst/>
          </a:prstGeom>
          <a:solidFill>
            <a:srgbClr val="E8D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0" y="2011680"/>
            <a:ext cx="548640" cy="256032"/>
          </a:xfrm>
          <a:prstGeom prst="rect">
            <a:avLst/>
          </a:prstGeom>
          <a:noFill/>
        </p:spPr>
        <p:txBody>
          <a:bodyPr wrap="square" anchor="ctr">
            <a:spAutoFit/>
          </a:bodyPr>
          <a:lstStyle/>
          <a:p>
            <a:pPr algn="ctr"/>
            <a:r>
              <a:t>IMPACT</a:t>
            </a:r>
          </a:p>
        </p:txBody>
      </p:sp>
      <p:sp>
        <p:nvSpPr>
          <p:cNvPr id="17" name="TextBox 16"/>
          <p:cNvSpPr txBox="1"/>
          <p:nvPr/>
        </p:nvSpPr>
        <p:spPr>
          <a:xfrm>
            <a:off x="3474720" y="2377440"/>
            <a:ext cx="2377440" cy="365760"/>
          </a:xfrm>
          <a:prstGeom prst="rect">
            <a:avLst/>
          </a:prstGeom>
          <a:noFill/>
        </p:spPr>
        <p:txBody>
          <a:bodyPr wrap="square" anchor="t">
            <a:spAutoFit/>
          </a:bodyPr>
          <a:lstStyle/>
          <a:p>
            <a:pPr algn="l"/>
            <a:r>
              <a:t>Decision Impact</a:t>
            </a:r>
          </a:p>
        </p:txBody>
      </p:sp>
      <p:sp>
        <p:nvSpPr>
          <p:cNvPr id="18" name="TextBox 17"/>
          <p:cNvSpPr txBox="1"/>
          <p:nvPr/>
        </p:nvSpPr>
        <p:spPr>
          <a:xfrm>
            <a:off x="3474720" y="2834640"/>
            <a:ext cx="2377440" cy="914400"/>
          </a:xfrm>
          <a:prstGeom prst="rect">
            <a:avLst/>
          </a:prstGeom>
          <a:noFill/>
        </p:spPr>
        <p:txBody>
          <a:bodyPr wrap="square" anchor="t">
            <a:spAutoFit/>
          </a:bodyPr>
          <a:lstStyle/>
          <a:p>
            <a:pPr algn="l"/>
            <a:r>
              <a:t>Proposals scoped</a:t>
            </a:r>
          </a:p>
          <a:p>
            <a:r>
              <a:t>with context/adj</a:t>
            </a:r>
          </a:p>
          <a:p>
            <a:r>
              <a:t>blocked by news risk</a:t>
            </a:r>
          </a:p>
        </p:txBody>
      </p:sp>
      <p:sp>
        <p:nvSpPr>
          <p:cNvPr id="19" name="TextBox 18"/>
          <p:cNvSpPr txBox="1"/>
          <p:nvPr/>
        </p:nvSpPr>
        <p:spPr>
          <a:xfrm>
            <a:off x="3474720" y="3840480"/>
            <a:ext cx="2377440" cy="2194560"/>
          </a:xfrm>
          <a:prstGeom prst="rect">
            <a:avLst/>
          </a:prstGeom>
          <a:noFill/>
        </p:spPr>
        <p:txBody>
          <a:bodyPr wrap="square" anchor="t">
            <a:spAutoFit/>
          </a:bodyPr>
          <a:lstStyle/>
          <a:p>
            <a:pPr algn="l"/>
          </a:p>
        </p:txBody>
      </p:sp>
      <p:sp>
        <p:nvSpPr>
          <p:cNvPr id="20" name="Rounded Rectangle 19"/>
          <p:cNvSpPr/>
          <p:nvPr/>
        </p:nvSpPr>
        <p:spPr>
          <a:xfrm>
            <a:off x="6263640" y="1828800"/>
            <a:ext cx="2651760" cy="4389120"/>
          </a:xfrm>
          <a:prstGeom prst="roundRect">
            <a:avLst/>
          </a:prstGeom>
          <a:solidFill>
            <a:srgbClr val="FAFBFC"/>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1828800"/>
            <a:ext cx="2651760" cy="63500"/>
          </a:xfrm>
          <a:prstGeom prst="rect">
            <a:avLst/>
          </a:prstGeom>
          <a:solidFill>
            <a:srgbClr val="20C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355080" y="2011680"/>
            <a:ext cx="640080" cy="256032"/>
          </a:xfrm>
          <a:prstGeom prst="roundRect">
            <a:avLst/>
          </a:prstGeom>
          <a:solidFill>
            <a:srgbClr val="E8D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2011680"/>
            <a:ext cx="548640" cy="256032"/>
          </a:xfrm>
          <a:prstGeom prst="rect">
            <a:avLst/>
          </a:prstGeom>
          <a:noFill/>
        </p:spPr>
        <p:txBody>
          <a:bodyPr wrap="square" anchor="ctr">
            <a:spAutoFit/>
          </a:bodyPr>
          <a:lstStyle/>
          <a:p>
            <a:pPr algn="ctr"/>
            <a:r>
              <a:t>HOT</a:t>
            </a:r>
          </a:p>
        </p:txBody>
      </p:sp>
      <p:sp>
        <p:nvSpPr>
          <p:cNvPr id="24" name="TextBox 23"/>
          <p:cNvSpPr txBox="1"/>
          <p:nvPr/>
        </p:nvSpPr>
        <p:spPr>
          <a:xfrm>
            <a:off x="6400800" y="2377440"/>
            <a:ext cx="2377440" cy="365760"/>
          </a:xfrm>
          <a:prstGeom prst="rect">
            <a:avLst/>
          </a:prstGeom>
          <a:noFill/>
        </p:spPr>
        <p:txBody>
          <a:bodyPr wrap="square" anchor="t">
            <a:spAutoFit/>
          </a:bodyPr>
          <a:lstStyle/>
          <a:p>
            <a:pPr algn="l"/>
            <a:r>
              <a:t>Sidebar marker</a:t>
            </a:r>
          </a:p>
        </p:txBody>
      </p:sp>
      <p:sp>
        <p:nvSpPr>
          <p:cNvPr id="25" name="TextBox 24"/>
          <p:cNvSpPr txBox="1"/>
          <p:nvPr/>
        </p:nvSpPr>
        <p:spPr>
          <a:xfrm>
            <a:off x="6400800" y="2834640"/>
            <a:ext cx="2377440" cy="914400"/>
          </a:xfrm>
          <a:prstGeom prst="rect">
            <a:avLst/>
          </a:prstGeom>
          <a:noFill/>
        </p:spPr>
        <p:txBody>
          <a:bodyPr wrap="square" anchor="t">
            <a:spAutoFit/>
          </a:bodyPr>
          <a:lstStyle/>
          <a:p>
            <a:pPr algn="l"/>
            <a:r>
              <a:t>Unseen + decision-relevant</a:t>
            </a:r>
          </a:p>
          <a:p>
            <a:r>
              <a:t>news only</a:t>
            </a:r>
          </a:p>
        </p:txBody>
      </p:sp>
      <p:sp>
        <p:nvSpPr>
          <p:cNvPr id="26" name="TextBox 25"/>
          <p:cNvSpPr txBox="1"/>
          <p:nvPr/>
        </p:nvSpPr>
        <p:spPr>
          <a:xfrm>
            <a:off x="6400800" y="3840480"/>
            <a:ext cx="2377440" cy="2194560"/>
          </a:xfrm>
          <a:prstGeom prst="rect">
            <a:avLst/>
          </a:prstGeom>
          <a:noFill/>
        </p:spPr>
        <p:txBody>
          <a:bodyPr wrap="square" anchor="t">
            <a:spAutoFit/>
          </a:bodyPr>
          <a:lstStyle/>
          <a:p>
            <a:pPr algn="l"/>
          </a:p>
        </p:txBody>
      </p:sp>
      <p:sp>
        <p:nvSpPr>
          <p:cNvPr id="27" name="Rounded Rectangle 26"/>
          <p:cNvSpPr/>
          <p:nvPr/>
        </p:nvSpPr>
        <p:spPr>
          <a:xfrm>
            <a:off x="9189720" y="1828800"/>
            <a:ext cx="2651760" cy="4389120"/>
          </a:xfrm>
          <a:prstGeom prst="roundRect">
            <a:avLst/>
          </a:prstGeom>
          <a:solidFill>
            <a:srgbClr val="FAFBFC"/>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189720" y="1828800"/>
            <a:ext cx="2651760" cy="635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281160" y="2011680"/>
            <a:ext cx="640080" cy="256032"/>
          </a:xfrm>
          <a:prstGeom prst="roundRect">
            <a:avLst/>
          </a:prstGeom>
          <a:solidFill>
            <a:srgbClr val="E8D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326880" y="2011680"/>
            <a:ext cx="548640" cy="256032"/>
          </a:xfrm>
          <a:prstGeom prst="rect">
            <a:avLst/>
          </a:prstGeom>
          <a:noFill/>
        </p:spPr>
        <p:txBody>
          <a:bodyPr wrap="square" anchor="ctr">
            <a:spAutoFit/>
          </a:bodyPr>
          <a:lstStyle/>
          <a:p>
            <a:pPr algn="ctr"/>
            <a:r>
              <a:t>GUARDRAILS</a:t>
            </a:r>
          </a:p>
        </p:txBody>
      </p:sp>
      <p:sp>
        <p:nvSpPr>
          <p:cNvPr id="31" name="TextBox 30"/>
          <p:cNvSpPr txBox="1"/>
          <p:nvPr/>
        </p:nvSpPr>
        <p:spPr>
          <a:xfrm>
            <a:off x="9326880" y="2377440"/>
            <a:ext cx="2377440" cy="365760"/>
          </a:xfrm>
          <a:prstGeom prst="rect">
            <a:avLst/>
          </a:prstGeom>
          <a:noFill/>
        </p:spPr>
        <p:txBody>
          <a:bodyPr wrap="square" anchor="t">
            <a:spAutoFit/>
          </a:bodyPr>
          <a:lstStyle/>
          <a:p>
            <a:pPr algn="l"/>
            <a:r>
              <a:t>Quality controls</a:t>
            </a:r>
          </a:p>
        </p:txBody>
      </p:sp>
      <p:sp>
        <p:nvSpPr>
          <p:cNvPr id="32" name="TextBox 31"/>
          <p:cNvSpPr txBox="1"/>
          <p:nvPr/>
        </p:nvSpPr>
        <p:spPr>
          <a:xfrm>
            <a:off x="9326880" y="2834640"/>
            <a:ext cx="2377440" cy="914400"/>
          </a:xfrm>
          <a:prstGeom prst="rect">
            <a:avLst/>
          </a:prstGeom>
          <a:noFill/>
        </p:spPr>
        <p:txBody>
          <a:bodyPr wrap="square" anchor="t">
            <a:spAutoFit/>
          </a:bodyPr>
          <a:lstStyle/>
          <a:p>
            <a:pPr algn="l"/>
            <a:r>
              <a:t>Invalid URLs excluded</a:t>
            </a:r>
          </a:p>
          <a:p>
            <a:r>
              <a:t>freshness explicit</a:t>
            </a:r>
          </a:p>
          <a:p>
            <a:r>
              <a:t>influence bounded</a:t>
            </a:r>
          </a:p>
        </p:txBody>
      </p:sp>
      <p:sp>
        <p:nvSpPr>
          <p:cNvPr id="33" name="TextBox 32"/>
          <p:cNvSpPr txBox="1"/>
          <p:nvPr/>
        </p:nvSpPr>
        <p:spPr>
          <a:xfrm>
            <a:off x="9326880" y="3840480"/>
            <a:ext cx="2377440" cy="2194560"/>
          </a:xfrm>
          <a:prstGeom prst="rect">
            <a:avLst/>
          </a:prstGeom>
          <a:noFill/>
        </p:spPr>
        <p:txBody>
          <a:bodyPr wrap="square" anchor="t">
            <a:spAutoFit/>
          </a:bodyPr>
          <a:lstStyle/>
          <a:p>
            <a:pPr algn="l"/>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9144000" cy="523220"/>
          </a:xfrm>
          <a:prstGeom prst="rect">
            <a:avLst/>
          </a:prstGeom>
          <a:noFill/>
        </p:spPr>
        <p:txBody>
          <a:bodyPr wrap="square" anchor="t">
            <a:spAutoFit/>
          </a:bodyPr>
          <a:lstStyle/>
          <a:p>
            <a:pPr algn="l"/>
            <a:r>
              <a:t>AI Agent Decisions (Committee)</a:t>
            </a:r>
          </a:p>
        </p:txBody>
      </p:sp>
      <p:sp>
        <p:nvSpPr>
          <p:cNvPr id="4" name="Rectangle 3"/>
          <p:cNvSpPr/>
          <p:nvPr/>
        </p:nvSpPr>
        <p:spPr>
          <a:xfrm>
            <a:off x="731520" y="77724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97280"/>
            <a:ext cx="10058400" cy="365760"/>
          </a:xfrm>
          <a:prstGeom prst="rect">
            <a:avLst/>
          </a:prstGeom>
          <a:noFill/>
        </p:spPr>
        <p:txBody>
          <a:bodyPr wrap="square" anchor="t">
            <a:spAutoFit/>
          </a:bodyPr>
          <a:lstStyle/>
          <a:p>
            <a:pPr algn="l"/>
            <a:r>
              <a:t>Decision courtroom for simulation + live workflows: verdict, reason codes, and revalidation.</a:t>
            </a:r>
          </a:p>
        </p:txBody>
      </p:sp>
      <p:sp>
        <p:nvSpPr>
          <p:cNvPr id="6" name="Rounded Rectangle 5"/>
          <p:cNvSpPr/>
          <p:nvPr/>
        </p:nvSpPr>
        <p:spPr>
          <a:xfrm>
            <a:off x="457200" y="1645920"/>
            <a:ext cx="3474720" cy="4297680"/>
          </a:xfrm>
          <a:prstGeom prst="roundRect">
            <a:avLst/>
          </a:prstGeom>
          <a:solidFill>
            <a:srgbClr val="FAFBFC"/>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45920"/>
            <a:ext cx="3474720" cy="63500"/>
          </a:xfrm>
          <a:prstGeom prst="rect">
            <a:avLst/>
          </a:prstGeom>
          <a:solidFill>
            <a:srgbClr val="20C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828800"/>
            <a:ext cx="3200400" cy="640080"/>
          </a:xfrm>
          <a:prstGeom prst="rect">
            <a:avLst/>
          </a:prstGeom>
          <a:noFill/>
        </p:spPr>
        <p:txBody>
          <a:bodyPr wrap="square" anchor="t">
            <a:spAutoFit/>
          </a:bodyPr>
          <a:lstStyle/>
          <a:p>
            <a:pPr algn="l"/>
            <a:r>
              <a:t>1. Proposal</a:t>
            </a:r>
          </a:p>
          <a:p>
            <a:r>
              <a:t>Context</a:t>
            </a:r>
          </a:p>
        </p:txBody>
      </p:sp>
      <p:sp>
        <p:nvSpPr>
          <p:cNvPr id="9" name="TextBox 8"/>
          <p:cNvSpPr txBox="1"/>
          <p:nvPr/>
        </p:nvSpPr>
        <p:spPr>
          <a:xfrm>
            <a:off x="594360" y="2514600"/>
            <a:ext cx="3200400" cy="3291840"/>
          </a:xfrm>
          <a:prstGeom prst="rect">
            <a:avLst/>
          </a:prstGeom>
          <a:noFill/>
        </p:spPr>
        <p:txBody>
          <a:bodyPr wrap="square" anchor="t">
            <a:spAutoFit/>
          </a:bodyPr>
          <a:lstStyle/>
          <a:p>
            <a:pPr algn="l"/>
            <a:r>
              <a:t>Structured snapshot:</a:t>
            </a:r>
          </a:p>
          <a:p>
            <a:r>
              <a:t>trust, risk, capacity,</a:t>
            </a:r>
          </a:p>
          <a:p>
            <a:r>
              <a:t>news, freshness, timing.</a:t>
            </a:r>
          </a:p>
        </p:txBody>
      </p:sp>
      <p:sp>
        <p:nvSpPr>
          <p:cNvPr id="10" name="Right Arrow 9"/>
          <p:cNvSpPr/>
          <p:nvPr/>
        </p:nvSpPr>
        <p:spPr>
          <a:xfrm>
            <a:off x="3977640" y="3200400"/>
            <a:ext cx="320040" cy="320040"/>
          </a:xfrm>
          <a:prstGeom prst="rightArrow">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297680" y="1645920"/>
            <a:ext cx="3474720" cy="4297680"/>
          </a:xfrm>
          <a:prstGeom prst="roundRect">
            <a:avLst/>
          </a:prstGeom>
          <a:solidFill>
            <a:srgbClr val="FAFBFC"/>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1645920"/>
            <a:ext cx="3474720" cy="63500"/>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34840" y="1828800"/>
            <a:ext cx="3200400" cy="640080"/>
          </a:xfrm>
          <a:prstGeom prst="rect">
            <a:avLst/>
          </a:prstGeom>
          <a:noFill/>
        </p:spPr>
        <p:txBody>
          <a:bodyPr wrap="square" anchor="t">
            <a:spAutoFit/>
          </a:bodyPr>
          <a:lstStyle/>
          <a:p>
            <a:pPr algn="l"/>
            <a:r>
              <a:t>2. Committee</a:t>
            </a:r>
          </a:p>
          <a:p>
            <a:r>
              <a:t>Evaluation</a:t>
            </a:r>
          </a:p>
        </p:txBody>
      </p:sp>
      <p:sp>
        <p:nvSpPr>
          <p:cNvPr id="14" name="TextBox 13"/>
          <p:cNvSpPr txBox="1"/>
          <p:nvPr/>
        </p:nvSpPr>
        <p:spPr>
          <a:xfrm>
            <a:off x="4434840" y="2514600"/>
            <a:ext cx="3200400" cy="3291840"/>
          </a:xfrm>
          <a:prstGeom prst="rect">
            <a:avLst/>
          </a:prstGeom>
          <a:noFill/>
        </p:spPr>
        <p:txBody>
          <a:bodyPr wrap="square" anchor="t">
            <a:spAutoFit/>
          </a:bodyPr>
          <a:lstStyle/>
          <a:p>
            <a:pPr algn="l"/>
            <a:r>
              <a:t>Verdict + summary +</a:t>
            </a:r>
          </a:p>
          <a:p>
            <a:r>
              <a:t>reason tags generated</a:t>
            </a:r>
          </a:p>
          <a:p>
            <a:r>
              <a:t>from bounded evidence.</a:t>
            </a:r>
          </a:p>
        </p:txBody>
      </p:sp>
      <p:sp>
        <p:nvSpPr>
          <p:cNvPr id="15" name="Right Arrow 14"/>
          <p:cNvSpPr/>
          <p:nvPr/>
        </p:nvSpPr>
        <p:spPr>
          <a:xfrm>
            <a:off x="7818120" y="3200400"/>
            <a:ext cx="320040" cy="320040"/>
          </a:xfrm>
          <a:prstGeom prst="rightArrow">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138160" y="1645920"/>
            <a:ext cx="3474720" cy="4297680"/>
          </a:xfrm>
          <a:prstGeom prst="roundRect">
            <a:avLst/>
          </a:prstGeom>
          <a:solidFill>
            <a:srgbClr val="FAFBFC"/>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38160" y="1645920"/>
            <a:ext cx="3474720" cy="63500"/>
          </a:xfrm>
          <a:prstGeom prst="rect">
            <a:avLst/>
          </a:prstGeom>
          <a:solidFill>
            <a:srgbClr val="4A2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75320" y="1828800"/>
            <a:ext cx="3200400" cy="640080"/>
          </a:xfrm>
          <a:prstGeom prst="rect">
            <a:avLst/>
          </a:prstGeom>
          <a:noFill/>
        </p:spPr>
        <p:txBody>
          <a:bodyPr wrap="square" anchor="t">
            <a:spAutoFit/>
          </a:bodyPr>
          <a:lstStyle/>
          <a:p>
            <a:pPr algn="l"/>
            <a:r>
              <a:t>3. Revalidation</a:t>
            </a:r>
          </a:p>
          <a:p>
            <a:r>
              <a:t>Before Action</a:t>
            </a:r>
          </a:p>
        </p:txBody>
      </p:sp>
      <p:sp>
        <p:nvSpPr>
          <p:cNvPr id="19" name="TextBox 18"/>
          <p:cNvSpPr txBox="1"/>
          <p:nvPr/>
        </p:nvSpPr>
        <p:spPr>
          <a:xfrm>
            <a:off x="8275320" y="2514600"/>
            <a:ext cx="3200400" cy="3291840"/>
          </a:xfrm>
          <a:prstGeom prst="rect">
            <a:avLst/>
          </a:prstGeom>
          <a:noFill/>
        </p:spPr>
        <p:txBody>
          <a:bodyPr wrap="square" anchor="t">
            <a:spAutoFit/>
          </a:bodyPr>
          <a:lstStyle/>
          <a:p>
            <a:pPr algn="l"/>
            <a:r>
              <a:t>Final checks before execution:</a:t>
            </a:r>
          </a:p>
          <a:p>
            <a:r>
              <a:t>if conditions changed,</a:t>
            </a:r>
          </a:p>
          <a:p>
            <a:r>
              <a:t>status can downgrade.</a:t>
            </a:r>
          </a:p>
        </p:txBody>
      </p:sp>
      <p:sp>
        <p:nvSpPr>
          <p:cNvPr id="20" name="Rounded Rectangle 19"/>
          <p:cNvSpPr/>
          <p:nvPr/>
        </p:nvSpPr>
        <p:spPr>
          <a:xfrm>
            <a:off x="457200" y="6126480"/>
            <a:ext cx="11247120" cy="59436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6172200"/>
            <a:ext cx="10789920" cy="457200"/>
          </a:xfrm>
          <a:prstGeom prst="rect">
            <a:avLst/>
          </a:prstGeom>
          <a:noFill/>
        </p:spPr>
        <p:txBody>
          <a:bodyPr wrap="square" anchor="t">
            <a:spAutoFit/>
          </a:bodyPr>
          <a:lstStyle/>
          <a:p>
            <a:pPr algn="ctr"/>
            <a:r>
              <a:t>Typical status journey: PROPOSED -&gt; APPROVED -&gt; REJECTED or EXECUTED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9144000" cy="640080"/>
          </a:xfrm>
          <a:prstGeom prst="rect">
            <a:avLst/>
          </a:prstGeom>
          <a:noFill/>
        </p:spPr>
        <p:txBody>
          <a:bodyPr wrap="square" anchor="t">
            <a:spAutoFit/>
          </a:bodyPr>
          <a:lstStyle/>
          <a:p>
            <a:pPr algn="l"/>
            <a:r>
              <a:t>Parallel Worlds</a:t>
            </a:r>
          </a:p>
        </p:txBody>
      </p:sp>
      <p:sp>
        <p:nvSpPr>
          <p:cNvPr id="4" name="Rectangle 3"/>
          <p:cNvSpPr/>
          <p:nvPr/>
        </p:nvSpPr>
        <p:spPr>
          <a:xfrm>
            <a:off x="731520" y="77724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51560"/>
            <a:ext cx="10058400" cy="457200"/>
          </a:xfrm>
          <a:prstGeom prst="rect">
            <a:avLst/>
          </a:prstGeom>
          <a:noFill/>
        </p:spPr>
        <p:txBody>
          <a:bodyPr wrap="square" anchor="t">
            <a:spAutoFit/>
          </a:bodyPr>
          <a:lstStyle/>
          <a:p>
            <a:pPr algn="l"/>
            <a:r>
              <a:t>Counterfactual lab: replay same market data through alternative rules and measure regret safely.</a:t>
            </a:r>
          </a:p>
        </p:txBody>
      </p:sp>
      <p:sp>
        <p:nvSpPr>
          <p:cNvPr id="6" name="TextBox 5"/>
          <p:cNvSpPr txBox="1"/>
          <p:nvPr/>
        </p:nvSpPr>
        <p:spPr>
          <a:xfrm>
            <a:off x="731520" y="1691640"/>
            <a:ext cx="4572000" cy="365760"/>
          </a:xfrm>
          <a:prstGeom prst="rect">
            <a:avLst/>
          </a:prstGeom>
          <a:noFill/>
        </p:spPr>
        <p:txBody>
          <a:bodyPr wrap="square" anchor="t">
            <a:spAutoFit/>
          </a:bodyPr>
          <a:lstStyle/>
          <a:p>
            <a:pPr algn="l"/>
            <a:r>
              <a:t>What Is Tested</a:t>
            </a:r>
          </a:p>
        </p:txBody>
      </p:sp>
      <p:sp>
        <p:nvSpPr>
          <p:cNvPr id="7" name="Rounded Rectangle 6"/>
          <p:cNvSpPr/>
          <p:nvPr/>
        </p:nvSpPr>
        <p:spPr>
          <a:xfrm>
            <a:off x="274320" y="2103120"/>
            <a:ext cx="2148840" cy="4114800"/>
          </a:xfrm>
          <a:prstGeom prst="roundRect">
            <a:avLst/>
          </a:prstGeom>
          <a:solidFill>
            <a:srgbClr val="FAFBFC"/>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2103120"/>
            <a:ext cx="2148840" cy="63500"/>
          </a:xfrm>
          <a:prstGeom prst="rect">
            <a:avLst/>
          </a:prstGeom>
          <a:solidFill>
            <a:srgbClr val="20C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2240280"/>
            <a:ext cx="1965960" cy="320040"/>
          </a:xfrm>
          <a:prstGeom prst="rect">
            <a:avLst/>
          </a:prstGeom>
          <a:noFill/>
        </p:spPr>
        <p:txBody>
          <a:bodyPr wrap="square" anchor="t">
            <a:spAutoFit/>
          </a:bodyPr>
          <a:lstStyle/>
          <a:p>
            <a:pPr algn="l"/>
            <a:r>
              <a:t>Signal Filter</a:t>
            </a:r>
          </a:p>
        </p:txBody>
      </p:sp>
      <p:sp>
        <p:nvSpPr>
          <p:cNvPr id="10" name="TextBox 9"/>
          <p:cNvSpPr txBox="1"/>
          <p:nvPr/>
        </p:nvSpPr>
        <p:spPr>
          <a:xfrm>
            <a:off x="365760" y="2606040"/>
            <a:ext cx="1965960" cy="1371600"/>
          </a:xfrm>
          <a:prstGeom prst="rect">
            <a:avLst/>
          </a:prstGeom>
          <a:noFill/>
        </p:spPr>
        <p:txBody>
          <a:bodyPr wrap="square" anchor="t">
            <a:spAutoFit/>
          </a:bodyPr>
          <a:lstStyle/>
          <a:p>
            <a:pPr algn="l"/>
            <a:r>
              <a:t>Looser/tighter threshold</a:t>
            </a:r>
          </a:p>
          <a:p>
            <a:r>
              <a:t>for proposal eligibility</a:t>
            </a:r>
          </a:p>
        </p:txBody>
      </p:sp>
      <p:sp>
        <p:nvSpPr>
          <p:cNvPr id="11" name="Rectangle 10"/>
          <p:cNvSpPr/>
          <p:nvPr/>
        </p:nvSpPr>
        <p:spPr>
          <a:xfrm>
            <a:off x="320040" y="4114800"/>
            <a:ext cx="2057400" cy="1920240"/>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4114800"/>
            <a:ext cx="1965960" cy="228600"/>
          </a:xfrm>
          <a:prstGeom prst="rect">
            <a:avLst/>
          </a:prstGeom>
          <a:noFill/>
        </p:spPr>
        <p:txBody>
          <a:bodyPr wrap="square" anchor="t">
            <a:spAutoFit/>
          </a:bodyPr>
          <a:lstStyle/>
          <a:p>
            <a:pPr algn="l"/>
            <a:r>
              <a:t>Example Insight</a:t>
            </a:r>
          </a:p>
        </p:txBody>
      </p:sp>
      <p:sp>
        <p:nvSpPr>
          <p:cNvPr id="13" name="TextBox 12"/>
          <p:cNvSpPr txBox="1"/>
          <p:nvPr/>
        </p:nvSpPr>
        <p:spPr>
          <a:xfrm>
            <a:off x="365760" y="4389120"/>
            <a:ext cx="1965960" cy="1554480"/>
          </a:xfrm>
          <a:prstGeom prst="rect">
            <a:avLst/>
          </a:prstGeom>
          <a:noFill/>
        </p:spPr>
        <p:txBody>
          <a:bodyPr wrap="square" anchor="t">
            <a:spAutoFit/>
          </a:bodyPr>
          <a:lstStyle/>
          <a:p>
            <a:pPr algn="l"/>
            <a:r>
              <a:t>Looser filter improves PnL today,</a:t>
            </a:r>
          </a:p>
          <a:p>
            <a:r>
              <a:t>but confidence = Noise.</a:t>
            </a:r>
          </a:p>
        </p:txBody>
      </p:sp>
      <p:sp>
        <p:nvSpPr>
          <p:cNvPr id="14" name="Rounded Rectangle 13"/>
          <p:cNvSpPr/>
          <p:nvPr/>
        </p:nvSpPr>
        <p:spPr>
          <a:xfrm>
            <a:off x="2651760" y="2103120"/>
            <a:ext cx="2148840" cy="4114800"/>
          </a:xfrm>
          <a:prstGeom prst="roundRect">
            <a:avLst/>
          </a:prstGeom>
          <a:solidFill>
            <a:srgbClr val="FAFBFC"/>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651760" y="2103120"/>
            <a:ext cx="2148840" cy="63500"/>
          </a:xfrm>
          <a:prstGeom prst="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43200" y="2240280"/>
            <a:ext cx="1965960" cy="320040"/>
          </a:xfrm>
          <a:prstGeom prst="rect">
            <a:avLst/>
          </a:prstGeom>
          <a:noFill/>
        </p:spPr>
        <p:txBody>
          <a:bodyPr wrap="square" anchor="t">
            <a:spAutoFit/>
          </a:bodyPr>
          <a:lstStyle/>
          <a:p>
            <a:pPr algn="l"/>
            <a:r>
              <a:t>Position Size</a:t>
            </a:r>
          </a:p>
        </p:txBody>
      </p:sp>
      <p:sp>
        <p:nvSpPr>
          <p:cNvPr id="17" name="TextBox 16"/>
          <p:cNvSpPr txBox="1"/>
          <p:nvPr/>
        </p:nvSpPr>
        <p:spPr>
          <a:xfrm>
            <a:off x="2743200" y="2606040"/>
            <a:ext cx="1965960" cy="1371600"/>
          </a:xfrm>
          <a:prstGeom prst="rect">
            <a:avLst/>
          </a:prstGeom>
          <a:noFill/>
        </p:spPr>
        <p:txBody>
          <a:bodyPr wrap="square" anchor="t">
            <a:spAutoFit/>
          </a:bodyPr>
          <a:lstStyle/>
          <a:p>
            <a:pPr algn="l"/>
            <a:r>
              <a:t>50%-150% replay</a:t>
            </a:r>
          </a:p>
          <a:p>
            <a:r>
              <a:t>of current sizing</a:t>
            </a:r>
          </a:p>
        </p:txBody>
      </p:sp>
      <p:sp>
        <p:nvSpPr>
          <p:cNvPr id="18" name="Rectangle 17"/>
          <p:cNvSpPr/>
          <p:nvPr/>
        </p:nvSpPr>
        <p:spPr>
          <a:xfrm>
            <a:off x="2697480" y="4114800"/>
            <a:ext cx="2057400" cy="1920240"/>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43200" y="4114800"/>
            <a:ext cx="1965960" cy="228600"/>
          </a:xfrm>
          <a:prstGeom prst="rect">
            <a:avLst/>
          </a:prstGeom>
          <a:noFill/>
        </p:spPr>
        <p:txBody>
          <a:bodyPr wrap="square" anchor="t">
            <a:spAutoFit/>
          </a:bodyPr>
          <a:lstStyle/>
          <a:p>
            <a:pPr algn="l"/>
            <a:r>
              <a:t>Example Insight</a:t>
            </a:r>
          </a:p>
        </p:txBody>
      </p:sp>
      <p:sp>
        <p:nvSpPr>
          <p:cNvPr id="20" name="TextBox 19"/>
          <p:cNvSpPr txBox="1"/>
          <p:nvPr/>
        </p:nvSpPr>
        <p:spPr>
          <a:xfrm>
            <a:off x="2743200" y="4389120"/>
            <a:ext cx="1965960" cy="1554480"/>
          </a:xfrm>
          <a:prstGeom prst="rect">
            <a:avLst/>
          </a:prstGeom>
          <a:noFill/>
        </p:spPr>
        <p:txBody>
          <a:bodyPr wrap="square" anchor="t">
            <a:spAutoFit/>
          </a:bodyPr>
          <a:lstStyle/>
          <a:p>
            <a:pPr algn="l"/>
            <a:r>
              <a:t>125% size increased return</a:t>
            </a:r>
          </a:p>
          <a:p>
            <a:r>
              <a:t>with higher drawdown.</a:t>
            </a:r>
          </a:p>
        </p:txBody>
      </p:sp>
      <p:sp>
        <p:nvSpPr>
          <p:cNvPr id="21" name="Rounded Rectangle 20"/>
          <p:cNvSpPr/>
          <p:nvPr/>
        </p:nvSpPr>
        <p:spPr>
          <a:xfrm>
            <a:off x="5029200" y="2103120"/>
            <a:ext cx="2148840" cy="4114800"/>
          </a:xfrm>
          <a:prstGeom prst="roundRect">
            <a:avLst/>
          </a:prstGeom>
          <a:solidFill>
            <a:srgbClr val="FAFBFC"/>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29200" y="2103120"/>
            <a:ext cx="2148840" cy="635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120640" y="2240280"/>
            <a:ext cx="1965960" cy="320040"/>
          </a:xfrm>
          <a:prstGeom prst="rect">
            <a:avLst/>
          </a:prstGeom>
          <a:noFill/>
        </p:spPr>
        <p:txBody>
          <a:bodyPr wrap="square" anchor="t">
            <a:spAutoFit/>
          </a:bodyPr>
          <a:lstStyle/>
          <a:p>
            <a:pPr algn="l"/>
            <a:r>
              <a:t>Entry Timing</a:t>
            </a:r>
          </a:p>
        </p:txBody>
      </p:sp>
      <p:sp>
        <p:nvSpPr>
          <p:cNvPr id="24" name="TextBox 23"/>
          <p:cNvSpPr txBox="1"/>
          <p:nvPr/>
        </p:nvSpPr>
        <p:spPr>
          <a:xfrm>
            <a:off x="5120640" y="2606040"/>
            <a:ext cx="1965960" cy="1371600"/>
          </a:xfrm>
          <a:prstGeom prst="rect">
            <a:avLst/>
          </a:prstGeom>
          <a:noFill/>
        </p:spPr>
        <p:txBody>
          <a:bodyPr wrap="square" anchor="t">
            <a:spAutoFit/>
          </a:bodyPr>
          <a:lstStyle/>
          <a:p>
            <a:pPr algn="l"/>
            <a:r>
              <a:t>Delay 0-3 bars</a:t>
            </a:r>
          </a:p>
          <a:p>
            <a:r>
              <a:t>for execution timing</a:t>
            </a:r>
          </a:p>
        </p:txBody>
      </p:sp>
      <p:sp>
        <p:nvSpPr>
          <p:cNvPr id="25" name="Rectangle 24"/>
          <p:cNvSpPr/>
          <p:nvPr/>
        </p:nvSpPr>
        <p:spPr>
          <a:xfrm>
            <a:off x="5074920" y="4114800"/>
            <a:ext cx="2057400" cy="1920240"/>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120640" y="4114800"/>
            <a:ext cx="1965960" cy="228600"/>
          </a:xfrm>
          <a:prstGeom prst="rect">
            <a:avLst/>
          </a:prstGeom>
          <a:noFill/>
        </p:spPr>
        <p:txBody>
          <a:bodyPr wrap="square" anchor="t">
            <a:spAutoFit/>
          </a:bodyPr>
          <a:lstStyle/>
          <a:p>
            <a:pPr algn="l"/>
            <a:r>
              <a:t>Example Insight</a:t>
            </a:r>
          </a:p>
        </p:txBody>
      </p:sp>
      <p:sp>
        <p:nvSpPr>
          <p:cNvPr id="27" name="TextBox 26"/>
          <p:cNvSpPr txBox="1"/>
          <p:nvPr/>
        </p:nvSpPr>
        <p:spPr>
          <a:xfrm>
            <a:off x="5120640" y="4389120"/>
            <a:ext cx="1965960" cy="1554480"/>
          </a:xfrm>
          <a:prstGeom prst="rect">
            <a:avLst/>
          </a:prstGeom>
          <a:noFill/>
        </p:spPr>
        <p:txBody>
          <a:bodyPr wrap="square" anchor="t">
            <a:spAutoFit/>
          </a:bodyPr>
          <a:lstStyle/>
          <a:p>
            <a:pPr algn="l"/>
            <a:r>
              <a:t>Delay 1 bar reduced regret</a:t>
            </a:r>
          </a:p>
          <a:p>
            <a:r>
              <a:t>across recent regime.</a:t>
            </a:r>
          </a:p>
        </p:txBody>
      </p:sp>
      <p:sp>
        <p:nvSpPr>
          <p:cNvPr id="28" name="Rounded Rectangle 27"/>
          <p:cNvSpPr/>
          <p:nvPr/>
        </p:nvSpPr>
        <p:spPr>
          <a:xfrm>
            <a:off x="7406640" y="2103120"/>
            <a:ext cx="2148840" cy="4114800"/>
          </a:xfrm>
          <a:prstGeom prst="roundRect">
            <a:avLst/>
          </a:prstGeom>
          <a:solidFill>
            <a:srgbClr val="FAFBFC"/>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406640" y="2103120"/>
            <a:ext cx="2148840" cy="63500"/>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98080" y="2240280"/>
            <a:ext cx="1965960" cy="320040"/>
          </a:xfrm>
          <a:prstGeom prst="rect">
            <a:avLst/>
          </a:prstGeom>
          <a:noFill/>
        </p:spPr>
        <p:txBody>
          <a:bodyPr wrap="square" anchor="t">
            <a:spAutoFit/>
          </a:bodyPr>
          <a:lstStyle/>
          <a:p>
            <a:pPr algn="l"/>
            <a:r>
              <a:t>Baseline</a:t>
            </a:r>
          </a:p>
        </p:txBody>
      </p:sp>
      <p:sp>
        <p:nvSpPr>
          <p:cNvPr id="31" name="TextBox 30"/>
          <p:cNvSpPr txBox="1"/>
          <p:nvPr/>
        </p:nvSpPr>
        <p:spPr>
          <a:xfrm>
            <a:off x="7498080" y="2606040"/>
            <a:ext cx="1965960" cy="1371600"/>
          </a:xfrm>
          <a:prstGeom prst="rect">
            <a:avLst/>
          </a:prstGeom>
          <a:noFill/>
        </p:spPr>
        <p:txBody>
          <a:bodyPr wrap="square" anchor="t">
            <a:spAutoFit/>
          </a:bodyPr>
          <a:lstStyle/>
          <a:p>
            <a:pPr algn="l"/>
            <a:r>
              <a:t>Stay in cash</a:t>
            </a:r>
          </a:p>
          <a:p>
            <a:r>
              <a:t>or no-rule benchmark</a:t>
            </a:r>
          </a:p>
        </p:txBody>
      </p:sp>
      <p:sp>
        <p:nvSpPr>
          <p:cNvPr id="32" name="Rectangle 31"/>
          <p:cNvSpPr/>
          <p:nvPr/>
        </p:nvSpPr>
        <p:spPr>
          <a:xfrm>
            <a:off x="7452360" y="4114800"/>
            <a:ext cx="2057400" cy="1920240"/>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98080" y="4114800"/>
            <a:ext cx="1965960" cy="228600"/>
          </a:xfrm>
          <a:prstGeom prst="rect">
            <a:avLst/>
          </a:prstGeom>
          <a:noFill/>
        </p:spPr>
        <p:txBody>
          <a:bodyPr wrap="square" anchor="t">
            <a:spAutoFit/>
          </a:bodyPr>
          <a:lstStyle/>
          <a:p>
            <a:pPr algn="l"/>
            <a:r>
              <a:t>Example Insight</a:t>
            </a:r>
          </a:p>
        </p:txBody>
      </p:sp>
      <p:sp>
        <p:nvSpPr>
          <p:cNvPr id="34" name="TextBox 33"/>
          <p:cNvSpPr txBox="1"/>
          <p:nvPr/>
        </p:nvSpPr>
        <p:spPr>
          <a:xfrm>
            <a:off x="7498080" y="4389120"/>
            <a:ext cx="1965960" cy="1554480"/>
          </a:xfrm>
          <a:prstGeom prst="rect">
            <a:avLst/>
          </a:prstGeom>
          <a:noFill/>
        </p:spPr>
        <p:txBody>
          <a:bodyPr wrap="square" anchor="t">
            <a:spAutoFit/>
          </a:bodyPr>
          <a:lstStyle/>
          <a:p>
            <a:pPr algn="l"/>
            <a:r>
              <a:t>Cash baseline highlights</a:t>
            </a:r>
          </a:p>
          <a:p>
            <a:r>
              <a:t>when risk controls saved equity.</a:t>
            </a:r>
          </a:p>
        </p:txBody>
      </p:sp>
      <p:sp>
        <p:nvSpPr>
          <p:cNvPr id="35" name="Rounded Rectangle 34"/>
          <p:cNvSpPr/>
          <p:nvPr/>
        </p:nvSpPr>
        <p:spPr>
          <a:xfrm>
            <a:off x="9784080" y="2103120"/>
            <a:ext cx="2148840" cy="4114800"/>
          </a:xfrm>
          <a:prstGeom prst="roundRect">
            <a:avLst/>
          </a:prstGeom>
          <a:solidFill>
            <a:srgbClr val="FAFBFC"/>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784080" y="2103120"/>
            <a:ext cx="2148840" cy="63500"/>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875520" y="2240280"/>
            <a:ext cx="1965960" cy="320040"/>
          </a:xfrm>
          <a:prstGeom prst="rect">
            <a:avLst/>
          </a:prstGeom>
          <a:noFill/>
        </p:spPr>
        <p:txBody>
          <a:bodyPr wrap="square" anchor="t">
            <a:spAutoFit/>
          </a:bodyPr>
          <a:lstStyle/>
          <a:p>
            <a:pPr algn="l"/>
            <a:r>
              <a:t>Policy Health outputs:</a:t>
            </a:r>
          </a:p>
        </p:txBody>
      </p:sp>
      <p:sp>
        <p:nvSpPr>
          <p:cNvPr id="38" name="TextBox 37"/>
          <p:cNvSpPr txBox="1"/>
          <p:nvPr/>
        </p:nvSpPr>
        <p:spPr>
          <a:xfrm>
            <a:off x="9875520" y="2606040"/>
            <a:ext cx="1965960" cy="1371600"/>
          </a:xfrm>
          <a:prstGeom prst="rect">
            <a:avLst/>
          </a:prstGeom>
          <a:noFill/>
        </p:spPr>
        <p:txBody>
          <a:bodyPr wrap="square" anchor="t">
            <a:spAutoFit/>
          </a:bodyPr>
          <a:lstStyle/>
          <a:p>
            <a:pPr algn="l"/>
          </a:p>
        </p:txBody>
      </p:sp>
      <p:sp>
        <p:nvSpPr>
          <p:cNvPr id="39" name="Rectangle 38"/>
          <p:cNvSpPr/>
          <p:nvPr/>
        </p:nvSpPr>
        <p:spPr>
          <a:xfrm>
            <a:off x="9829800" y="4114800"/>
            <a:ext cx="2057400" cy="1920240"/>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875520" y="4114800"/>
            <a:ext cx="1965960" cy="228600"/>
          </a:xfrm>
          <a:prstGeom prst="rect">
            <a:avLst/>
          </a:prstGeom>
          <a:noFill/>
        </p:spPr>
        <p:txBody>
          <a:bodyPr wrap="square" anchor="t">
            <a:spAutoFit/>
          </a:bodyPr>
          <a:lstStyle/>
          <a:p>
            <a:pPr algn="l"/>
          </a:p>
        </p:txBody>
      </p:sp>
      <p:sp>
        <p:nvSpPr>
          <p:cNvPr id="41" name="TextBox 40"/>
          <p:cNvSpPr txBox="1"/>
          <p:nvPr/>
        </p:nvSpPr>
        <p:spPr>
          <a:xfrm>
            <a:off x="9875520" y="4389120"/>
            <a:ext cx="1965960" cy="1554480"/>
          </a:xfrm>
          <a:prstGeom prst="rect">
            <a:avLst/>
          </a:prstGeom>
          <a:noFill/>
        </p:spPr>
        <p:txBody>
          <a:bodyPr wrap="square" anchor="t">
            <a:spAutoFit/>
          </a:bodyPr>
          <a:lstStyle/>
          <a:p>
            <a:pPr algn="l"/>
          </a:p>
        </p:txBody>
      </p:sp>
      <p:sp>
        <p:nvSpPr>
          <p:cNvPr id="42" name="Rounded Rectangle 41"/>
          <p:cNvSpPr/>
          <p:nvPr/>
        </p:nvSpPr>
        <p:spPr>
          <a:xfrm>
            <a:off x="274320" y="6400800"/>
            <a:ext cx="11612880" cy="32004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57200" y="6419088"/>
            <a:ext cx="2560320" cy="274320"/>
          </a:xfrm>
          <a:prstGeom prst="rect">
            <a:avLst/>
          </a:prstGeom>
          <a:noFill/>
        </p:spPr>
        <p:txBody>
          <a:bodyPr wrap="square" anchor="t">
            <a:spAutoFit/>
          </a:bodyPr>
          <a:lstStyle/>
          <a:p>
            <a:pPr algn="l"/>
            <a:r>
              <a:t>- Regret attribution by category</a:t>
            </a:r>
          </a:p>
        </p:txBody>
      </p:sp>
      <p:sp>
        <p:nvSpPr>
          <p:cNvPr id="44" name="TextBox 43"/>
          <p:cNvSpPr txBox="1"/>
          <p:nvPr/>
        </p:nvSpPr>
        <p:spPr>
          <a:xfrm>
            <a:off x="3337560" y="6419088"/>
            <a:ext cx="2560320" cy="274320"/>
          </a:xfrm>
          <a:prstGeom prst="rect">
            <a:avLst/>
          </a:prstGeom>
          <a:noFill/>
        </p:spPr>
        <p:txBody>
          <a:bodyPr wrap="square" anchor="t">
            <a:spAutoFit/>
          </a:bodyPr>
          <a:lstStyle/>
          <a:p>
            <a:pPr algn="l"/>
            <a:r>
              <a:t>- Scenario comparison and confidence tiers</a:t>
            </a:r>
          </a:p>
        </p:txBody>
      </p:sp>
      <p:sp>
        <p:nvSpPr>
          <p:cNvPr id="45" name="TextBox 44"/>
          <p:cNvSpPr txBox="1"/>
          <p:nvPr/>
        </p:nvSpPr>
        <p:spPr>
          <a:xfrm>
            <a:off x="6217920" y="6419088"/>
            <a:ext cx="2560320" cy="274320"/>
          </a:xfrm>
          <a:prstGeom prst="rect">
            <a:avLst/>
          </a:prstGeom>
          <a:noFill/>
        </p:spPr>
        <p:txBody>
          <a:bodyPr wrap="square" anchor="t">
            <a:spAutoFit/>
          </a:bodyPr>
          <a:lstStyle/>
          <a:p>
            <a:pPr algn="l"/>
            <a:r>
              <a:t>- Equity overlays + AI analysis</a:t>
            </a:r>
          </a:p>
        </p:txBody>
      </p:sp>
      <p:sp>
        <p:nvSpPr>
          <p:cNvPr id="46" name="TextBox 45"/>
          <p:cNvSpPr txBox="1"/>
          <p:nvPr/>
        </p:nvSpPr>
        <p:spPr>
          <a:xfrm>
            <a:off x="9098280" y="6419088"/>
            <a:ext cx="2560320" cy="274320"/>
          </a:xfrm>
          <a:prstGeom prst="rect">
            <a:avLst/>
          </a:prstGeom>
          <a:noFill/>
        </p:spPr>
        <p:txBody>
          <a:bodyPr wrap="square" anchor="t">
            <a:spAutoFit/>
          </a:bodyPr>
          <a:lstStyle/>
          <a:p>
            <a:pPr algn="l"/>
            <a:r>
              <a:t>- Safety framing: analysis only, no auto-apply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540"/>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9144000" cy="640080"/>
          </a:xfrm>
          <a:prstGeom prst="rect">
            <a:avLst/>
          </a:prstGeom>
          <a:noFill/>
        </p:spPr>
        <p:txBody>
          <a:bodyPr wrap="square" anchor="t">
            <a:spAutoFit/>
          </a:bodyPr>
          <a:lstStyle/>
          <a:p>
            <a:pPr algn="l"/>
            <a:r>
              <a:t>Live Symbol Tracker</a:t>
            </a:r>
          </a:p>
        </p:txBody>
      </p:sp>
      <p:sp>
        <p:nvSpPr>
          <p:cNvPr id="3" name="Rectangle 2"/>
          <p:cNvSpPr/>
          <p:nvPr/>
        </p:nvSpPr>
        <p:spPr>
          <a:xfrm>
            <a:off x="731520" y="86868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74320" y="1371600"/>
            <a:ext cx="3749039" cy="2194560"/>
          </a:xfrm>
          <a:prstGeom prst="roundRect">
            <a:avLst/>
          </a:prstGeom>
          <a:solidFill>
            <a:srgbClr val="1E2850"/>
          </a:solidFill>
          <a:ln w="19050">
            <a:solidFill>
              <a:srgbClr val="304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99720" y="1397000"/>
            <a:ext cx="3698239" cy="36576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393192" y="1508760"/>
            <a:ext cx="128016" cy="128016"/>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94360" y="1508760"/>
            <a:ext cx="128016" cy="128016"/>
          </a:xfrm>
          <a:prstGeom prst="ellipse">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95528" y="1508760"/>
            <a:ext cx="128016" cy="128016"/>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435608"/>
            <a:ext cx="2834639" cy="320040"/>
          </a:xfrm>
          <a:prstGeom prst="rect">
            <a:avLst/>
          </a:prstGeom>
          <a:noFill/>
        </p:spPr>
        <p:txBody>
          <a:bodyPr wrap="square" anchor="t">
            <a:spAutoFit/>
          </a:bodyPr>
          <a:lstStyle/>
          <a:p>
            <a:pPr algn="ctr"/>
            <a:r>
              <a:t>Symbol State</a:t>
            </a:r>
          </a:p>
        </p:txBody>
      </p:sp>
      <p:sp>
        <p:nvSpPr>
          <p:cNvPr id="10" name="Rectangle 9"/>
          <p:cNvSpPr/>
          <p:nvPr/>
        </p:nvSpPr>
        <p:spPr>
          <a:xfrm>
            <a:off x="411480" y="1874520"/>
            <a:ext cx="3474719" cy="1600200"/>
          </a:xfrm>
          <a:prstGeom prst="rect">
            <a:avLst/>
          </a:prstGeom>
          <a:solidFill>
            <a:srgbClr val="121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011680"/>
            <a:ext cx="2240279" cy="54864"/>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2194560"/>
            <a:ext cx="1344167" cy="54864"/>
          </a:xfrm>
          <a:prstGeom prst="rect">
            <a:avLst/>
          </a:prstGeom>
          <a:solidFill>
            <a:srgbClr val="30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2377440"/>
            <a:ext cx="1904237" cy="54864"/>
          </a:xfrm>
          <a:prstGeom prst="rect">
            <a:avLst/>
          </a:prstGeom>
          <a:solidFill>
            <a:srgbClr val="30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606040"/>
            <a:ext cx="3383279" cy="777240"/>
          </a:xfrm>
          <a:prstGeom prst="rect">
            <a:avLst/>
          </a:prstGeom>
          <a:noFill/>
        </p:spPr>
        <p:txBody>
          <a:bodyPr wrap="square" anchor="t">
            <a:spAutoFit/>
          </a:bodyPr>
          <a:lstStyle/>
          <a:p>
            <a:pPr algn="ctr"/>
            <a:r>
              <a:t>Thesis labels:</a:t>
            </a:r>
          </a:p>
          <a:p>
            <a:r>
              <a:t>THESIS_INTACT,</a:t>
            </a:r>
          </a:p>
          <a:p>
            <a:r>
              <a:t>WEAKENING,</a:t>
            </a:r>
          </a:p>
          <a:p>
            <a:r>
              <a:t>INVALIDATED</a:t>
            </a:r>
          </a:p>
        </p:txBody>
      </p:sp>
      <p:sp>
        <p:nvSpPr>
          <p:cNvPr id="15" name="Rounded Rectangle 14"/>
          <p:cNvSpPr/>
          <p:nvPr/>
        </p:nvSpPr>
        <p:spPr>
          <a:xfrm>
            <a:off x="4206240" y="1371600"/>
            <a:ext cx="3749039" cy="2194560"/>
          </a:xfrm>
          <a:prstGeom prst="roundRect">
            <a:avLst/>
          </a:prstGeom>
          <a:solidFill>
            <a:srgbClr val="1E2850"/>
          </a:solidFill>
          <a:ln w="19050">
            <a:solidFill>
              <a:srgbClr val="304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31640" y="1397000"/>
            <a:ext cx="3698239" cy="365760"/>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325112" y="1508760"/>
            <a:ext cx="128016" cy="128016"/>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526280" y="1508760"/>
            <a:ext cx="128016" cy="128016"/>
          </a:xfrm>
          <a:prstGeom prst="ellipse">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727448" y="1508760"/>
            <a:ext cx="128016" cy="128016"/>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92040" y="1435608"/>
            <a:ext cx="2834639" cy="320040"/>
          </a:xfrm>
          <a:prstGeom prst="rect">
            <a:avLst/>
          </a:prstGeom>
          <a:noFill/>
        </p:spPr>
        <p:txBody>
          <a:bodyPr wrap="square" anchor="t">
            <a:spAutoFit/>
          </a:bodyPr>
          <a:lstStyle/>
          <a:p>
            <a:pPr algn="ctr"/>
            <a:r>
              <a:t>Risk Math</a:t>
            </a:r>
          </a:p>
        </p:txBody>
      </p:sp>
      <p:sp>
        <p:nvSpPr>
          <p:cNvPr id="21" name="Rectangle 20"/>
          <p:cNvSpPr/>
          <p:nvPr/>
        </p:nvSpPr>
        <p:spPr>
          <a:xfrm>
            <a:off x="4343400" y="1874520"/>
            <a:ext cx="3474719" cy="1600200"/>
          </a:xfrm>
          <a:prstGeom prst="rect">
            <a:avLst/>
          </a:prstGeom>
          <a:solidFill>
            <a:srgbClr val="121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34840" y="2011680"/>
            <a:ext cx="2240279" cy="54864"/>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34840" y="2194560"/>
            <a:ext cx="1344167" cy="54864"/>
          </a:xfrm>
          <a:prstGeom prst="rect">
            <a:avLst/>
          </a:prstGeom>
          <a:solidFill>
            <a:srgbClr val="30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434840" y="2377440"/>
            <a:ext cx="1904237" cy="54864"/>
          </a:xfrm>
          <a:prstGeom prst="rect">
            <a:avLst/>
          </a:prstGeom>
          <a:solidFill>
            <a:srgbClr val="30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89120" y="2606040"/>
            <a:ext cx="3383279" cy="777240"/>
          </a:xfrm>
          <a:prstGeom prst="rect">
            <a:avLst/>
          </a:prstGeom>
          <a:noFill/>
        </p:spPr>
        <p:txBody>
          <a:bodyPr wrap="square" anchor="t">
            <a:spAutoFit/>
          </a:bodyPr>
          <a:lstStyle/>
          <a:p>
            <a:pPr algn="ctr"/>
            <a:r>
              <a:t>Open R, expected move reached,</a:t>
            </a:r>
          </a:p>
          <a:p>
            <a:r>
              <a:t>distance to TP/SL,</a:t>
            </a:r>
          </a:p>
          <a:p>
            <a:r>
              <a:t>position protection</a:t>
            </a:r>
          </a:p>
        </p:txBody>
      </p:sp>
      <p:sp>
        <p:nvSpPr>
          <p:cNvPr id="26" name="Rounded Rectangle 25"/>
          <p:cNvSpPr/>
          <p:nvPr/>
        </p:nvSpPr>
        <p:spPr>
          <a:xfrm>
            <a:off x="8138160" y="1371600"/>
            <a:ext cx="3749039" cy="2194560"/>
          </a:xfrm>
          <a:prstGeom prst="roundRect">
            <a:avLst/>
          </a:prstGeom>
          <a:solidFill>
            <a:srgbClr val="1E2850"/>
          </a:solidFill>
          <a:ln w="19050">
            <a:solidFill>
              <a:srgbClr val="304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63560" y="1397000"/>
            <a:ext cx="3698239" cy="365760"/>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257032" y="1508760"/>
            <a:ext cx="128016" cy="128016"/>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458200" y="1508760"/>
            <a:ext cx="128016" cy="128016"/>
          </a:xfrm>
          <a:prstGeom prst="ellipse">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659368" y="1508760"/>
            <a:ext cx="128016" cy="128016"/>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823960" y="1435608"/>
            <a:ext cx="2834639" cy="320040"/>
          </a:xfrm>
          <a:prstGeom prst="rect">
            <a:avLst/>
          </a:prstGeom>
          <a:noFill/>
        </p:spPr>
        <p:txBody>
          <a:bodyPr wrap="square" anchor="t">
            <a:spAutoFit/>
          </a:bodyPr>
          <a:lstStyle/>
          <a:p>
            <a:pPr algn="ctr"/>
            <a:r>
              <a:t>Committee Commentary</a:t>
            </a:r>
          </a:p>
        </p:txBody>
      </p:sp>
      <p:sp>
        <p:nvSpPr>
          <p:cNvPr id="32" name="Rectangle 31"/>
          <p:cNvSpPr/>
          <p:nvPr/>
        </p:nvSpPr>
        <p:spPr>
          <a:xfrm>
            <a:off x="8275320" y="1874520"/>
            <a:ext cx="3474719" cy="1600200"/>
          </a:xfrm>
          <a:prstGeom prst="rect">
            <a:avLst/>
          </a:prstGeom>
          <a:solidFill>
            <a:srgbClr val="121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366760" y="2011680"/>
            <a:ext cx="2240279" cy="54864"/>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366760" y="2194560"/>
            <a:ext cx="1344167" cy="54864"/>
          </a:xfrm>
          <a:prstGeom prst="rect">
            <a:avLst/>
          </a:prstGeom>
          <a:solidFill>
            <a:srgbClr val="30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366760" y="2377440"/>
            <a:ext cx="1904237" cy="54864"/>
          </a:xfrm>
          <a:prstGeom prst="rect">
            <a:avLst/>
          </a:prstGeom>
          <a:solidFill>
            <a:srgbClr val="30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21040" y="2606040"/>
            <a:ext cx="3383279" cy="777240"/>
          </a:xfrm>
          <a:prstGeom prst="rect">
            <a:avLst/>
          </a:prstGeom>
          <a:noFill/>
        </p:spPr>
        <p:txBody>
          <a:bodyPr wrap="square" anchor="t">
            <a:spAutoFit/>
          </a:bodyPr>
          <a:lstStyle/>
          <a:p>
            <a:pPr algn="ctr"/>
            <a:r>
              <a:t>Stance + confidence +</a:t>
            </a:r>
          </a:p>
          <a:p>
            <a:r>
              <a:t>reason tags + actions to consider</a:t>
            </a:r>
          </a:p>
        </p:txBody>
      </p:sp>
      <p:sp>
        <p:nvSpPr>
          <p:cNvPr id="37" name="Rounded Rectangle 36"/>
          <p:cNvSpPr/>
          <p:nvPr/>
        </p:nvSpPr>
        <p:spPr>
          <a:xfrm>
            <a:off x="274320" y="3840480"/>
            <a:ext cx="2743200" cy="2651760"/>
          </a:xfrm>
          <a:prstGeom prst="roundRect">
            <a:avLst/>
          </a:prstGeom>
          <a:solidFill>
            <a:srgbClr val="1E2850"/>
          </a:solidFill>
          <a:ln w="19050">
            <a:solidFill>
              <a:srgbClr val="304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99720" y="3865880"/>
            <a:ext cx="2692400" cy="365760"/>
          </a:xfrm>
          <a:prstGeom prst="rect">
            <a:avLst/>
          </a:prstGeom>
          <a:solidFill>
            <a:srgbClr val="20C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93192" y="3977640"/>
            <a:ext cx="128016" cy="128016"/>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594360" y="3977640"/>
            <a:ext cx="128016" cy="128016"/>
          </a:xfrm>
          <a:prstGeom prst="ellipse">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795528" y="3977640"/>
            <a:ext cx="128016" cy="128016"/>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60120" y="3904488"/>
            <a:ext cx="1828800" cy="320040"/>
          </a:xfrm>
          <a:prstGeom prst="rect">
            <a:avLst/>
          </a:prstGeom>
          <a:noFill/>
        </p:spPr>
        <p:txBody>
          <a:bodyPr wrap="square" anchor="t">
            <a:spAutoFit/>
          </a:bodyPr>
          <a:lstStyle/>
          <a:p>
            <a:pPr algn="ctr"/>
            <a:r>
              <a:t>Cross-check Path</a:t>
            </a:r>
          </a:p>
        </p:txBody>
      </p:sp>
      <p:sp>
        <p:nvSpPr>
          <p:cNvPr id="43" name="Rectangle 42"/>
          <p:cNvSpPr/>
          <p:nvPr/>
        </p:nvSpPr>
        <p:spPr>
          <a:xfrm>
            <a:off x="411480" y="4343400"/>
            <a:ext cx="2468880" cy="2057400"/>
          </a:xfrm>
          <a:prstGeom prst="rect">
            <a:avLst/>
          </a:prstGeom>
          <a:solidFill>
            <a:srgbClr val="121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02920" y="4480560"/>
            <a:ext cx="1536192" cy="54864"/>
          </a:xfrm>
          <a:prstGeom prst="rect">
            <a:avLst/>
          </a:prstGeom>
          <a:solidFill>
            <a:srgbClr val="20C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02920" y="4663440"/>
            <a:ext cx="921715" cy="54864"/>
          </a:xfrm>
          <a:prstGeom prst="rect">
            <a:avLst/>
          </a:prstGeom>
          <a:solidFill>
            <a:srgbClr val="30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02920" y="4846320"/>
            <a:ext cx="1305763" cy="54864"/>
          </a:xfrm>
          <a:prstGeom prst="rect">
            <a:avLst/>
          </a:prstGeom>
          <a:solidFill>
            <a:srgbClr val="30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57200" y="5074920"/>
            <a:ext cx="2377440" cy="1234440"/>
          </a:xfrm>
          <a:prstGeom prst="rect">
            <a:avLst/>
          </a:prstGeom>
          <a:noFill/>
        </p:spPr>
        <p:txBody>
          <a:bodyPr wrap="square" anchor="t">
            <a:spAutoFit/>
          </a:bodyPr>
          <a:lstStyle/>
          <a:p>
            <a:pPr algn="ctr"/>
            <a:r>
              <a:t>Symbol Tracker -&gt; AI Agent Decisions -&gt; News Intelligence -&gt; Runs</a:t>
            </a:r>
          </a:p>
        </p:txBody>
      </p:sp>
      <p:sp>
        <p:nvSpPr>
          <p:cNvPr id="48" name="Rounded Rectangle 47"/>
          <p:cNvSpPr/>
          <p:nvPr/>
        </p:nvSpPr>
        <p:spPr>
          <a:xfrm>
            <a:off x="3200400" y="3840480"/>
            <a:ext cx="2743200" cy="2651760"/>
          </a:xfrm>
          <a:prstGeom prst="roundRect">
            <a:avLst/>
          </a:prstGeom>
          <a:solidFill>
            <a:srgbClr val="1E2850"/>
          </a:solidFill>
          <a:ln w="19050">
            <a:solidFill>
              <a:srgbClr val="304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3225800" y="3865880"/>
            <a:ext cx="2692400" cy="365760"/>
          </a:xfrm>
          <a:prstGeom prst="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3319272" y="3977640"/>
            <a:ext cx="128016" cy="128016"/>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3520440" y="3977640"/>
            <a:ext cx="128016" cy="128016"/>
          </a:xfrm>
          <a:prstGeom prst="ellipse">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3721608" y="3977640"/>
            <a:ext cx="128016" cy="128016"/>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86200" y="3904488"/>
            <a:ext cx="1828800" cy="320040"/>
          </a:xfrm>
          <a:prstGeom prst="rect">
            <a:avLst/>
          </a:prstGeom>
          <a:noFill/>
        </p:spPr>
        <p:txBody>
          <a:bodyPr wrap="square" anchor="t">
            <a:spAutoFit/>
          </a:bodyPr>
          <a:lstStyle/>
          <a:p>
            <a:pPr algn="ctr"/>
            <a:r>
              <a:t>Live Monitoring</a:t>
            </a:r>
          </a:p>
        </p:txBody>
      </p:sp>
      <p:sp>
        <p:nvSpPr>
          <p:cNvPr id="54" name="Rectangle 53"/>
          <p:cNvSpPr/>
          <p:nvPr/>
        </p:nvSpPr>
        <p:spPr>
          <a:xfrm>
            <a:off x="3337560" y="4343400"/>
            <a:ext cx="2468880" cy="2057400"/>
          </a:xfrm>
          <a:prstGeom prst="rect">
            <a:avLst/>
          </a:prstGeom>
          <a:solidFill>
            <a:srgbClr val="121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3429000" y="4480560"/>
            <a:ext cx="1536192" cy="54864"/>
          </a:xfrm>
          <a:prstGeom prst="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3429000" y="4663440"/>
            <a:ext cx="921715" cy="54864"/>
          </a:xfrm>
          <a:prstGeom prst="rect">
            <a:avLst/>
          </a:prstGeom>
          <a:solidFill>
            <a:srgbClr val="30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3429000" y="4846320"/>
            <a:ext cx="1305763" cy="54864"/>
          </a:xfrm>
          <a:prstGeom prst="rect">
            <a:avLst/>
          </a:prstGeom>
          <a:solidFill>
            <a:srgbClr val="30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383280" y="5074920"/>
            <a:ext cx="2377440" cy="1234440"/>
          </a:xfrm>
          <a:prstGeom prst="rect">
            <a:avLst/>
          </a:prstGeom>
          <a:noFill/>
        </p:spPr>
        <p:txBody>
          <a:bodyPr wrap="square" anchor="t">
            <a:spAutoFit/>
          </a:bodyPr>
          <a:lstStyle/>
          <a:p>
            <a:pPr algn="ctr"/>
            <a:r>
              <a:t>Use during intraday windows for elevated symbols first.</a:t>
            </a:r>
          </a:p>
        </p:txBody>
      </p:sp>
      <p:sp>
        <p:nvSpPr>
          <p:cNvPr id="59" name="Rounded Rectangle 58"/>
          <p:cNvSpPr/>
          <p:nvPr/>
        </p:nvSpPr>
        <p:spPr>
          <a:xfrm>
            <a:off x="6126480" y="3840480"/>
            <a:ext cx="2743200" cy="2651760"/>
          </a:xfrm>
          <a:prstGeom prst="roundRect">
            <a:avLst/>
          </a:prstGeom>
          <a:solidFill>
            <a:srgbClr val="1E2850"/>
          </a:solidFill>
          <a:ln w="19050">
            <a:solidFill>
              <a:srgbClr val="304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6151880" y="3865880"/>
            <a:ext cx="2692400" cy="365760"/>
          </a:xfrm>
          <a:prstGeom prst="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6245352" y="3977640"/>
            <a:ext cx="128016" cy="128016"/>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6446520" y="3977640"/>
            <a:ext cx="128016" cy="128016"/>
          </a:xfrm>
          <a:prstGeom prst="ellipse">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6647688" y="3977640"/>
            <a:ext cx="128016" cy="128016"/>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812280" y="3904488"/>
            <a:ext cx="1828800" cy="320040"/>
          </a:xfrm>
          <a:prstGeom prst="rect">
            <a:avLst/>
          </a:prstGeom>
          <a:noFill/>
        </p:spPr>
        <p:txBody>
          <a:bodyPr wrap="square" anchor="t">
            <a:spAutoFit/>
          </a:bodyPr>
          <a:lstStyle/>
          <a:p>
            <a:pPr algn="ctr"/>
            <a:r>
              <a:t>Operator Rule</a:t>
            </a:r>
          </a:p>
        </p:txBody>
      </p:sp>
      <p:sp>
        <p:nvSpPr>
          <p:cNvPr id="65" name="Rectangle 64"/>
          <p:cNvSpPr/>
          <p:nvPr/>
        </p:nvSpPr>
        <p:spPr>
          <a:xfrm>
            <a:off x="6263640" y="4343400"/>
            <a:ext cx="2468880" cy="2057400"/>
          </a:xfrm>
          <a:prstGeom prst="rect">
            <a:avLst/>
          </a:prstGeom>
          <a:solidFill>
            <a:srgbClr val="121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6355080" y="4480560"/>
            <a:ext cx="1536192" cy="54864"/>
          </a:xfrm>
          <a:prstGeom prst="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6355080" y="4663440"/>
            <a:ext cx="921715" cy="54864"/>
          </a:xfrm>
          <a:prstGeom prst="rect">
            <a:avLst/>
          </a:prstGeom>
          <a:solidFill>
            <a:srgbClr val="30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6355080" y="4846320"/>
            <a:ext cx="1305763" cy="54864"/>
          </a:xfrm>
          <a:prstGeom prst="rect">
            <a:avLst/>
          </a:prstGeom>
          <a:solidFill>
            <a:srgbClr val="30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309360" y="5074920"/>
            <a:ext cx="2377440" cy="1234440"/>
          </a:xfrm>
          <a:prstGeom prst="rect">
            <a:avLst/>
          </a:prstGeom>
          <a:noFill/>
        </p:spPr>
        <p:txBody>
          <a:bodyPr wrap="square" anchor="t">
            <a:spAutoFit/>
          </a:bodyPr>
          <a:lstStyle/>
          <a:p>
            <a:pPr algn="ctr"/>
            <a:r>
              <a:t>Commentary is guidance; deterministic gates still control execution.</a:t>
            </a:r>
          </a:p>
        </p:txBody>
      </p:sp>
      <p:sp>
        <p:nvSpPr>
          <p:cNvPr id="70" name="Rounded Rectangle 69"/>
          <p:cNvSpPr/>
          <p:nvPr/>
        </p:nvSpPr>
        <p:spPr>
          <a:xfrm>
            <a:off x="9052560" y="3840480"/>
            <a:ext cx="2834640" cy="2651760"/>
          </a:xfrm>
          <a:prstGeom prst="roundRect">
            <a:avLst/>
          </a:prstGeom>
          <a:solidFill>
            <a:srgbClr val="1E2850"/>
          </a:solidFill>
          <a:ln w="19050">
            <a:solidFill>
              <a:srgbClr val="304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9077960" y="3865880"/>
            <a:ext cx="2783840" cy="365760"/>
          </a:xfrm>
          <a:prstGeom prst="rect">
            <a:avLst/>
          </a:prstGeom>
          <a:solidFill>
            <a:srgbClr val="4A2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9171432" y="3977640"/>
            <a:ext cx="128016" cy="128016"/>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9372600" y="3977640"/>
            <a:ext cx="128016" cy="128016"/>
          </a:xfrm>
          <a:prstGeom prst="ellipse">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9573768" y="3977640"/>
            <a:ext cx="128016" cy="128016"/>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738360" y="3904488"/>
            <a:ext cx="1920240" cy="320040"/>
          </a:xfrm>
          <a:prstGeom prst="rect">
            <a:avLst/>
          </a:prstGeom>
          <a:noFill/>
        </p:spPr>
        <p:txBody>
          <a:bodyPr wrap="square" anchor="t">
            <a:spAutoFit/>
          </a:bodyPr>
          <a:lstStyle/>
          <a:p>
            <a:pPr algn="ctr"/>
            <a:r>
              <a:t>Outcome Link</a:t>
            </a:r>
          </a:p>
        </p:txBody>
      </p:sp>
      <p:sp>
        <p:nvSpPr>
          <p:cNvPr id="76" name="Rectangle 75"/>
          <p:cNvSpPr/>
          <p:nvPr/>
        </p:nvSpPr>
        <p:spPr>
          <a:xfrm>
            <a:off x="9189720" y="4343400"/>
            <a:ext cx="2560320" cy="2057400"/>
          </a:xfrm>
          <a:prstGeom prst="rect">
            <a:avLst/>
          </a:prstGeom>
          <a:solidFill>
            <a:srgbClr val="121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281160" y="4480560"/>
            <a:ext cx="1600200" cy="54864"/>
          </a:xfrm>
          <a:prstGeom prst="rect">
            <a:avLst/>
          </a:prstGeom>
          <a:solidFill>
            <a:srgbClr val="4A2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9281160" y="4663440"/>
            <a:ext cx="960120" cy="54864"/>
          </a:xfrm>
          <a:prstGeom prst="rect">
            <a:avLst/>
          </a:prstGeom>
          <a:solidFill>
            <a:srgbClr val="30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9281160" y="4846320"/>
            <a:ext cx="1360170" cy="54864"/>
          </a:xfrm>
          <a:prstGeom prst="rect">
            <a:avLst/>
          </a:prstGeom>
          <a:solidFill>
            <a:srgbClr val="30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9235440" y="5074920"/>
            <a:ext cx="2468880" cy="1234440"/>
          </a:xfrm>
          <a:prstGeom prst="rect">
            <a:avLst/>
          </a:prstGeom>
          <a:noFill/>
        </p:spPr>
        <p:txBody>
          <a:bodyPr wrap="square" anchor="t">
            <a:spAutoFit/>
          </a:bodyPr>
          <a:lstStyle/>
          <a:p>
            <a:pPr algn="ctr"/>
            <a:r>
              <a:t>Trace outcomes later in Learning Ledger for feedback.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9144000" cy="640080"/>
          </a:xfrm>
          <a:prstGeom prst="rect">
            <a:avLst/>
          </a:prstGeom>
          <a:noFill/>
        </p:spPr>
        <p:txBody>
          <a:bodyPr wrap="square" anchor="t">
            <a:spAutoFit/>
          </a:bodyPr>
          <a:lstStyle/>
          <a:p>
            <a:pPr algn="l"/>
            <a:r>
              <a:t>How AI Is Naturally Fused</a:t>
            </a:r>
          </a:p>
        </p:txBody>
      </p:sp>
      <p:sp>
        <p:nvSpPr>
          <p:cNvPr id="4" name="Rectangle 3"/>
          <p:cNvSpPr/>
          <p:nvPr/>
        </p:nvSpPr>
        <p:spPr>
          <a:xfrm>
            <a:off x="731520" y="77724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188720"/>
            <a:ext cx="5303520" cy="50292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4572000" cy="457200"/>
          </a:xfrm>
          <a:prstGeom prst="rect">
            <a:avLst/>
          </a:prstGeom>
          <a:noFill/>
        </p:spPr>
        <p:txBody>
          <a:bodyPr wrap="square" anchor="t">
            <a:spAutoFit/>
          </a:bodyPr>
          <a:lstStyle/>
          <a:p>
            <a:pPr algn="l"/>
            <a:r>
              <a:t>AI Helps</a:t>
            </a:r>
          </a:p>
        </p:txBody>
      </p:sp>
      <p:sp>
        <p:nvSpPr>
          <p:cNvPr id="7" name="Rectangle 6"/>
          <p:cNvSpPr/>
          <p:nvPr/>
        </p:nvSpPr>
        <p:spPr>
          <a:xfrm>
            <a:off x="914400" y="1828800"/>
            <a:ext cx="914400" cy="38100"/>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14400" y="2167128"/>
            <a:ext cx="182880" cy="182880"/>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167128"/>
            <a:ext cx="182880" cy="182880"/>
          </a:xfrm>
          <a:prstGeom prst="rect">
            <a:avLst/>
          </a:prstGeom>
          <a:noFill/>
        </p:spPr>
        <p:txBody>
          <a:bodyPr wrap="square" anchor="ctr">
            <a:spAutoFit/>
          </a:bodyPr>
          <a:lstStyle/>
          <a:p>
            <a:pPr algn="ctr"/>
          </a:p>
        </p:txBody>
      </p:sp>
      <p:sp>
        <p:nvSpPr>
          <p:cNvPr id="10" name="TextBox 9"/>
          <p:cNvSpPr txBox="1"/>
          <p:nvPr/>
        </p:nvSpPr>
        <p:spPr>
          <a:xfrm>
            <a:off x="1234440" y="2103120"/>
            <a:ext cx="4389120" cy="457200"/>
          </a:xfrm>
          <a:prstGeom prst="rect">
            <a:avLst/>
          </a:prstGeom>
          <a:noFill/>
        </p:spPr>
        <p:txBody>
          <a:bodyPr wrap="square" anchor="t">
            <a:spAutoFit/>
          </a:bodyPr>
          <a:lstStyle/>
          <a:p>
            <a:pPr algn="l"/>
            <a:r>
              <a:t>Committee summaries and verdict context</a:t>
            </a:r>
          </a:p>
        </p:txBody>
      </p:sp>
      <p:sp>
        <p:nvSpPr>
          <p:cNvPr id="11" name="Oval 10"/>
          <p:cNvSpPr/>
          <p:nvPr/>
        </p:nvSpPr>
        <p:spPr>
          <a:xfrm>
            <a:off x="914400" y="2761487"/>
            <a:ext cx="182880" cy="182880"/>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761487"/>
            <a:ext cx="182880" cy="182880"/>
          </a:xfrm>
          <a:prstGeom prst="rect">
            <a:avLst/>
          </a:prstGeom>
          <a:noFill/>
        </p:spPr>
        <p:txBody>
          <a:bodyPr wrap="square" anchor="ctr">
            <a:spAutoFit/>
          </a:bodyPr>
          <a:lstStyle/>
          <a:p>
            <a:pPr algn="ctr"/>
          </a:p>
        </p:txBody>
      </p:sp>
      <p:sp>
        <p:nvSpPr>
          <p:cNvPr id="13" name="TextBox 12"/>
          <p:cNvSpPr txBox="1"/>
          <p:nvPr/>
        </p:nvSpPr>
        <p:spPr>
          <a:xfrm>
            <a:off x="1234440" y="2697479"/>
            <a:ext cx="4389120" cy="457200"/>
          </a:xfrm>
          <a:prstGeom prst="rect">
            <a:avLst/>
          </a:prstGeom>
          <a:noFill/>
        </p:spPr>
        <p:txBody>
          <a:bodyPr wrap="square" anchor="t">
            <a:spAutoFit/>
          </a:bodyPr>
          <a:lstStyle/>
          <a:p>
            <a:pPr algn="l"/>
            <a:r>
              <a:t>Parallel Worlds narrative and regret interpretation</a:t>
            </a:r>
          </a:p>
        </p:txBody>
      </p:sp>
      <p:sp>
        <p:nvSpPr>
          <p:cNvPr id="14" name="Oval 13"/>
          <p:cNvSpPr/>
          <p:nvPr/>
        </p:nvSpPr>
        <p:spPr>
          <a:xfrm>
            <a:off x="914400" y="3355847"/>
            <a:ext cx="182880" cy="182880"/>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355847"/>
            <a:ext cx="182880" cy="182880"/>
          </a:xfrm>
          <a:prstGeom prst="rect">
            <a:avLst/>
          </a:prstGeom>
          <a:noFill/>
        </p:spPr>
        <p:txBody>
          <a:bodyPr wrap="square" anchor="ctr">
            <a:spAutoFit/>
          </a:bodyPr>
          <a:lstStyle/>
          <a:p>
            <a:pPr algn="ctr"/>
          </a:p>
        </p:txBody>
      </p:sp>
      <p:sp>
        <p:nvSpPr>
          <p:cNvPr id="16" name="TextBox 15"/>
          <p:cNvSpPr txBox="1"/>
          <p:nvPr/>
        </p:nvSpPr>
        <p:spPr>
          <a:xfrm>
            <a:off x="1234440" y="3291839"/>
            <a:ext cx="4389120" cy="457200"/>
          </a:xfrm>
          <a:prstGeom prst="rect">
            <a:avLst/>
          </a:prstGeom>
          <a:noFill/>
        </p:spPr>
        <p:txBody>
          <a:bodyPr wrap="square" anchor="t">
            <a:spAutoFit/>
          </a:bodyPr>
          <a:lstStyle/>
          <a:p>
            <a:pPr algn="l"/>
            <a:r>
              <a:t>News reader summary and HOT prioritization</a:t>
            </a:r>
          </a:p>
        </p:txBody>
      </p:sp>
      <p:sp>
        <p:nvSpPr>
          <p:cNvPr id="17" name="Oval 16"/>
          <p:cNvSpPr/>
          <p:nvPr/>
        </p:nvSpPr>
        <p:spPr>
          <a:xfrm>
            <a:off x="914400" y="3950208"/>
            <a:ext cx="182880" cy="182880"/>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950208"/>
            <a:ext cx="182880" cy="182880"/>
          </a:xfrm>
          <a:prstGeom prst="rect">
            <a:avLst/>
          </a:prstGeom>
          <a:noFill/>
        </p:spPr>
        <p:txBody>
          <a:bodyPr wrap="square" anchor="ctr">
            <a:spAutoFit/>
          </a:bodyPr>
          <a:lstStyle/>
          <a:p>
            <a:pPr algn="ctr"/>
          </a:p>
        </p:txBody>
      </p:sp>
      <p:sp>
        <p:nvSpPr>
          <p:cNvPr id="19" name="TextBox 18"/>
          <p:cNvSpPr txBox="1"/>
          <p:nvPr/>
        </p:nvSpPr>
        <p:spPr>
          <a:xfrm>
            <a:off x="1234440" y="3886200"/>
            <a:ext cx="4389120" cy="457200"/>
          </a:xfrm>
          <a:prstGeom prst="rect">
            <a:avLst/>
          </a:prstGeom>
          <a:noFill/>
        </p:spPr>
        <p:txBody>
          <a:bodyPr wrap="square" anchor="t">
            <a:spAutoFit/>
          </a:bodyPr>
          <a:lstStyle/>
          <a:p>
            <a:pPr algn="l"/>
            <a:r>
              <a:t>Ask MIP route-aware coaching</a:t>
            </a:r>
          </a:p>
        </p:txBody>
      </p:sp>
      <p:sp>
        <p:nvSpPr>
          <p:cNvPr id="20" name="Oval 19"/>
          <p:cNvSpPr/>
          <p:nvPr/>
        </p:nvSpPr>
        <p:spPr>
          <a:xfrm>
            <a:off x="914400" y="4544568"/>
            <a:ext cx="182880" cy="182880"/>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4544568"/>
            <a:ext cx="182880" cy="182880"/>
          </a:xfrm>
          <a:prstGeom prst="rect">
            <a:avLst/>
          </a:prstGeom>
          <a:noFill/>
        </p:spPr>
        <p:txBody>
          <a:bodyPr wrap="square" anchor="ctr">
            <a:spAutoFit/>
          </a:bodyPr>
          <a:lstStyle/>
          <a:p>
            <a:pPr algn="ctr"/>
          </a:p>
        </p:txBody>
      </p:sp>
      <p:sp>
        <p:nvSpPr>
          <p:cNvPr id="22" name="TextBox 21"/>
          <p:cNvSpPr txBox="1"/>
          <p:nvPr/>
        </p:nvSpPr>
        <p:spPr>
          <a:xfrm>
            <a:off x="1234440" y="4480560"/>
            <a:ext cx="4389120" cy="457200"/>
          </a:xfrm>
          <a:prstGeom prst="rect">
            <a:avLst/>
          </a:prstGeom>
          <a:noFill/>
        </p:spPr>
        <p:txBody>
          <a:bodyPr wrap="square" anchor="t">
            <a:spAutoFit/>
          </a:bodyPr>
          <a:lstStyle/>
          <a:p>
            <a:pPr algn="l"/>
          </a:p>
        </p:txBody>
      </p:sp>
      <p:sp>
        <p:nvSpPr>
          <p:cNvPr id="23" name="Oval 22"/>
          <p:cNvSpPr/>
          <p:nvPr/>
        </p:nvSpPr>
        <p:spPr>
          <a:xfrm>
            <a:off x="914400" y="5138928"/>
            <a:ext cx="182880" cy="182880"/>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5138928"/>
            <a:ext cx="182880" cy="182880"/>
          </a:xfrm>
          <a:prstGeom prst="rect">
            <a:avLst/>
          </a:prstGeom>
          <a:noFill/>
        </p:spPr>
        <p:txBody>
          <a:bodyPr wrap="square" anchor="ctr">
            <a:spAutoFit/>
          </a:bodyPr>
          <a:lstStyle/>
          <a:p>
            <a:pPr algn="ctr"/>
          </a:p>
        </p:txBody>
      </p:sp>
      <p:sp>
        <p:nvSpPr>
          <p:cNvPr id="25" name="TextBox 24"/>
          <p:cNvSpPr txBox="1"/>
          <p:nvPr/>
        </p:nvSpPr>
        <p:spPr>
          <a:xfrm>
            <a:off x="1234440" y="5074920"/>
            <a:ext cx="4389120" cy="457200"/>
          </a:xfrm>
          <a:prstGeom prst="rect">
            <a:avLst/>
          </a:prstGeom>
          <a:noFill/>
        </p:spPr>
        <p:txBody>
          <a:bodyPr wrap="square" anchor="t">
            <a:spAutoFit/>
          </a:bodyPr>
          <a:lstStyle/>
          <a:p>
            <a:pPr algn="l"/>
          </a:p>
        </p:txBody>
      </p:sp>
      <p:sp>
        <p:nvSpPr>
          <p:cNvPr id="26" name="Rounded Rectangle 25"/>
          <p:cNvSpPr/>
          <p:nvPr/>
        </p:nvSpPr>
        <p:spPr>
          <a:xfrm>
            <a:off x="6309360" y="1188720"/>
            <a:ext cx="5303520" cy="50292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1371600"/>
            <a:ext cx="4572000" cy="457200"/>
          </a:xfrm>
          <a:prstGeom prst="rect">
            <a:avLst/>
          </a:prstGeom>
          <a:noFill/>
        </p:spPr>
        <p:txBody>
          <a:bodyPr wrap="square" anchor="t">
            <a:spAutoFit/>
          </a:bodyPr>
          <a:lstStyle/>
          <a:p>
            <a:pPr algn="l"/>
            <a:r>
              <a:t>Humans Stay In Control</a:t>
            </a:r>
          </a:p>
        </p:txBody>
      </p:sp>
      <p:sp>
        <p:nvSpPr>
          <p:cNvPr id="28" name="Rectangle 27"/>
          <p:cNvSpPr/>
          <p:nvPr/>
        </p:nvSpPr>
        <p:spPr>
          <a:xfrm>
            <a:off x="6675120" y="1828800"/>
            <a:ext cx="914400" cy="38100"/>
          </a:xfrm>
          <a:prstGeom prst="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675120" y="2167128"/>
            <a:ext cx="182880" cy="182880"/>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75120" y="2167128"/>
            <a:ext cx="182880" cy="182880"/>
          </a:xfrm>
          <a:prstGeom prst="rect">
            <a:avLst/>
          </a:prstGeom>
          <a:noFill/>
        </p:spPr>
        <p:txBody>
          <a:bodyPr wrap="square" anchor="ctr">
            <a:spAutoFit/>
          </a:bodyPr>
          <a:lstStyle/>
          <a:p>
            <a:pPr algn="ctr"/>
          </a:p>
        </p:txBody>
      </p:sp>
      <p:sp>
        <p:nvSpPr>
          <p:cNvPr id="31" name="TextBox 30"/>
          <p:cNvSpPr txBox="1"/>
          <p:nvPr/>
        </p:nvSpPr>
        <p:spPr>
          <a:xfrm>
            <a:off x="6995160" y="2103120"/>
            <a:ext cx="4389120" cy="457200"/>
          </a:xfrm>
          <a:prstGeom prst="rect">
            <a:avLst/>
          </a:prstGeom>
          <a:noFill/>
        </p:spPr>
        <p:txBody>
          <a:bodyPr wrap="square" anchor="t">
            <a:spAutoFit/>
          </a:bodyPr>
          <a:lstStyle/>
          <a:p>
            <a:pPr algn="l"/>
            <a:r>
              <a:t>Risk gates and thresholds are deterministic</a:t>
            </a:r>
          </a:p>
        </p:txBody>
      </p:sp>
      <p:sp>
        <p:nvSpPr>
          <p:cNvPr id="32" name="Oval 31"/>
          <p:cNvSpPr/>
          <p:nvPr/>
        </p:nvSpPr>
        <p:spPr>
          <a:xfrm>
            <a:off x="6675120" y="2761487"/>
            <a:ext cx="182880" cy="182880"/>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75120" y="2761487"/>
            <a:ext cx="182880" cy="182880"/>
          </a:xfrm>
          <a:prstGeom prst="rect">
            <a:avLst/>
          </a:prstGeom>
          <a:noFill/>
        </p:spPr>
        <p:txBody>
          <a:bodyPr wrap="square" anchor="ctr">
            <a:spAutoFit/>
          </a:bodyPr>
          <a:lstStyle/>
          <a:p>
            <a:pPr algn="ctr"/>
          </a:p>
        </p:txBody>
      </p:sp>
      <p:sp>
        <p:nvSpPr>
          <p:cNvPr id="34" name="TextBox 33"/>
          <p:cNvSpPr txBox="1"/>
          <p:nvPr/>
        </p:nvSpPr>
        <p:spPr>
          <a:xfrm>
            <a:off x="6995160" y="2697479"/>
            <a:ext cx="4389120" cy="457200"/>
          </a:xfrm>
          <a:prstGeom prst="rect">
            <a:avLst/>
          </a:prstGeom>
          <a:noFill/>
        </p:spPr>
        <p:txBody>
          <a:bodyPr wrap="square" anchor="t">
            <a:spAutoFit/>
          </a:bodyPr>
          <a:lstStyle/>
          <a:p>
            <a:pPr algn="l"/>
            <a:r>
              <a:t>Execution requires approvals and revalidation</a:t>
            </a:r>
          </a:p>
        </p:txBody>
      </p:sp>
      <p:sp>
        <p:nvSpPr>
          <p:cNvPr id="35" name="Oval 34"/>
          <p:cNvSpPr/>
          <p:nvPr/>
        </p:nvSpPr>
        <p:spPr>
          <a:xfrm>
            <a:off x="6675120" y="3355847"/>
            <a:ext cx="182880" cy="182880"/>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75120" y="3355847"/>
            <a:ext cx="182880" cy="182880"/>
          </a:xfrm>
          <a:prstGeom prst="rect">
            <a:avLst/>
          </a:prstGeom>
          <a:noFill/>
        </p:spPr>
        <p:txBody>
          <a:bodyPr wrap="square" anchor="ctr">
            <a:spAutoFit/>
          </a:bodyPr>
          <a:lstStyle/>
          <a:p>
            <a:pPr algn="ctr"/>
          </a:p>
        </p:txBody>
      </p:sp>
      <p:sp>
        <p:nvSpPr>
          <p:cNvPr id="37" name="TextBox 36"/>
          <p:cNvSpPr txBox="1"/>
          <p:nvPr/>
        </p:nvSpPr>
        <p:spPr>
          <a:xfrm>
            <a:off x="6995160" y="3291839"/>
            <a:ext cx="4389120" cy="457200"/>
          </a:xfrm>
          <a:prstGeom prst="rect">
            <a:avLst/>
          </a:prstGeom>
          <a:noFill/>
        </p:spPr>
        <p:txBody>
          <a:bodyPr wrap="square" anchor="t">
            <a:spAutoFit/>
          </a:bodyPr>
          <a:lstStyle/>
          <a:p>
            <a:pPr algn="l"/>
            <a:r>
              <a:t>AI outputs are non-binding explanations</a:t>
            </a:r>
          </a:p>
        </p:txBody>
      </p:sp>
      <p:sp>
        <p:nvSpPr>
          <p:cNvPr id="38" name="Oval 37"/>
          <p:cNvSpPr/>
          <p:nvPr/>
        </p:nvSpPr>
        <p:spPr>
          <a:xfrm>
            <a:off x="6675120" y="3950208"/>
            <a:ext cx="182880" cy="182880"/>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75120" y="3950208"/>
            <a:ext cx="182880" cy="182880"/>
          </a:xfrm>
          <a:prstGeom prst="rect">
            <a:avLst/>
          </a:prstGeom>
          <a:noFill/>
        </p:spPr>
        <p:txBody>
          <a:bodyPr wrap="square" anchor="ctr">
            <a:spAutoFit/>
          </a:bodyPr>
          <a:lstStyle/>
          <a:p>
            <a:pPr algn="ctr"/>
          </a:p>
        </p:txBody>
      </p:sp>
      <p:sp>
        <p:nvSpPr>
          <p:cNvPr id="40" name="TextBox 39"/>
          <p:cNvSpPr txBox="1"/>
          <p:nvPr/>
        </p:nvSpPr>
        <p:spPr>
          <a:xfrm>
            <a:off x="6995160" y="3886200"/>
            <a:ext cx="4389120" cy="457200"/>
          </a:xfrm>
          <a:prstGeom prst="rect">
            <a:avLst/>
          </a:prstGeom>
          <a:noFill/>
        </p:spPr>
        <p:txBody>
          <a:bodyPr wrap="square" anchor="t">
            <a:spAutoFit/>
          </a:bodyPr>
          <a:lstStyle/>
          <a:p>
            <a:pPr algn="l"/>
            <a:r>
              <a:t>Runs + Ledger provide accountability trail</a:t>
            </a:r>
          </a:p>
        </p:txBody>
      </p:sp>
      <p:sp>
        <p:nvSpPr>
          <p:cNvPr id="41" name="Oval 40"/>
          <p:cNvSpPr/>
          <p:nvPr/>
        </p:nvSpPr>
        <p:spPr>
          <a:xfrm>
            <a:off x="6675120" y="4544568"/>
            <a:ext cx="182880" cy="182880"/>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675120" y="4544568"/>
            <a:ext cx="182880" cy="182880"/>
          </a:xfrm>
          <a:prstGeom prst="rect">
            <a:avLst/>
          </a:prstGeom>
          <a:noFill/>
        </p:spPr>
        <p:txBody>
          <a:bodyPr wrap="square" anchor="ctr">
            <a:spAutoFit/>
          </a:bodyPr>
          <a:lstStyle/>
          <a:p>
            <a:pPr algn="ctr"/>
          </a:p>
        </p:txBody>
      </p:sp>
      <p:sp>
        <p:nvSpPr>
          <p:cNvPr id="43" name="TextBox 42"/>
          <p:cNvSpPr txBox="1"/>
          <p:nvPr/>
        </p:nvSpPr>
        <p:spPr>
          <a:xfrm>
            <a:off x="6995160" y="4480560"/>
            <a:ext cx="4389120" cy="457200"/>
          </a:xfrm>
          <a:prstGeom prst="rect">
            <a:avLst/>
          </a:prstGeom>
          <a:noFill/>
        </p:spPr>
        <p:txBody>
          <a:bodyPr wrap="square" anchor="t">
            <a:spAutoFit/>
          </a:bodyPr>
          <a:lstStyle/>
          <a:p>
            <a:pPr algn="l"/>
          </a:p>
        </p:txBody>
      </p:sp>
      <p:sp>
        <p:nvSpPr>
          <p:cNvPr id="44" name="Oval 43"/>
          <p:cNvSpPr/>
          <p:nvPr/>
        </p:nvSpPr>
        <p:spPr>
          <a:xfrm>
            <a:off x="6675120" y="5138928"/>
            <a:ext cx="182880" cy="182880"/>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675120" y="5138928"/>
            <a:ext cx="182880" cy="182880"/>
          </a:xfrm>
          <a:prstGeom prst="rect">
            <a:avLst/>
          </a:prstGeom>
          <a:noFill/>
        </p:spPr>
        <p:txBody>
          <a:bodyPr wrap="square" anchor="ctr">
            <a:spAutoFit/>
          </a:bodyPr>
          <a:lstStyle/>
          <a:p>
            <a:pPr algn="ctr"/>
          </a:p>
        </p:txBody>
      </p:sp>
      <p:sp>
        <p:nvSpPr>
          <p:cNvPr id="46" name="TextBox 45"/>
          <p:cNvSpPr txBox="1"/>
          <p:nvPr/>
        </p:nvSpPr>
        <p:spPr>
          <a:xfrm>
            <a:off x="6995160" y="5074920"/>
            <a:ext cx="4389120" cy="457200"/>
          </a:xfrm>
          <a:prstGeom prst="rect">
            <a:avLst/>
          </a:prstGeom>
          <a:noFill/>
        </p:spPr>
        <p:txBody>
          <a:bodyPr wrap="square" anchor="t">
            <a:spAutoFit/>
          </a:bodyPr>
          <a:lstStyle/>
          <a:p>
            <a:pPr algn="l"/>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9144000" cy="640080"/>
          </a:xfrm>
          <a:prstGeom prst="rect">
            <a:avLst/>
          </a:prstGeom>
          <a:noFill/>
        </p:spPr>
        <p:txBody>
          <a:bodyPr wrap="square" anchor="t">
            <a:spAutoFit/>
          </a:bodyPr>
          <a:lstStyle/>
          <a:p>
            <a:pPr algn="l"/>
            <a:r>
              <a:t>Learning Ledger</a:t>
            </a:r>
          </a:p>
        </p:txBody>
      </p:sp>
      <p:sp>
        <p:nvSpPr>
          <p:cNvPr id="4" name="Rectangle 3"/>
          <p:cNvSpPr/>
          <p:nvPr/>
        </p:nvSpPr>
        <p:spPr>
          <a:xfrm>
            <a:off x="731520" y="77724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280160"/>
            <a:ext cx="3474720" cy="246888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280160"/>
            <a:ext cx="63500" cy="246888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40080" y="1417320"/>
            <a:ext cx="640080" cy="640080"/>
          </a:xfrm>
          <a:prstGeom prst="ellipse">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 name="TextBox 7"/>
          <p:cNvSpPr txBox="1"/>
          <p:nvPr/>
        </p:nvSpPr>
        <p:spPr>
          <a:xfrm>
            <a:off x="1463040" y="1508760"/>
            <a:ext cx="2377440" cy="411480"/>
          </a:xfrm>
          <a:prstGeom prst="rect">
            <a:avLst/>
          </a:prstGeom>
          <a:noFill/>
        </p:spPr>
        <p:txBody>
          <a:bodyPr wrap="square" anchor="t">
            <a:spAutoFit/>
          </a:bodyPr>
          <a:lstStyle/>
          <a:p>
            <a:pPr algn="l"/>
            <a:r>
              <a:t>Decision chain from proposal to realized outcome</a:t>
            </a:r>
          </a:p>
        </p:txBody>
      </p:sp>
      <p:sp>
        <p:nvSpPr>
          <p:cNvPr id="9" name="TextBox 8"/>
          <p:cNvSpPr txBox="1"/>
          <p:nvPr/>
        </p:nvSpPr>
        <p:spPr>
          <a:xfrm>
            <a:off x="731520" y="2148840"/>
            <a:ext cx="3108960" cy="1463040"/>
          </a:xfrm>
          <a:prstGeom prst="rect">
            <a:avLst/>
          </a:prstGeom>
          <a:noFill/>
        </p:spPr>
        <p:txBody>
          <a:bodyPr wrap="square" anchor="t">
            <a:spAutoFit/>
          </a:bodyPr>
          <a:lstStyle/>
          <a:p>
            <a:pPr algn="l"/>
          </a:p>
        </p:txBody>
      </p:sp>
      <p:sp>
        <p:nvSpPr>
          <p:cNvPr id="10" name="Rounded Rectangle 9"/>
          <p:cNvSpPr/>
          <p:nvPr/>
        </p:nvSpPr>
        <p:spPr>
          <a:xfrm>
            <a:off x="4389120" y="1280160"/>
            <a:ext cx="3474720" cy="246888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280160"/>
            <a:ext cx="63500" cy="2468880"/>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480560" y="1417320"/>
            <a:ext cx="640080" cy="640080"/>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3" name="TextBox 12"/>
          <p:cNvSpPr txBox="1"/>
          <p:nvPr/>
        </p:nvSpPr>
        <p:spPr>
          <a:xfrm>
            <a:off x="5303520" y="1508760"/>
            <a:ext cx="2377440" cy="411480"/>
          </a:xfrm>
          <a:prstGeom prst="rect">
            <a:avLst/>
          </a:prstGeom>
          <a:noFill/>
        </p:spPr>
        <p:txBody>
          <a:bodyPr wrap="square" anchor="t">
            <a:spAutoFit/>
          </a:bodyPr>
          <a:lstStyle/>
          <a:p>
            <a:pPr algn="l"/>
            <a:r>
              <a:t>Evidence attribution by role and context</a:t>
            </a:r>
          </a:p>
        </p:txBody>
      </p:sp>
      <p:sp>
        <p:nvSpPr>
          <p:cNvPr id="14" name="TextBox 13"/>
          <p:cNvSpPr txBox="1"/>
          <p:nvPr/>
        </p:nvSpPr>
        <p:spPr>
          <a:xfrm>
            <a:off x="4572000" y="2148840"/>
            <a:ext cx="3108960" cy="1463040"/>
          </a:xfrm>
          <a:prstGeom prst="rect">
            <a:avLst/>
          </a:prstGeom>
          <a:noFill/>
        </p:spPr>
        <p:txBody>
          <a:bodyPr wrap="square" anchor="t">
            <a:spAutoFit/>
          </a:bodyPr>
          <a:lstStyle/>
          <a:p>
            <a:pPr algn="l"/>
          </a:p>
        </p:txBody>
      </p:sp>
      <p:sp>
        <p:nvSpPr>
          <p:cNvPr id="15" name="Rounded Rectangle 14"/>
          <p:cNvSpPr/>
          <p:nvPr/>
        </p:nvSpPr>
        <p:spPr>
          <a:xfrm>
            <a:off x="8229600" y="1280160"/>
            <a:ext cx="3474720" cy="246888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29600" y="1280160"/>
            <a:ext cx="63500" cy="2468880"/>
          </a:xfrm>
          <a:prstGeom prst="rect">
            <a:avLst/>
          </a:prstGeom>
          <a:solidFill>
            <a:srgbClr val="20C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321040" y="1417320"/>
            <a:ext cx="640080" cy="640080"/>
          </a:xfrm>
          <a:prstGeom prst="ellipse">
            <a:avLst/>
          </a:prstGeom>
          <a:solidFill>
            <a:srgbClr val="20C99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8" name="TextBox 17"/>
          <p:cNvSpPr txBox="1"/>
          <p:nvPr/>
        </p:nvSpPr>
        <p:spPr>
          <a:xfrm>
            <a:off x="9144000" y="1508760"/>
            <a:ext cx="2377440" cy="411480"/>
          </a:xfrm>
          <a:prstGeom prst="rect">
            <a:avLst/>
          </a:prstGeom>
          <a:noFill/>
        </p:spPr>
        <p:txBody>
          <a:bodyPr wrap="square" anchor="t">
            <a:spAutoFit/>
          </a:bodyPr>
          <a:lstStyle/>
          <a:p>
            <a:pPr algn="l"/>
            <a:r>
              <a:t>Expected vs realized outcome comparison</a:t>
            </a:r>
          </a:p>
        </p:txBody>
      </p:sp>
      <p:sp>
        <p:nvSpPr>
          <p:cNvPr id="19" name="TextBox 18"/>
          <p:cNvSpPr txBox="1"/>
          <p:nvPr/>
        </p:nvSpPr>
        <p:spPr>
          <a:xfrm>
            <a:off x="8412480" y="2148840"/>
            <a:ext cx="3108960" cy="1463040"/>
          </a:xfrm>
          <a:prstGeom prst="rect">
            <a:avLst/>
          </a:prstGeom>
          <a:noFill/>
        </p:spPr>
        <p:txBody>
          <a:bodyPr wrap="square" anchor="t">
            <a:spAutoFit/>
          </a:bodyPr>
          <a:lstStyle/>
          <a:p>
            <a:pPr algn="l"/>
          </a:p>
        </p:txBody>
      </p:sp>
      <p:sp>
        <p:nvSpPr>
          <p:cNvPr id="20" name="Rounded Rectangle 19"/>
          <p:cNvSpPr/>
          <p:nvPr/>
        </p:nvSpPr>
        <p:spPr>
          <a:xfrm>
            <a:off x="548640" y="4023360"/>
            <a:ext cx="3474720" cy="246888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4023360"/>
            <a:ext cx="63500" cy="2468880"/>
          </a:xfrm>
          <a:prstGeom prst="rect">
            <a:avLst/>
          </a:prstGeom>
          <a:solidFill>
            <a:srgbClr val="1A2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40080" y="4160520"/>
            <a:ext cx="640080" cy="640080"/>
          </a:xfrm>
          <a:prstGeom prst="ellipse">
            <a:avLst/>
          </a:prstGeom>
          <a:solidFill>
            <a:srgbClr val="1A287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23" name="TextBox 22"/>
          <p:cNvSpPr txBox="1"/>
          <p:nvPr/>
        </p:nvSpPr>
        <p:spPr>
          <a:xfrm>
            <a:off x="1463040" y="4251960"/>
            <a:ext cx="2377440" cy="411480"/>
          </a:xfrm>
          <a:prstGeom prst="rect">
            <a:avLst/>
          </a:prstGeom>
          <a:noFill/>
        </p:spPr>
        <p:txBody>
          <a:bodyPr wrap="square" anchor="t">
            <a:spAutoFit/>
          </a:bodyPr>
          <a:lstStyle/>
          <a:p>
            <a:pPr algn="l"/>
            <a:r>
              <a:t>Behavior change review across periods</a:t>
            </a:r>
          </a:p>
        </p:txBody>
      </p:sp>
      <p:sp>
        <p:nvSpPr>
          <p:cNvPr id="24" name="TextBox 23"/>
          <p:cNvSpPr txBox="1"/>
          <p:nvPr/>
        </p:nvSpPr>
        <p:spPr>
          <a:xfrm>
            <a:off x="731520" y="4892040"/>
            <a:ext cx="3108960" cy="1463040"/>
          </a:xfrm>
          <a:prstGeom prst="rect">
            <a:avLst/>
          </a:prstGeom>
          <a:noFill/>
        </p:spPr>
        <p:txBody>
          <a:bodyPr wrap="square" anchor="t">
            <a:spAutoFit/>
          </a:bodyPr>
          <a:lstStyle/>
          <a:p>
            <a:pPr algn="l"/>
          </a:p>
        </p:txBody>
      </p:sp>
      <p:sp>
        <p:nvSpPr>
          <p:cNvPr id="25" name="Rounded Rectangle 24"/>
          <p:cNvSpPr/>
          <p:nvPr/>
        </p:nvSpPr>
        <p:spPr>
          <a:xfrm>
            <a:off x="4389120" y="4023360"/>
            <a:ext cx="3474720" cy="246888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389120" y="4023360"/>
            <a:ext cx="63500" cy="2468880"/>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480560" y="4160520"/>
            <a:ext cx="640080" cy="640080"/>
          </a:xfrm>
          <a:prstGeom prst="ellipse">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28" name="TextBox 27"/>
          <p:cNvSpPr txBox="1"/>
          <p:nvPr/>
        </p:nvSpPr>
        <p:spPr>
          <a:xfrm>
            <a:off x="5303520" y="4251960"/>
            <a:ext cx="2377440" cy="411480"/>
          </a:xfrm>
          <a:prstGeom prst="rect">
            <a:avLst/>
          </a:prstGeom>
          <a:noFill/>
        </p:spPr>
        <p:txBody>
          <a:bodyPr wrap="square" anchor="t">
            <a:spAutoFit/>
          </a:bodyPr>
          <a:lstStyle/>
          <a:p>
            <a:pPr algn="l"/>
            <a:r>
              <a:t>Post-trade review</a:t>
            </a:r>
          </a:p>
        </p:txBody>
      </p:sp>
      <p:sp>
        <p:nvSpPr>
          <p:cNvPr id="29" name="TextBox 28"/>
          <p:cNvSpPr txBox="1"/>
          <p:nvPr/>
        </p:nvSpPr>
        <p:spPr>
          <a:xfrm>
            <a:off x="4572000" y="4892040"/>
            <a:ext cx="3108960" cy="1463040"/>
          </a:xfrm>
          <a:prstGeom prst="rect">
            <a:avLst/>
          </a:prstGeom>
          <a:noFill/>
        </p:spPr>
        <p:txBody>
          <a:bodyPr wrap="square" anchor="t">
            <a:spAutoFit/>
          </a:bodyPr>
          <a:lstStyle/>
          <a:p>
            <a:pPr algn="l"/>
            <a:r>
              <a:t>Explain why outcomes improved or degraded</a:t>
            </a:r>
          </a:p>
        </p:txBody>
      </p:sp>
      <p:sp>
        <p:nvSpPr>
          <p:cNvPr id="30" name="Rounded Rectangle 29"/>
          <p:cNvSpPr/>
          <p:nvPr/>
        </p:nvSpPr>
        <p:spPr>
          <a:xfrm>
            <a:off x="8229600" y="4023360"/>
            <a:ext cx="3474720" cy="246888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229600" y="4023360"/>
            <a:ext cx="63500" cy="2468880"/>
          </a:xfrm>
          <a:prstGeom prst="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321040" y="4160520"/>
            <a:ext cx="640080" cy="640080"/>
          </a:xfrm>
          <a:prstGeom prst="ellipse">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3" name="TextBox 32"/>
          <p:cNvSpPr txBox="1"/>
          <p:nvPr/>
        </p:nvSpPr>
        <p:spPr>
          <a:xfrm>
            <a:off x="9144000" y="4251960"/>
            <a:ext cx="2377440" cy="411480"/>
          </a:xfrm>
          <a:prstGeom prst="rect">
            <a:avLst/>
          </a:prstGeom>
          <a:noFill/>
        </p:spPr>
        <p:txBody>
          <a:bodyPr wrap="square" anchor="t">
            <a:spAutoFit/>
          </a:bodyPr>
          <a:lstStyle/>
          <a:p>
            <a:pPr algn="l"/>
            <a:r>
              <a:t>Governance</a:t>
            </a:r>
          </a:p>
        </p:txBody>
      </p:sp>
      <p:sp>
        <p:nvSpPr>
          <p:cNvPr id="34" name="TextBox 33"/>
          <p:cNvSpPr txBox="1"/>
          <p:nvPr/>
        </p:nvSpPr>
        <p:spPr>
          <a:xfrm>
            <a:off x="8412480" y="4892040"/>
            <a:ext cx="3108960" cy="1463040"/>
          </a:xfrm>
          <a:prstGeom prst="rect">
            <a:avLst/>
          </a:prstGeom>
          <a:noFill/>
        </p:spPr>
        <p:txBody>
          <a:bodyPr wrap="square" anchor="t">
            <a:spAutoFit/>
          </a:bodyPr>
          <a:lstStyle/>
          <a:p>
            <a:pPr algn="l"/>
            <a:r>
              <a:t>Support stakeholder and compliance explainability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540"/>
        </a:solidFill>
        <a:effectLst/>
      </p:bgPr>
    </p:bg>
    <p:spTree>
      <p:nvGrpSpPr>
        <p:cNvPr id="1" name=""/>
        <p:cNvGrpSpPr/>
        <p:nvPr/>
      </p:nvGrpSpPr>
      <p:grpSpPr>
        <a:xfrm>
          <a:off x="0" y="0"/>
          <a:ext cx="0" cy="0"/>
          <a:chOff x="0" y="0"/>
          <a:chExt cx="0" cy="0"/>
        </a:xfrm>
      </p:grpSpPr>
      <p:sp>
        <p:nvSpPr>
          <p:cNvPr id="2" name="Rectangle 1"/>
          <p:cNvSpPr/>
          <p:nvPr/>
        </p:nvSpPr>
        <p:spPr>
          <a:xfrm>
            <a:off x="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144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8288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296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440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0584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9728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8872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0" y="9144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0" y="18288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27432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36576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45720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54864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4008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274320"/>
            <a:ext cx="10058400" cy="640080"/>
          </a:xfrm>
          <a:prstGeom prst="rect">
            <a:avLst/>
          </a:prstGeom>
          <a:noFill/>
        </p:spPr>
        <p:txBody>
          <a:bodyPr wrap="square" anchor="t">
            <a:spAutoFit/>
          </a:bodyPr>
          <a:lstStyle/>
          <a:p>
            <a:pPr algn="l"/>
            <a:r>
              <a:t>Performance Dashboard</a:t>
            </a:r>
          </a:p>
        </p:txBody>
      </p:sp>
      <p:sp>
        <p:nvSpPr>
          <p:cNvPr id="25" name="Rectangle 24"/>
          <p:cNvSpPr/>
          <p:nvPr/>
        </p:nvSpPr>
        <p:spPr>
          <a:xfrm>
            <a:off x="731520" y="86868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1097280"/>
            <a:ext cx="10058400" cy="553998"/>
          </a:xfrm>
          <a:prstGeom prst="rect">
            <a:avLst/>
          </a:prstGeom>
          <a:noFill/>
        </p:spPr>
        <p:txBody>
          <a:bodyPr wrap="square" anchor="t">
            <a:spAutoFit/>
          </a:bodyPr>
          <a:lstStyle/>
          <a:p>
            <a:pPr algn="l"/>
            <a:r>
              <a:t>Portfolio-level truth: compare return, drawdown, and consistency before changing policy.</a:t>
            </a:r>
          </a:p>
        </p:txBody>
      </p:sp>
      <p:sp>
        <p:nvSpPr>
          <p:cNvPr id="27" name="Rounded Rectangle 26"/>
          <p:cNvSpPr/>
          <p:nvPr/>
        </p:nvSpPr>
        <p:spPr>
          <a:xfrm>
            <a:off x="731520" y="1828800"/>
            <a:ext cx="2286000" cy="64008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 y="1874520"/>
            <a:ext cx="1097280" cy="274320"/>
          </a:xfrm>
          <a:prstGeom prst="rect">
            <a:avLst/>
          </a:prstGeom>
          <a:noFill/>
        </p:spPr>
        <p:txBody>
          <a:bodyPr wrap="square" anchor="t">
            <a:spAutoFit/>
          </a:bodyPr>
          <a:lstStyle/>
          <a:p>
            <a:pPr algn="l"/>
            <a:r>
              <a:t>Level 1</a:t>
            </a:r>
          </a:p>
        </p:txBody>
      </p:sp>
      <p:sp>
        <p:nvSpPr>
          <p:cNvPr id="29" name="TextBox 28"/>
          <p:cNvSpPr txBox="1"/>
          <p:nvPr/>
        </p:nvSpPr>
        <p:spPr>
          <a:xfrm>
            <a:off x="822960" y="2103120"/>
            <a:ext cx="1828800" cy="320040"/>
          </a:xfrm>
          <a:prstGeom prst="rect">
            <a:avLst/>
          </a:prstGeom>
          <a:noFill/>
        </p:spPr>
        <p:txBody>
          <a:bodyPr wrap="square" anchor="t">
            <a:spAutoFit/>
          </a:bodyPr>
          <a:lstStyle/>
          <a:p>
            <a:pPr algn="l"/>
            <a:r>
              <a:t>Snapshot</a:t>
            </a:r>
          </a:p>
        </p:txBody>
      </p:sp>
      <p:sp>
        <p:nvSpPr>
          <p:cNvPr id="30" name="TextBox 29"/>
          <p:cNvSpPr txBox="1"/>
          <p:nvPr/>
        </p:nvSpPr>
        <p:spPr>
          <a:xfrm>
            <a:off x="3291840" y="1874520"/>
            <a:ext cx="4572000" cy="548640"/>
          </a:xfrm>
          <a:prstGeom prst="rect">
            <a:avLst/>
          </a:prstGeom>
          <a:noFill/>
        </p:spPr>
        <p:txBody>
          <a:bodyPr wrap="square" anchor="t">
            <a:spAutoFit/>
          </a:bodyPr>
          <a:lstStyle/>
          <a:p>
            <a:pPr algn="l"/>
            <a:r>
              <a:t>Current return and drawdown</a:t>
            </a:r>
          </a:p>
          <a:p>
            <a:r>
              <a:t>by portfolio</a:t>
            </a:r>
          </a:p>
        </p:txBody>
      </p:sp>
      <p:sp>
        <p:nvSpPr>
          <p:cNvPr id="31" name="TextBox 30"/>
          <p:cNvSpPr txBox="1"/>
          <p:nvPr/>
        </p:nvSpPr>
        <p:spPr>
          <a:xfrm>
            <a:off x="10515600" y="1965960"/>
            <a:ext cx="1188720" cy="365760"/>
          </a:xfrm>
          <a:prstGeom prst="rect">
            <a:avLst/>
          </a:prstGeom>
          <a:noFill/>
        </p:spPr>
        <p:txBody>
          <a:bodyPr wrap="square" anchor="t">
            <a:spAutoFit/>
          </a:bodyPr>
          <a:lstStyle/>
          <a:p>
            <a:pPr algn="r"/>
            <a:r>
              <a:t>Live</a:t>
            </a:r>
          </a:p>
        </p:txBody>
      </p:sp>
      <p:sp>
        <p:nvSpPr>
          <p:cNvPr id="32" name="Rounded Rectangle 31"/>
          <p:cNvSpPr/>
          <p:nvPr/>
        </p:nvSpPr>
        <p:spPr>
          <a:xfrm>
            <a:off x="731520" y="2518806"/>
            <a:ext cx="4114800" cy="640080"/>
          </a:xfrm>
          <a:prstGeom prst="round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60" y="2564526"/>
            <a:ext cx="1097280" cy="274320"/>
          </a:xfrm>
          <a:prstGeom prst="rect">
            <a:avLst/>
          </a:prstGeom>
          <a:noFill/>
        </p:spPr>
        <p:txBody>
          <a:bodyPr wrap="square" anchor="t">
            <a:spAutoFit/>
          </a:bodyPr>
          <a:lstStyle/>
          <a:p>
            <a:pPr algn="l"/>
            <a:r>
              <a:t>Level 2</a:t>
            </a:r>
          </a:p>
        </p:txBody>
      </p:sp>
      <p:sp>
        <p:nvSpPr>
          <p:cNvPr id="34" name="TextBox 33"/>
          <p:cNvSpPr txBox="1"/>
          <p:nvPr/>
        </p:nvSpPr>
        <p:spPr>
          <a:xfrm>
            <a:off x="822960" y="2793126"/>
            <a:ext cx="1828800" cy="320040"/>
          </a:xfrm>
          <a:prstGeom prst="rect">
            <a:avLst/>
          </a:prstGeom>
          <a:noFill/>
        </p:spPr>
        <p:txBody>
          <a:bodyPr wrap="square" anchor="t">
            <a:spAutoFit/>
          </a:bodyPr>
          <a:lstStyle/>
          <a:p>
            <a:pPr algn="l"/>
            <a:r>
              <a:t>Trend</a:t>
            </a:r>
          </a:p>
        </p:txBody>
      </p:sp>
      <p:sp>
        <p:nvSpPr>
          <p:cNvPr id="35" name="TextBox 34"/>
          <p:cNvSpPr txBox="1"/>
          <p:nvPr/>
        </p:nvSpPr>
        <p:spPr>
          <a:xfrm>
            <a:off x="5120640" y="2564526"/>
            <a:ext cx="4572000" cy="548640"/>
          </a:xfrm>
          <a:prstGeom prst="rect">
            <a:avLst/>
          </a:prstGeom>
          <a:noFill/>
        </p:spPr>
        <p:txBody>
          <a:bodyPr wrap="square" anchor="t">
            <a:spAutoFit/>
          </a:bodyPr>
          <a:lstStyle/>
          <a:p>
            <a:pPr algn="l"/>
            <a:r>
              <a:t>Period filters (1M/3M/YTD)</a:t>
            </a:r>
          </a:p>
          <a:p>
            <a:r>
              <a:t>for direction and stability</a:t>
            </a:r>
          </a:p>
        </p:txBody>
      </p:sp>
      <p:sp>
        <p:nvSpPr>
          <p:cNvPr id="36" name="TextBox 35"/>
          <p:cNvSpPr txBox="1"/>
          <p:nvPr/>
        </p:nvSpPr>
        <p:spPr>
          <a:xfrm>
            <a:off x="10515600" y="2655966"/>
            <a:ext cx="1188720" cy="365760"/>
          </a:xfrm>
          <a:prstGeom prst="rect">
            <a:avLst/>
          </a:prstGeom>
          <a:noFill/>
        </p:spPr>
        <p:txBody>
          <a:bodyPr wrap="square" anchor="t">
            <a:spAutoFit/>
          </a:bodyPr>
          <a:lstStyle/>
          <a:p>
            <a:pPr algn="r"/>
            <a:r>
              <a:t>Live</a:t>
            </a:r>
          </a:p>
        </p:txBody>
      </p:sp>
      <p:sp>
        <p:nvSpPr>
          <p:cNvPr id="37" name="Rounded Rectangle 36"/>
          <p:cNvSpPr/>
          <p:nvPr/>
        </p:nvSpPr>
        <p:spPr>
          <a:xfrm>
            <a:off x="731520" y="3240344"/>
            <a:ext cx="5943600" cy="640080"/>
          </a:xfrm>
          <a:prstGeom prst="roundRect">
            <a:avLst/>
          </a:prstGeom>
          <a:solidFill>
            <a:srgbClr val="20C997"/>
          </a:solidFill>
          <a:ln w="381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22960" y="3286064"/>
            <a:ext cx="1097280" cy="274320"/>
          </a:xfrm>
          <a:prstGeom prst="rect">
            <a:avLst/>
          </a:prstGeom>
          <a:noFill/>
        </p:spPr>
        <p:txBody>
          <a:bodyPr wrap="square" anchor="t">
            <a:spAutoFit/>
          </a:bodyPr>
          <a:lstStyle/>
          <a:p>
            <a:pPr algn="l"/>
            <a:r>
              <a:t>Level 3</a:t>
            </a:r>
          </a:p>
        </p:txBody>
      </p:sp>
      <p:sp>
        <p:nvSpPr>
          <p:cNvPr id="39" name="TextBox 38"/>
          <p:cNvSpPr txBox="1"/>
          <p:nvPr/>
        </p:nvSpPr>
        <p:spPr>
          <a:xfrm>
            <a:off x="822960" y="3514664"/>
            <a:ext cx="1828800" cy="320040"/>
          </a:xfrm>
          <a:prstGeom prst="rect">
            <a:avLst/>
          </a:prstGeom>
          <a:noFill/>
        </p:spPr>
        <p:txBody>
          <a:bodyPr wrap="square" anchor="t">
            <a:spAutoFit/>
          </a:bodyPr>
          <a:lstStyle/>
          <a:p>
            <a:pPr algn="l"/>
            <a:r>
              <a:t>Attribution</a:t>
            </a:r>
          </a:p>
        </p:txBody>
      </p:sp>
      <p:sp>
        <p:nvSpPr>
          <p:cNvPr id="40" name="TextBox 39"/>
          <p:cNvSpPr txBox="1"/>
          <p:nvPr/>
        </p:nvSpPr>
        <p:spPr>
          <a:xfrm>
            <a:off x="6949440" y="3286064"/>
            <a:ext cx="4572000" cy="548640"/>
          </a:xfrm>
          <a:prstGeom prst="rect">
            <a:avLst/>
          </a:prstGeom>
          <a:noFill/>
        </p:spPr>
        <p:txBody>
          <a:bodyPr wrap="square" anchor="t">
            <a:spAutoFit/>
          </a:bodyPr>
          <a:lstStyle/>
          <a:p>
            <a:pPr algn="l"/>
            <a:r>
              <a:t>Link movement to training,</a:t>
            </a:r>
          </a:p>
          <a:p>
            <a:r>
              <a:t>decisions, and risk gates</a:t>
            </a:r>
          </a:p>
        </p:txBody>
      </p:sp>
      <p:sp>
        <p:nvSpPr>
          <p:cNvPr id="41" name="TextBox 40"/>
          <p:cNvSpPr txBox="1"/>
          <p:nvPr/>
        </p:nvSpPr>
        <p:spPr>
          <a:xfrm>
            <a:off x="10515600" y="3377504"/>
            <a:ext cx="1188720" cy="365760"/>
          </a:xfrm>
          <a:prstGeom prst="rect">
            <a:avLst/>
          </a:prstGeom>
          <a:noFill/>
        </p:spPr>
        <p:txBody>
          <a:bodyPr wrap="square" anchor="t">
            <a:spAutoFit/>
          </a:bodyPr>
          <a:lstStyle/>
          <a:p>
            <a:pPr algn="r"/>
            <a:r>
              <a:t>Live</a:t>
            </a:r>
          </a:p>
        </p:txBody>
      </p:sp>
      <p:sp>
        <p:nvSpPr>
          <p:cNvPr id="42" name="Rounded Rectangle 41"/>
          <p:cNvSpPr/>
          <p:nvPr/>
        </p:nvSpPr>
        <p:spPr>
          <a:xfrm>
            <a:off x="731520" y="3972389"/>
            <a:ext cx="7772400" cy="640080"/>
          </a:xfrm>
          <a:prstGeom prst="roundRect">
            <a:avLst/>
          </a:prstGeom>
          <a:solidFill>
            <a:srgbClr val="6F42C1"/>
          </a:solidFill>
          <a:ln w="381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 y="4018109"/>
            <a:ext cx="1097280" cy="274320"/>
          </a:xfrm>
          <a:prstGeom prst="rect">
            <a:avLst/>
          </a:prstGeom>
          <a:noFill/>
        </p:spPr>
        <p:txBody>
          <a:bodyPr wrap="square" anchor="t">
            <a:spAutoFit/>
          </a:bodyPr>
          <a:lstStyle/>
          <a:p>
            <a:pPr algn="l"/>
            <a:r>
              <a:t>Level 4</a:t>
            </a:r>
          </a:p>
        </p:txBody>
      </p:sp>
      <p:sp>
        <p:nvSpPr>
          <p:cNvPr id="44" name="TextBox 43"/>
          <p:cNvSpPr txBox="1"/>
          <p:nvPr/>
        </p:nvSpPr>
        <p:spPr>
          <a:xfrm>
            <a:off x="822960" y="4246709"/>
            <a:ext cx="1828800" cy="320040"/>
          </a:xfrm>
          <a:prstGeom prst="rect">
            <a:avLst/>
          </a:prstGeom>
          <a:noFill/>
        </p:spPr>
        <p:txBody>
          <a:bodyPr wrap="square" anchor="t">
            <a:spAutoFit/>
          </a:bodyPr>
          <a:lstStyle/>
          <a:p>
            <a:pPr algn="l"/>
            <a:r>
              <a:t>Policy</a:t>
            </a:r>
          </a:p>
        </p:txBody>
      </p:sp>
      <p:sp>
        <p:nvSpPr>
          <p:cNvPr id="45" name="TextBox 44"/>
          <p:cNvSpPr txBox="1"/>
          <p:nvPr/>
        </p:nvSpPr>
        <p:spPr>
          <a:xfrm>
            <a:off x="8778240" y="4007602"/>
            <a:ext cx="4572000" cy="461665"/>
          </a:xfrm>
          <a:prstGeom prst="rect">
            <a:avLst/>
          </a:prstGeom>
          <a:noFill/>
        </p:spPr>
        <p:txBody>
          <a:bodyPr wrap="square" anchor="t">
            <a:spAutoFit/>
          </a:bodyPr>
          <a:lstStyle/>
          <a:p>
            <a:pPr algn="l"/>
            <a:r>
              <a:t>Use Parallel Worlds and</a:t>
            </a:r>
            <a:endParaRPr lang="de-DE" sz="1200" b="0" dirty="0">
              <a:solidFill>
                <a:srgbClr val="CCD5E0"/>
              </a:solidFill>
              <a:latin typeface="Segoe UI"/>
            </a:endParaRPr>
          </a:p>
          <a:p>
            <a:r>
              <a:t>committee logs for tuning</a:t>
            </a:r>
          </a:p>
        </p:txBody>
      </p:sp>
      <p:sp>
        <p:nvSpPr>
          <p:cNvPr id="46" name="TextBox 45"/>
          <p:cNvSpPr txBox="1"/>
          <p:nvPr/>
        </p:nvSpPr>
        <p:spPr>
          <a:xfrm>
            <a:off x="10515600" y="4109549"/>
            <a:ext cx="1188720" cy="365760"/>
          </a:xfrm>
          <a:prstGeom prst="rect">
            <a:avLst/>
          </a:prstGeom>
          <a:noFill/>
        </p:spPr>
        <p:txBody>
          <a:bodyPr wrap="square" anchor="t">
            <a:spAutoFit/>
          </a:bodyPr>
          <a:lstStyle/>
          <a:p>
            <a:pPr algn="r"/>
            <a:r>
              <a:t>In Use</a:t>
            </a:r>
          </a:p>
        </p:txBody>
      </p:sp>
      <p:sp>
        <p:nvSpPr>
          <p:cNvPr id="47" name="Rounded Rectangle 46"/>
          <p:cNvSpPr/>
          <p:nvPr/>
        </p:nvSpPr>
        <p:spPr>
          <a:xfrm>
            <a:off x="731520" y="4693925"/>
            <a:ext cx="9601200" cy="640080"/>
          </a:xfrm>
          <a:prstGeom prst="roundRect">
            <a:avLst/>
          </a:prstGeom>
          <a:solidFill>
            <a:srgbClr val="253585"/>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60" y="4739645"/>
            <a:ext cx="1097280" cy="274320"/>
          </a:xfrm>
          <a:prstGeom prst="rect">
            <a:avLst/>
          </a:prstGeom>
          <a:noFill/>
        </p:spPr>
        <p:txBody>
          <a:bodyPr wrap="square" anchor="t">
            <a:spAutoFit/>
          </a:bodyPr>
          <a:lstStyle/>
          <a:p>
            <a:pPr algn="l"/>
            <a:r>
              <a:t>Level 5</a:t>
            </a:r>
          </a:p>
        </p:txBody>
      </p:sp>
      <p:sp>
        <p:nvSpPr>
          <p:cNvPr id="49" name="TextBox 48"/>
          <p:cNvSpPr txBox="1"/>
          <p:nvPr/>
        </p:nvSpPr>
        <p:spPr>
          <a:xfrm>
            <a:off x="822960" y="4968245"/>
            <a:ext cx="1828800" cy="320040"/>
          </a:xfrm>
          <a:prstGeom prst="rect">
            <a:avLst/>
          </a:prstGeom>
          <a:noFill/>
        </p:spPr>
        <p:txBody>
          <a:bodyPr wrap="square" anchor="t">
            <a:spAutoFit/>
          </a:bodyPr>
          <a:lstStyle/>
          <a:p>
            <a:pPr algn="l"/>
            <a:r>
              <a:t>Continuous Learning</a:t>
            </a:r>
          </a:p>
        </p:txBody>
      </p:sp>
      <p:sp>
        <p:nvSpPr>
          <p:cNvPr id="50" name="TextBox 49"/>
          <p:cNvSpPr txBox="1"/>
          <p:nvPr/>
        </p:nvSpPr>
        <p:spPr>
          <a:xfrm>
            <a:off x="5841650" y="4855264"/>
            <a:ext cx="4572000" cy="548640"/>
          </a:xfrm>
          <a:prstGeom prst="rect">
            <a:avLst/>
          </a:prstGeom>
          <a:noFill/>
        </p:spPr>
        <p:txBody>
          <a:bodyPr wrap="square" anchor="t">
            <a:spAutoFit/>
          </a:bodyPr>
          <a:lstStyle/>
          <a:p>
            <a:pPr algn="l"/>
            <a:r>
              <a:t>Ledger feedback loops improve</a:t>
            </a:r>
          </a:p>
          <a:p>
            <a:r>
              <a:t>future committee behavior</a:t>
            </a:r>
          </a:p>
        </p:txBody>
      </p:sp>
      <p:sp>
        <p:nvSpPr>
          <p:cNvPr id="51" name="TextBox 50"/>
          <p:cNvSpPr txBox="1"/>
          <p:nvPr/>
        </p:nvSpPr>
        <p:spPr>
          <a:xfrm>
            <a:off x="10515600" y="4831085"/>
            <a:ext cx="1188720" cy="365760"/>
          </a:xfrm>
          <a:prstGeom prst="rect">
            <a:avLst/>
          </a:prstGeom>
          <a:noFill/>
        </p:spPr>
        <p:txBody>
          <a:bodyPr wrap="square" anchor="t">
            <a:spAutoFit/>
          </a:bodyPr>
          <a:lstStyle/>
          <a:p>
            <a:pPr algn="r"/>
            <a:r>
              <a:t>Target</a:t>
            </a:r>
          </a:p>
        </p:txBody>
      </p:sp>
      <p:sp>
        <p:nvSpPr>
          <p:cNvPr id="52" name="Rectangle 51"/>
          <p:cNvSpPr/>
          <p:nvPr/>
        </p:nvSpPr>
        <p:spPr>
          <a:xfrm>
            <a:off x="365759" y="3196986"/>
            <a:ext cx="67615" cy="1381364"/>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7483" y="3816349"/>
            <a:ext cx="457200" cy="274320"/>
          </a:xfrm>
          <a:prstGeom prst="rect">
            <a:avLst/>
          </a:prstGeom>
          <a:noFill/>
        </p:spPr>
        <p:txBody>
          <a:bodyPr wrap="square" anchor="t">
            <a:spAutoFit/>
          </a:bodyPr>
          <a:lstStyle/>
          <a:p>
            <a:pPr algn="ctr"/>
            <a:r>
              <a:t>Performance is interpreted in context, never in isolation.</a:t>
            </a:r>
          </a:p>
        </p:txBody>
      </p:sp>
      <p:sp>
        <p:nvSpPr>
          <p:cNvPr id="54" name="Rounded Rectangle 53"/>
          <p:cNvSpPr/>
          <p:nvPr/>
        </p:nvSpPr>
        <p:spPr>
          <a:xfrm>
            <a:off x="731520" y="5669280"/>
            <a:ext cx="10698480" cy="914400"/>
          </a:xfrm>
          <a:prstGeom prst="roundRect">
            <a:avLst/>
          </a:prstGeom>
          <a:solidFill>
            <a:srgbClr val="152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05840" y="5715000"/>
            <a:ext cx="10149840" cy="777240"/>
          </a:xfrm>
          <a:prstGeom prst="rect">
            <a:avLst/>
          </a:prstGeom>
          <a:noFill/>
        </p:spPr>
        <p:txBody>
          <a:bodyPr wrap="square" anchor="t">
            <a:spAutoFit/>
          </a:bodyPr>
          <a:lstStyle/>
          <a:p>
            <a:pPr algn="ctr"/>
            <a:r>
              <a:t>Best practice: read Performance together with Decisions + Runs + Ledger.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9144000" cy="640080"/>
          </a:xfrm>
          <a:prstGeom prst="rect">
            <a:avLst/>
          </a:prstGeom>
          <a:noFill/>
        </p:spPr>
        <p:txBody>
          <a:bodyPr wrap="square" anchor="t">
            <a:spAutoFit/>
          </a:bodyPr>
          <a:lstStyle/>
          <a:p>
            <a:pPr algn="l"/>
            <a:r>
              <a:t>Audit Trail (Runs)</a:t>
            </a:r>
          </a:p>
        </p:txBody>
      </p:sp>
      <p:sp>
        <p:nvSpPr>
          <p:cNvPr id="4" name="Rectangle 3"/>
          <p:cNvSpPr/>
          <p:nvPr/>
        </p:nvSpPr>
        <p:spPr>
          <a:xfrm>
            <a:off x="731520" y="77724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2011680"/>
            <a:ext cx="11247120" cy="508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481328" y="1865376"/>
            <a:ext cx="329184" cy="329184"/>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71600"/>
            <a:ext cx="2468880" cy="457200"/>
          </a:xfrm>
          <a:prstGeom prst="rect">
            <a:avLst/>
          </a:prstGeom>
          <a:noFill/>
        </p:spPr>
        <p:txBody>
          <a:bodyPr wrap="square" anchor="t">
            <a:spAutoFit/>
          </a:bodyPr>
          <a:lstStyle/>
          <a:p>
            <a:pPr algn="ctr"/>
            <a:r>
              <a:t>Run status, duration, as-of, and portfolio scope</a:t>
            </a:r>
          </a:p>
        </p:txBody>
      </p:sp>
      <p:sp>
        <p:nvSpPr>
          <p:cNvPr id="8" name="Rounded Rectangle 7"/>
          <p:cNvSpPr/>
          <p:nvPr/>
        </p:nvSpPr>
        <p:spPr>
          <a:xfrm>
            <a:off x="457200" y="2468880"/>
            <a:ext cx="2468880" cy="274320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2468880"/>
            <a:ext cx="2468880" cy="50800"/>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697480"/>
            <a:ext cx="2194560" cy="2286000"/>
          </a:xfrm>
          <a:prstGeom prst="rect">
            <a:avLst/>
          </a:prstGeom>
          <a:noFill/>
        </p:spPr>
        <p:txBody>
          <a:bodyPr wrap="square" anchor="t">
            <a:spAutoFit/>
          </a:bodyPr>
          <a:lstStyle/>
          <a:p>
            <a:pPr algn="l"/>
            <a:r>
              <a:t>Step-level timeline with pass/fail/skip and timing</a:t>
            </a:r>
          </a:p>
        </p:txBody>
      </p:sp>
      <p:sp>
        <p:nvSpPr>
          <p:cNvPr id="11" name="Oval 10"/>
          <p:cNvSpPr/>
          <p:nvPr/>
        </p:nvSpPr>
        <p:spPr>
          <a:xfrm>
            <a:off x="4224528" y="1865376"/>
            <a:ext cx="329184" cy="329184"/>
          </a:xfrm>
          <a:prstGeom prst="ellipse">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0" y="1371600"/>
            <a:ext cx="2468880" cy="457200"/>
          </a:xfrm>
          <a:prstGeom prst="rect">
            <a:avLst/>
          </a:prstGeom>
          <a:noFill/>
        </p:spPr>
        <p:txBody>
          <a:bodyPr wrap="square" anchor="t">
            <a:spAutoFit/>
          </a:bodyPr>
          <a:lstStyle/>
          <a:p>
            <a:pPr algn="ctr"/>
            <a:r>
              <a:t>Error panel with SQLSTATE and query IDs</a:t>
            </a:r>
          </a:p>
        </p:txBody>
      </p:sp>
      <p:sp>
        <p:nvSpPr>
          <p:cNvPr id="13" name="Rounded Rectangle 12"/>
          <p:cNvSpPr/>
          <p:nvPr/>
        </p:nvSpPr>
        <p:spPr>
          <a:xfrm>
            <a:off x="3200400" y="2468880"/>
            <a:ext cx="2468880" cy="274320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00400" y="2468880"/>
            <a:ext cx="2468880" cy="508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37560" y="2697480"/>
            <a:ext cx="2194560" cy="2286000"/>
          </a:xfrm>
          <a:prstGeom prst="rect">
            <a:avLst/>
          </a:prstGeom>
          <a:noFill/>
        </p:spPr>
        <p:txBody>
          <a:bodyPr wrap="square" anchor="t">
            <a:spAutoFit/>
          </a:bodyPr>
          <a:lstStyle/>
          <a:p>
            <a:pPr algn="l"/>
            <a:r>
              <a:t>Daily + intraday pipeline mode toggle</a:t>
            </a:r>
          </a:p>
        </p:txBody>
      </p:sp>
      <p:sp>
        <p:nvSpPr>
          <p:cNvPr id="16" name="Oval 15"/>
          <p:cNvSpPr/>
          <p:nvPr/>
        </p:nvSpPr>
        <p:spPr>
          <a:xfrm>
            <a:off x="6967728" y="1865376"/>
            <a:ext cx="329184" cy="329184"/>
          </a:xfrm>
          <a:prstGeom prst="ellipse">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0" y="1371600"/>
            <a:ext cx="2468880" cy="457200"/>
          </a:xfrm>
          <a:prstGeom prst="rect">
            <a:avLst/>
          </a:prstGeom>
          <a:noFill/>
        </p:spPr>
        <p:txBody>
          <a:bodyPr wrap="square" anchor="t">
            <a:spAutoFit/>
          </a:bodyPr>
          <a:lstStyle/>
          <a:p>
            <a:pPr algn="ctr"/>
            <a:r>
              <a:t>Triage flow: summary -&gt; step details -&gt; root cause</a:t>
            </a:r>
          </a:p>
        </p:txBody>
      </p:sp>
      <p:sp>
        <p:nvSpPr>
          <p:cNvPr id="18" name="Rounded Rectangle 17"/>
          <p:cNvSpPr/>
          <p:nvPr/>
        </p:nvSpPr>
        <p:spPr>
          <a:xfrm>
            <a:off x="5943600" y="2468880"/>
            <a:ext cx="2468880" cy="274320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43600" y="2468880"/>
            <a:ext cx="2468880" cy="50800"/>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80760" y="2697480"/>
            <a:ext cx="2194560" cy="2286000"/>
          </a:xfrm>
          <a:prstGeom prst="rect">
            <a:avLst/>
          </a:prstGeom>
          <a:noFill/>
        </p:spPr>
        <p:txBody>
          <a:bodyPr wrap="square" anchor="t">
            <a:spAutoFit/>
          </a:bodyPr>
          <a:lstStyle/>
          <a:p>
            <a:pPr algn="l"/>
            <a:r>
              <a:t>Cross-check with Live Activity and Decisions for incident review</a:t>
            </a:r>
          </a:p>
        </p:txBody>
      </p:sp>
      <p:sp>
        <p:nvSpPr>
          <p:cNvPr id="21" name="Oval 20"/>
          <p:cNvSpPr/>
          <p:nvPr/>
        </p:nvSpPr>
        <p:spPr>
          <a:xfrm>
            <a:off x="9710928" y="1865376"/>
            <a:ext cx="329184" cy="329184"/>
          </a:xfrm>
          <a:prstGeom prst="ellipse">
            <a:avLst/>
          </a:prstGeom>
          <a:solidFill>
            <a:srgbClr val="1A2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0" y="1371600"/>
            <a:ext cx="2468880" cy="457200"/>
          </a:xfrm>
          <a:prstGeom prst="rect">
            <a:avLst/>
          </a:prstGeom>
          <a:noFill/>
        </p:spPr>
        <p:txBody>
          <a:bodyPr wrap="square" anchor="t">
            <a:spAutoFit/>
          </a:bodyPr>
          <a:lstStyle/>
          <a:p>
            <a:pPr algn="ctr"/>
            <a:r>
              <a:t>Demo-ready incident flow</a:t>
            </a:r>
          </a:p>
        </p:txBody>
      </p:sp>
      <p:sp>
        <p:nvSpPr>
          <p:cNvPr id="23" name="Rounded Rectangle 22"/>
          <p:cNvSpPr/>
          <p:nvPr/>
        </p:nvSpPr>
        <p:spPr>
          <a:xfrm>
            <a:off x="8686800" y="2468880"/>
            <a:ext cx="2468880" cy="274320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686800" y="2468880"/>
            <a:ext cx="2468880" cy="50800"/>
          </a:xfrm>
          <a:prstGeom prst="rect">
            <a:avLst/>
          </a:prstGeom>
          <a:solidFill>
            <a:srgbClr val="1A2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23960" y="2697480"/>
            <a:ext cx="2194560" cy="2286000"/>
          </a:xfrm>
          <a:prstGeom prst="rect">
            <a:avLst/>
          </a:prstGeom>
          <a:noFill/>
        </p:spPr>
        <p:txBody>
          <a:bodyPr wrap="square" anchor="t">
            <a:spAutoFit/>
          </a:bodyPr>
          <a:lstStyle/>
          <a:p>
            <a:pPr algn="l"/>
            <a:r>
              <a:t>1) Open latest failed run</a:t>
            </a:r>
          </a:p>
        </p:txBody>
      </p:sp>
      <p:sp>
        <p:nvSpPr>
          <p:cNvPr id="26" name="Rounded Rectangle 25"/>
          <p:cNvSpPr/>
          <p:nvPr/>
        </p:nvSpPr>
        <p:spPr>
          <a:xfrm>
            <a:off x="1371600" y="5577840"/>
            <a:ext cx="9418320" cy="73152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t>2) Identify failing procedure and query ID</a:t>
            </a:r>
            <a:endParaRPr/>
          </a:p>
        </p:txBody>
      </p:sp>
      <p:sp>
        <p:nvSpPr>
          <p:cNvPr id="27" name="TextBox 26"/>
          <p:cNvSpPr txBox="1"/>
          <p:nvPr/>
        </p:nvSpPr>
        <p:spPr>
          <a:xfrm>
            <a:off x="1645920" y="5669280"/>
            <a:ext cx="8961120" cy="548640"/>
          </a:xfrm>
          <a:prstGeom prst="rect">
            <a:avLst/>
          </a:prstGeom>
          <a:noFill/>
        </p:spPr>
        <p:txBody>
          <a:bodyPr wrap="square" anchor="t">
            <a:spAutoFit/>
          </a:bodyPr>
          <a:lstStyle/>
          <a:p>
            <a:pPr algn="ctr"/>
            <a:r>
              <a:t>4) Confirm recovery in next successful run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9144000" cy="640080"/>
          </a:xfrm>
          <a:prstGeom prst="rect">
            <a:avLst/>
          </a:prstGeom>
          <a:noFill/>
        </p:spPr>
        <p:txBody>
          <a:bodyPr wrap="square" anchor="t">
            <a:spAutoFit/>
          </a:bodyPr>
          <a:lstStyle/>
          <a:p>
            <a:pPr algn="l"/>
            <a:r>
              <a:t>Live Demo Script (Recommended Order)</a:t>
            </a:r>
          </a:p>
        </p:txBody>
      </p:sp>
      <p:sp>
        <p:nvSpPr>
          <p:cNvPr id="4" name="Rectangle 3"/>
          <p:cNvSpPr/>
          <p:nvPr/>
        </p:nvSpPr>
        <p:spPr>
          <a:xfrm>
            <a:off x="731520" y="77724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143000"/>
            <a:ext cx="11064240" cy="429768"/>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31520" y="1261872"/>
            <a:ext cx="164592" cy="164592"/>
          </a:xfrm>
          <a:prstGeom prst="ellipse">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1188720"/>
            <a:ext cx="2560320" cy="347472"/>
          </a:xfrm>
          <a:prstGeom prst="rect">
            <a:avLst/>
          </a:prstGeom>
          <a:noFill/>
        </p:spPr>
        <p:txBody>
          <a:bodyPr wrap="square" anchor="t">
            <a:spAutoFit/>
          </a:bodyPr>
          <a:lstStyle/>
          <a:p>
            <a:pPr algn="l"/>
            <a:r>
              <a:t>Step 1</a:t>
            </a:r>
          </a:p>
        </p:txBody>
      </p:sp>
      <p:sp>
        <p:nvSpPr>
          <p:cNvPr id="8" name="TextBox 7"/>
          <p:cNvSpPr txBox="1"/>
          <p:nvPr/>
        </p:nvSpPr>
        <p:spPr>
          <a:xfrm>
            <a:off x="3840480" y="1188720"/>
            <a:ext cx="7498079" cy="347472"/>
          </a:xfrm>
          <a:prstGeom prst="rect">
            <a:avLst/>
          </a:prstGeom>
          <a:noFill/>
        </p:spPr>
        <p:txBody>
          <a:bodyPr wrap="square" anchor="t">
            <a:spAutoFit/>
          </a:bodyPr>
          <a:lstStyle/>
          <a:p>
            <a:pPr algn="l"/>
            <a:r>
              <a:t>Home / Cockpit: confirm freshness and overnight changes</a:t>
            </a:r>
          </a:p>
        </p:txBody>
      </p:sp>
      <p:sp>
        <p:nvSpPr>
          <p:cNvPr id="9" name="Rectangle 8"/>
          <p:cNvSpPr/>
          <p:nvPr/>
        </p:nvSpPr>
        <p:spPr>
          <a:xfrm>
            <a:off x="548640" y="1591056"/>
            <a:ext cx="1106424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31520" y="1709928"/>
            <a:ext cx="164592" cy="164592"/>
          </a:xfrm>
          <a:prstGeom prst="ellipse">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1636776"/>
            <a:ext cx="2560320" cy="347472"/>
          </a:xfrm>
          <a:prstGeom prst="rect">
            <a:avLst/>
          </a:prstGeom>
          <a:noFill/>
        </p:spPr>
        <p:txBody>
          <a:bodyPr wrap="square" anchor="t">
            <a:spAutoFit/>
          </a:bodyPr>
          <a:lstStyle/>
          <a:p>
            <a:pPr algn="l"/>
            <a:r>
              <a:t>Step 2</a:t>
            </a:r>
          </a:p>
        </p:txBody>
      </p:sp>
      <p:sp>
        <p:nvSpPr>
          <p:cNvPr id="12" name="TextBox 11"/>
          <p:cNvSpPr txBox="1"/>
          <p:nvPr/>
        </p:nvSpPr>
        <p:spPr>
          <a:xfrm>
            <a:off x="3840480" y="1636776"/>
            <a:ext cx="7498079" cy="347472"/>
          </a:xfrm>
          <a:prstGeom prst="rect">
            <a:avLst/>
          </a:prstGeom>
          <a:noFill/>
        </p:spPr>
        <p:txBody>
          <a:bodyPr wrap="square" anchor="t">
            <a:spAutoFit/>
          </a:bodyPr>
          <a:lstStyle/>
          <a:p>
            <a:pPr algn="l"/>
            <a:r>
              <a:t>Training Status: evidence maturity and horizon outcomes</a:t>
            </a:r>
          </a:p>
        </p:txBody>
      </p:sp>
      <p:sp>
        <p:nvSpPr>
          <p:cNvPr id="13" name="Rectangle 12"/>
          <p:cNvSpPr/>
          <p:nvPr/>
        </p:nvSpPr>
        <p:spPr>
          <a:xfrm>
            <a:off x="548640" y="2039112"/>
            <a:ext cx="11064240" cy="429768"/>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31520" y="2157984"/>
            <a:ext cx="164592" cy="164592"/>
          </a:xfrm>
          <a:prstGeom prst="ellipse">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2084832"/>
            <a:ext cx="2560320" cy="347472"/>
          </a:xfrm>
          <a:prstGeom prst="rect">
            <a:avLst/>
          </a:prstGeom>
          <a:noFill/>
        </p:spPr>
        <p:txBody>
          <a:bodyPr wrap="square" anchor="t">
            <a:spAutoFit/>
          </a:bodyPr>
          <a:lstStyle/>
          <a:p>
            <a:pPr algn="l"/>
            <a:r>
              <a:t>Step 3</a:t>
            </a:r>
          </a:p>
        </p:txBody>
      </p:sp>
      <p:sp>
        <p:nvSpPr>
          <p:cNvPr id="16" name="TextBox 15"/>
          <p:cNvSpPr txBox="1"/>
          <p:nvPr/>
        </p:nvSpPr>
        <p:spPr>
          <a:xfrm>
            <a:off x="3840480" y="2084832"/>
            <a:ext cx="7498079" cy="347472"/>
          </a:xfrm>
          <a:prstGeom prst="rect">
            <a:avLst/>
          </a:prstGeom>
          <a:noFill/>
        </p:spPr>
        <p:txBody>
          <a:bodyPr wrap="square" anchor="t">
            <a:spAutoFit/>
          </a:bodyPr>
          <a:lstStyle/>
          <a:p>
            <a:pPr algn="l"/>
            <a:r>
              <a:t>Market Timeline: one symbol chain S -&gt; P -&gt; T</a:t>
            </a:r>
          </a:p>
        </p:txBody>
      </p:sp>
      <p:sp>
        <p:nvSpPr>
          <p:cNvPr id="17" name="Rectangle 16"/>
          <p:cNvSpPr/>
          <p:nvPr/>
        </p:nvSpPr>
        <p:spPr>
          <a:xfrm>
            <a:off x="548640" y="2487168"/>
            <a:ext cx="1106424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31520" y="2606040"/>
            <a:ext cx="164592" cy="164592"/>
          </a:xfrm>
          <a:prstGeom prst="ellipse">
            <a:avLst/>
          </a:prstGeom>
          <a:solidFill>
            <a:srgbClr val="20C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1560" y="2532888"/>
            <a:ext cx="2560320" cy="347472"/>
          </a:xfrm>
          <a:prstGeom prst="rect">
            <a:avLst/>
          </a:prstGeom>
          <a:noFill/>
        </p:spPr>
        <p:txBody>
          <a:bodyPr wrap="square" anchor="t">
            <a:spAutoFit/>
          </a:bodyPr>
          <a:lstStyle/>
          <a:p>
            <a:pPr algn="l"/>
            <a:r>
              <a:t>Step 4</a:t>
            </a:r>
          </a:p>
        </p:txBody>
      </p:sp>
      <p:sp>
        <p:nvSpPr>
          <p:cNvPr id="20" name="TextBox 19"/>
          <p:cNvSpPr txBox="1"/>
          <p:nvPr/>
        </p:nvSpPr>
        <p:spPr>
          <a:xfrm>
            <a:off x="3840480" y="2532888"/>
            <a:ext cx="7498079" cy="347472"/>
          </a:xfrm>
          <a:prstGeom prst="rect">
            <a:avLst/>
          </a:prstGeom>
          <a:noFill/>
        </p:spPr>
        <p:txBody>
          <a:bodyPr wrap="square" anchor="t">
            <a:spAutoFit/>
          </a:bodyPr>
          <a:lstStyle/>
          <a:p>
            <a:pPr algn="l"/>
            <a:r>
              <a:t>Parallel Worlds: policy health + regret</a:t>
            </a:r>
          </a:p>
        </p:txBody>
      </p:sp>
      <p:sp>
        <p:nvSpPr>
          <p:cNvPr id="21" name="Rectangle 20"/>
          <p:cNvSpPr/>
          <p:nvPr/>
        </p:nvSpPr>
        <p:spPr>
          <a:xfrm>
            <a:off x="548640" y="2935224"/>
            <a:ext cx="11064240" cy="429768"/>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31520" y="3054096"/>
            <a:ext cx="164592" cy="164592"/>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1560" y="2980944"/>
            <a:ext cx="2560320" cy="347472"/>
          </a:xfrm>
          <a:prstGeom prst="rect">
            <a:avLst/>
          </a:prstGeom>
          <a:noFill/>
        </p:spPr>
        <p:txBody>
          <a:bodyPr wrap="square" anchor="t">
            <a:spAutoFit/>
          </a:bodyPr>
          <a:lstStyle/>
          <a:p>
            <a:pPr algn="l"/>
            <a:r>
              <a:t>Step 5</a:t>
            </a:r>
          </a:p>
        </p:txBody>
      </p:sp>
      <p:sp>
        <p:nvSpPr>
          <p:cNvPr id="24" name="TextBox 23"/>
          <p:cNvSpPr txBox="1"/>
          <p:nvPr/>
        </p:nvSpPr>
        <p:spPr>
          <a:xfrm>
            <a:off x="3840480" y="2980944"/>
            <a:ext cx="7498079" cy="347472"/>
          </a:xfrm>
          <a:prstGeom prst="rect">
            <a:avLst/>
          </a:prstGeom>
          <a:noFill/>
        </p:spPr>
        <p:txBody>
          <a:bodyPr wrap="square" anchor="t">
            <a:spAutoFit/>
          </a:bodyPr>
          <a:lstStyle/>
          <a:p>
            <a:pPr algn="l"/>
            <a:r>
              <a:t>News Intelligence: context, impact, HOT</a:t>
            </a:r>
          </a:p>
        </p:txBody>
      </p:sp>
      <p:sp>
        <p:nvSpPr>
          <p:cNvPr id="25" name="Rectangle 24"/>
          <p:cNvSpPr/>
          <p:nvPr/>
        </p:nvSpPr>
        <p:spPr>
          <a:xfrm>
            <a:off x="548640" y="3383280"/>
            <a:ext cx="1106424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31520" y="3502152"/>
            <a:ext cx="164592" cy="164592"/>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51560" y="3429000"/>
            <a:ext cx="2560320" cy="347472"/>
          </a:xfrm>
          <a:prstGeom prst="rect">
            <a:avLst/>
          </a:prstGeom>
          <a:noFill/>
        </p:spPr>
        <p:txBody>
          <a:bodyPr wrap="square" anchor="t">
            <a:spAutoFit/>
          </a:bodyPr>
          <a:lstStyle/>
          <a:p>
            <a:pPr algn="l"/>
            <a:r>
              <a:t>Step 6</a:t>
            </a:r>
          </a:p>
        </p:txBody>
      </p:sp>
      <p:sp>
        <p:nvSpPr>
          <p:cNvPr id="28" name="TextBox 27"/>
          <p:cNvSpPr txBox="1"/>
          <p:nvPr/>
        </p:nvSpPr>
        <p:spPr>
          <a:xfrm>
            <a:off x="3840480" y="3429000"/>
            <a:ext cx="7498079" cy="347472"/>
          </a:xfrm>
          <a:prstGeom prst="rect">
            <a:avLst/>
          </a:prstGeom>
          <a:noFill/>
        </p:spPr>
        <p:txBody>
          <a:bodyPr wrap="square" anchor="t">
            <a:spAutoFit/>
          </a:bodyPr>
          <a:lstStyle/>
          <a:p>
            <a:pPr algn="l"/>
            <a:r>
              <a:t>Live Link + Live Activity: controls and committee checkpoint</a:t>
            </a:r>
          </a:p>
        </p:txBody>
      </p:sp>
      <p:sp>
        <p:nvSpPr>
          <p:cNvPr id="29" name="Rectangle 28"/>
          <p:cNvSpPr/>
          <p:nvPr/>
        </p:nvSpPr>
        <p:spPr>
          <a:xfrm>
            <a:off x="548640" y="3831335"/>
            <a:ext cx="11064240" cy="429768"/>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31520" y="3950207"/>
            <a:ext cx="164592" cy="164592"/>
          </a:xfrm>
          <a:prstGeom prst="ellipse">
            <a:avLst/>
          </a:prstGeom>
          <a:solidFill>
            <a:srgbClr val="4A2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51560" y="3877055"/>
            <a:ext cx="2560320" cy="347472"/>
          </a:xfrm>
          <a:prstGeom prst="rect">
            <a:avLst/>
          </a:prstGeom>
          <a:noFill/>
        </p:spPr>
        <p:txBody>
          <a:bodyPr wrap="square" anchor="t">
            <a:spAutoFit/>
          </a:bodyPr>
          <a:lstStyle/>
          <a:p>
            <a:pPr algn="l"/>
            <a:r>
              <a:t>Step 7</a:t>
            </a:r>
          </a:p>
        </p:txBody>
      </p:sp>
      <p:sp>
        <p:nvSpPr>
          <p:cNvPr id="32" name="TextBox 31"/>
          <p:cNvSpPr txBox="1"/>
          <p:nvPr/>
        </p:nvSpPr>
        <p:spPr>
          <a:xfrm>
            <a:off x="3840480" y="3877055"/>
            <a:ext cx="7498079" cy="347472"/>
          </a:xfrm>
          <a:prstGeom prst="rect">
            <a:avLst/>
          </a:prstGeom>
          <a:noFill/>
        </p:spPr>
        <p:txBody>
          <a:bodyPr wrap="square" anchor="t">
            <a:spAutoFit/>
          </a:bodyPr>
          <a:lstStyle/>
          <a:p>
            <a:pPr algn="l"/>
            <a:r>
              <a:t>AI Decisions + Symbol Tracker commentary</a:t>
            </a:r>
          </a:p>
        </p:txBody>
      </p:sp>
      <p:sp>
        <p:nvSpPr>
          <p:cNvPr id="33" name="Rectangle 32"/>
          <p:cNvSpPr/>
          <p:nvPr/>
        </p:nvSpPr>
        <p:spPr>
          <a:xfrm>
            <a:off x="548640" y="4279392"/>
            <a:ext cx="1106424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731520" y="4398264"/>
            <a:ext cx="164592" cy="164592"/>
          </a:xfrm>
          <a:prstGeom prst="ellipse">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51560" y="4325112"/>
            <a:ext cx="2560320" cy="347472"/>
          </a:xfrm>
          <a:prstGeom prst="rect">
            <a:avLst/>
          </a:prstGeom>
          <a:noFill/>
        </p:spPr>
        <p:txBody>
          <a:bodyPr wrap="square" anchor="t">
            <a:spAutoFit/>
          </a:bodyPr>
          <a:lstStyle/>
          <a:p>
            <a:pPr algn="l"/>
            <a:r>
              <a:t>Step 8</a:t>
            </a:r>
          </a:p>
        </p:txBody>
      </p:sp>
      <p:sp>
        <p:nvSpPr>
          <p:cNvPr id="36" name="TextBox 35"/>
          <p:cNvSpPr txBox="1"/>
          <p:nvPr/>
        </p:nvSpPr>
        <p:spPr>
          <a:xfrm>
            <a:off x="3840480" y="4325112"/>
            <a:ext cx="7498079" cy="347472"/>
          </a:xfrm>
          <a:prstGeom prst="rect">
            <a:avLst/>
          </a:prstGeom>
          <a:noFill/>
        </p:spPr>
        <p:txBody>
          <a:bodyPr wrap="square" anchor="t">
            <a:spAutoFit/>
          </a:bodyPr>
          <a:lstStyle/>
          <a:p>
            <a:pPr algn="l"/>
            <a:r>
              <a:t>Performance + Runs + Learning Ledger closure</a:t>
            </a:r>
          </a:p>
        </p:txBody>
      </p:sp>
      <p:sp>
        <p:nvSpPr>
          <p:cNvPr id="37" name="Rectangle 36"/>
          <p:cNvSpPr/>
          <p:nvPr/>
        </p:nvSpPr>
        <p:spPr>
          <a:xfrm>
            <a:off x="548640" y="4727448"/>
            <a:ext cx="11064240" cy="429768"/>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31520" y="4846320"/>
            <a:ext cx="164592" cy="164592"/>
          </a:xfrm>
          <a:prstGeom prst="ellipse">
            <a:avLst/>
          </a:prstGeom>
          <a:solidFill>
            <a:srgbClr val="1A2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51560" y="4773168"/>
            <a:ext cx="2560320" cy="347472"/>
          </a:xfrm>
          <a:prstGeom prst="rect">
            <a:avLst/>
          </a:prstGeom>
          <a:noFill/>
        </p:spPr>
        <p:txBody>
          <a:bodyPr wrap="square" anchor="t">
            <a:spAutoFit/>
          </a:bodyPr>
          <a:lstStyle/>
          <a:p>
            <a:pPr algn="l"/>
            <a:r>
              <a:t>Presenter Tip</a:t>
            </a:r>
          </a:p>
        </p:txBody>
      </p:sp>
      <p:sp>
        <p:nvSpPr>
          <p:cNvPr id="40" name="TextBox 39"/>
          <p:cNvSpPr txBox="1"/>
          <p:nvPr/>
        </p:nvSpPr>
        <p:spPr>
          <a:xfrm>
            <a:off x="3840480" y="4773168"/>
            <a:ext cx="7498079" cy="347472"/>
          </a:xfrm>
          <a:prstGeom prst="rect">
            <a:avLst/>
          </a:prstGeom>
          <a:noFill/>
        </p:spPr>
        <p:txBody>
          <a:bodyPr wrap="square" anchor="t">
            <a:spAutoFit/>
          </a:bodyPr>
          <a:lstStyle/>
          <a:p>
            <a:pPr algn="l"/>
            <a:r>
              <a:t>Keep one symbol + one portfolio as the story anchor.</a:t>
            </a:r>
          </a:p>
        </p:txBody>
      </p:sp>
      <p:sp>
        <p:nvSpPr>
          <p:cNvPr id="41" name="Rectangle 40"/>
          <p:cNvSpPr/>
          <p:nvPr/>
        </p:nvSpPr>
        <p:spPr>
          <a:xfrm>
            <a:off x="548640" y="5175504"/>
            <a:ext cx="1106424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731520" y="5294376"/>
            <a:ext cx="164592" cy="164592"/>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51560" y="5221224"/>
            <a:ext cx="2560320" cy="347472"/>
          </a:xfrm>
          <a:prstGeom prst="rect">
            <a:avLst/>
          </a:prstGeom>
          <a:noFill/>
        </p:spPr>
        <p:txBody>
          <a:bodyPr wrap="square" anchor="t">
            <a:spAutoFit/>
          </a:bodyPr>
          <a:lstStyle/>
          <a:p>
            <a:pPr algn="l"/>
            <a:r>
              <a:t>Presenter Tip</a:t>
            </a:r>
          </a:p>
        </p:txBody>
      </p:sp>
      <p:sp>
        <p:nvSpPr>
          <p:cNvPr id="44" name="TextBox 43"/>
          <p:cNvSpPr txBox="1"/>
          <p:nvPr/>
        </p:nvSpPr>
        <p:spPr>
          <a:xfrm>
            <a:off x="3840480" y="5221224"/>
            <a:ext cx="7498079" cy="347472"/>
          </a:xfrm>
          <a:prstGeom prst="rect">
            <a:avLst/>
          </a:prstGeom>
          <a:noFill/>
        </p:spPr>
        <p:txBody>
          <a:bodyPr wrap="square" anchor="t">
            <a:spAutoFit/>
          </a:bodyPr>
          <a:lstStyle/>
          <a:p>
            <a:pPr algn="l"/>
            <a:r>
              <a:t>When AI appears, state guardrails and deterministic gates.</a:t>
            </a:r>
          </a:p>
        </p:txBody>
      </p:sp>
      <p:sp>
        <p:nvSpPr>
          <p:cNvPr id="45" name="Rectangle 44"/>
          <p:cNvSpPr/>
          <p:nvPr/>
        </p:nvSpPr>
        <p:spPr>
          <a:xfrm>
            <a:off x="548640" y="5623560"/>
            <a:ext cx="11064240" cy="429768"/>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731520" y="5742432"/>
            <a:ext cx="164592" cy="164592"/>
          </a:xfrm>
          <a:prstGeom prst="ellipse">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51560" y="5669280"/>
            <a:ext cx="2560320" cy="347472"/>
          </a:xfrm>
          <a:prstGeom prst="rect">
            <a:avLst/>
          </a:prstGeom>
          <a:noFill/>
        </p:spPr>
        <p:txBody>
          <a:bodyPr wrap="square" anchor="t">
            <a:spAutoFit/>
          </a:bodyPr>
          <a:lstStyle/>
          <a:p>
            <a:pPr algn="l"/>
            <a:r>
              <a:t>Outcome</a:t>
            </a:r>
          </a:p>
        </p:txBody>
      </p:sp>
      <p:sp>
        <p:nvSpPr>
          <p:cNvPr id="48" name="TextBox 47"/>
          <p:cNvSpPr txBox="1"/>
          <p:nvPr/>
        </p:nvSpPr>
        <p:spPr>
          <a:xfrm>
            <a:off x="3840480" y="5669280"/>
            <a:ext cx="7498079" cy="347472"/>
          </a:xfrm>
          <a:prstGeom prst="rect">
            <a:avLst/>
          </a:prstGeom>
          <a:noFill/>
        </p:spPr>
        <p:txBody>
          <a:bodyPr wrap="square" anchor="t">
            <a:spAutoFit/>
          </a:bodyPr>
          <a:lstStyle/>
          <a:p>
            <a:pPr algn="l"/>
            <a:r>
              <a:t>Audience leaves with both product and operator understanding.</a:t>
            </a:r>
          </a:p>
        </p:txBody>
      </p:sp>
      <p:sp>
        <p:nvSpPr>
          <p:cNvPr id="49" name="Rectangle 48"/>
          <p:cNvSpPr/>
          <p:nvPr/>
        </p:nvSpPr>
        <p:spPr>
          <a:xfrm>
            <a:off x="548640" y="6071616"/>
            <a:ext cx="1106424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31520" y="6190488"/>
            <a:ext cx="164592" cy="164592"/>
          </a:xfrm>
          <a:prstGeom prst="ellipse">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51560" y="6117336"/>
            <a:ext cx="2560320" cy="347472"/>
          </a:xfrm>
          <a:prstGeom prst="rect">
            <a:avLst/>
          </a:prstGeom>
          <a:noFill/>
        </p:spPr>
        <p:txBody>
          <a:bodyPr wrap="square" anchor="t">
            <a:spAutoFit/>
          </a:bodyPr>
          <a:lstStyle/>
          <a:p>
            <a:pPr algn="l"/>
          </a:p>
        </p:txBody>
      </p:sp>
      <p:sp>
        <p:nvSpPr>
          <p:cNvPr id="52" name="TextBox 51"/>
          <p:cNvSpPr txBox="1"/>
          <p:nvPr/>
        </p:nvSpPr>
        <p:spPr>
          <a:xfrm>
            <a:off x="3840480" y="6117336"/>
            <a:ext cx="7498079" cy="347472"/>
          </a:xfrm>
          <a:prstGeom prst="rect">
            <a:avLst/>
          </a:prstGeom>
          <a:noFill/>
        </p:spPr>
        <p:txBody>
          <a:bodyPr wrap="square" anchor="t">
            <a:spAutoFit/>
          </a:bodyPr>
          <a:lstStyle/>
          <a:p>
            <a:pPr algn="l"/>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9144000" cy="640080"/>
          </a:xfrm>
          <a:prstGeom prst="rect">
            <a:avLst/>
          </a:prstGeom>
          <a:noFill/>
        </p:spPr>
        <p:txBody>
          <a:bodyPr wrap="square" anchor="t">
            <a:spAutoFit/>
          </a:bodyPr>
          <a:lstStyle/>
          <a:p>
            <a:pPr algn="l"/>
            <a:r>
              <a:t>Quick Reference for Training</a:t>
            </a:r>
          </a:p>
        </p:txBody>
      </p:sp>
      <p:sp>
        <p:nvSpPr>
          <p:cNvPr id="4" name="Rectangle 3"/>
          <p:cNvSpPr/>
          <p:nvPr/>
        </p:nvSpPr>
        <p:spPr>
          <a:xfrm>
            <a:off x="731520" y="777240"/>
            <a:ext cx="1371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51560"/>
            <a:ext cx="10972800" cy="274320"/>
          </a:xfrm>
          <a:prstGeom prst="rect">
            <a:avLst/>
          </a:prstGeom>
          <a:noFill/>
        </p:spPr>
        <p:txBody>
          <a:bodyPr wrap="square" anchor="t">
            <a:spAutoFit/>
          </a:bodyPr>
          <a:lstStyle/>
          <a:p>
            <a:pPr algn="l"/>
            <a:r>
              <a:t>Updated terms and checkpoints used during this demo.</a:t>
            </a:r>
          </a:p>
        </p:txBody>
      </p:sp>
      <p:sp>
        <p:nvSpPr>
          <p:cNvPr id="6" name="Rectangle 5"/>
          <p:cNvSpPr/>
          <p:nvPr/>
        </p:nvSpPr>
        <p:spPr>
          <a:xfrm>
            <a:off x="457200" y="1691640"/>
            <a:ext cx="11247120" cy="508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664208" y="1545336"/>
            <a:ext cx="329184" cy="329184"/>
          </a:xfrm>
          <a:prstGeom prst="ellipse">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325880"/>
            <a:ext cx="2743200" cy="274320"/>
          </a:xfrm>
          <a:prstGeom prst="rect">
            <a:avLst/>
          </a:prstGeom>
          <a:noFill/>
        </p:spPr>
        <p:txBody>
          <a:bodyPr wrap="square" anchor="t">
            <a:spAutoFit/>
          </a:bodyPr>
          <a:lstStyle/>
          <a:p>
            <a:pPr algn="ctr"/>
            <a:r>
              <a:t>Term</a:t>
            </a:r>
          </a:p>
        </p:txBody>
      </p:sp>
      <p:sp>
        <p:nvSpPr>
          <p:cNvPr id="9" name="Rounded Rectangle 8"/>
          <p:cNvSpPr/>
          <p:nvPr/>
        </p:nvSpPr>
        <p:spPr>
          <a:xfrm>
            <a:off x="457200" y="1965960"/>
            <a:ext cx="3474720" cy="1463040"/>
          </a:xfrm>
          <a:prstGeom prst="round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011680"/>
            <a:ext cx="3200400" cy="320040"/>
          </a:xfrm>
          <a:prstGeom prst="rect">
            <a:avLst/>
          </a:prstGeom>
          <a:noFill/>
        </p:spPr>
        <p:txBody>
          <a:bodyPr wrap="square" anchor="t">
            <a:spAutoFit/>
          </a:bodyPr>
          <a:lstStyle/>
          <a:p>
            <a:pPr algn="l"/>
          </a:p>
        </p:txBody>
      </p:sp>
      <p:sp>
        <p:nvSpPr>
          <p:cNvPr id="11" name="TextBox 10"/>
          <p:cNvSpPr txBox="1"/>
          <p:nvPr/>
        </p:nvSpPr>
        <p:spPr>
          <a:xfrm>
            <a:off x="594360" y="2331720"/>
            <a:ext cx="3200400" cy="1005840"/>
          </a:xfrm>
          <a:prstGeom prst="rect">
            <a:avLst/>
          </a:prstGeom>
          <a:noFill/>
        </p:spPr>
        <p:txBody>
          <a:bodyPr wrap="square" anchor="t">
            <a:spAutoFit/>
          </a:bodyPr>
          <a:lstStyle/>
          <a:p>
            <a:pPr algn="l"/>
            <a:r>
              <a:t>Meaning</a:t>
            </a:r>
          </a:p>
        </p:txBody>
      </p:sp>
      <p:sp>
        <p:nvSpPr>
          <p:cNvPr id="12" name="Oval 11"/>
          <p:cNvSpPr/>
          <p:nvPr/>
        </p:nvSpPr>
        <p:spPr>
          <a:xfrm>
            <a:off x="5504688" y="1545336"/>
            <a:ext cx="329184" cy="329184"/>
          </a:xfrm>
          <a:prstGeom prst="ellipse">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97680" y="1325880"/>
            <a:ext cx="2743200" cy="274320"/>
          </a:xfrm>
          <a:prstGeom prst="rect">
            <a:avLst/>
          </a:prstGeom>
          <a:noFill/>
        </p:spPr>
        <p:txBody>
          <a:bodyPr wrap="square" anchor="t">
            <a:spAutoFit/>
          </a:bodyPr>
          <a:lstStyle/>
          <a:p>
            <a:pPr algn="ctr"/>
          </a:p>
        </p:txBody>
      </p:sp>
      <p:sp>
        <p:nvSpPr>
          <p:cNvPr id="14" name="Rounded Rectangle 13"/>
          <p:cNvSpPr/>
          <p:nvPr/>
        </p:nvSpPr>
        <p:spPr>
          <a:xfrm>
            <a:off x="4297680" y="1965960"/>
            <a:ext cx="3474720" cy="146304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34840" y="2011680"/>
            <a:ext cx="3200400" cy="320040"/>
          </a:xfrm>
          <a:prstGeom prst="rect">
            <a:avLst/>
          </a:prstGeom>
          <a:noFill/>
        </p:spPr>
        <p:txBody>
          <a:bodyPr wrap="square" anchor="t">
            <a:spAutoFit/>
          </a:bodyPr>
          <a:lstStyle/>
          <a:p>
            <a:pPr algn="l"/>
            <a:r>
              <a:t>Committee verdict</a:t>
            </a:r>
          </a:p>
        </p:txBody>
      </p:sp>
      <p:sp>
        <p:nvSpPr>
          <p:cNvPr id="16" name="TextBox 15"/>
          <p:cNvSpPr txBox="1"/>
          <p:nvPr/>
        </p:nvSpPr>
        <p:spPr>
          <a:xfrm>
            <a:off x="4434840" y="2331720"/>
            <a:ext cx="3200400" cy="769441"/>
          </a:xfrm>
          <a:prstGeom prst="rect">
            <a:avLst/>
          </a:prstGeom>
          <a:noFill/>
        </p:spPr>
        <p:txBody>
          <a:bodyPr wrap="square" anchor="t">
            <a:spAutoFit/>
          </a:bodyPr>
          <a:lstStyle/>
          <a:p>
            <a:pPr algn="l"/>
            <a:r>
              <a:t>Final decision posture for proposal</a:t>
            </a:r>
          </a:p>
        </p:txBody>
      </p:sp>
      <p:sp>
        <p:nvSpPr>
          <p:cNvPr id="17" name="Oval 16"/>
          <p:cNvSpPr/>
          <p:nvPr/>
        </p:nvSpPr>
        <p:spPr>
          <a:xfrm>
            <a:off x="9345168" y="1545336"/>
            <a:ext cx="329184" cy="329184"/>
          </a:xfrm>
          <a:prstGeom prst="ellipse">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38160" y="1325880"/>
            <a:ext cx="2743200" cy="274320"/>
          </a:xfrm>
          <a:prstGeom prst="rect">
            <a:avLst/>
          </a:prstGeom>
          <a:noFill/>
        </p:spPr>
        <p:txBody>
          <a:bodyPr wrap="square" anchor="t">
            <a:spAutoFit/>
          </a:bodyPr>
          <a:lstStyle/>
          <a:p>
            <a:pPr algn="ctr"/>
          </a:p>
        </p:txBody>
      </p:sp>
      <p:sp>
        <p:nvSpPr>
          <p:cNvPr id="19" name="Rounded Rectangle 18"/>
          <p:cNvSpPr/>
          <p:nvPr/>
        </p:nvSpPr>
        <p:spPr>
          <a:xfrm>
            <a:off x="8138160" y="1965960"/>
            <a:ext cx="3474720" cy="1463040"/>
          </a:xfrm>
          <a:prstGeom prst="round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75320" y="2011680"/>
            <a:ext cx="3200400" cy="320040"/>
          </a:xfrm>
          <a:prstGeom prst="rect">
            <a:avLst/>
          </a:prstGeom>
          <a:noFill/>
        </p:spPr>
        <p:txBody>
          <a:bodyPr wrap="square" anchor="t">
            <a:spAutoFit/>
          </a:bodyPr>
          <a:lstStyle/>
          <a:p>
            <a:pPr algn="l"/>
            <a:r>
              <a:t>Reason codes</a:t>
            </a:r>
          </a:p>
        </p:txBody>
      </p:sp>
      <p:sp>
        <p:nvSpPr>
          <p:cNvPr id="21" name="TextBox 20"/>
          <p:cNvSpPr txBox="1"/>
          <p:nvPr/>
        </p:nvSpPr>
        <p:spPr>
          <a:xfrm>
            <a:off x="8275320" y="2331720"/>
            <a:ext cx="3200400" cy="1005840"/>
          </a:xfrm>
          <a:prstGeom prst="rect">
            <a:avLst/>
          </a:prstGeom>
          <a:noFill/>
        </p:spPr>
        <p:txBody>
          <a:bodyPr wrap="square" anchor="t">
            <a:spAutoFit/>
          </a:bodyPr>
          <a:lstStyle/>
          <a:p>
            <a:pPr algn="l"/>
            <a:r>
              <a:t>Structured explanation of blocks/approvals</a:t>
            </a:r>
          </a:p>
        </p:txBody>
      </p:sp>
      <p:sp>
        <p:nvSpPr>
          <p:cNvPr id="22" name="TextBox 21"/>
          <p:cNvSpPr txBox="1"/>
          <p:nvPr/>
        </p:nvSpPr>
        <p:spPr>
          <a:xfrm>
            <a:off x="457200" y="3611880"/>
            <a:ext cx="2743200" cy="292388"/>
          </a:xfrm>
          <a:prstGeom prst="rect">
            <a:avLst/>
          </a:prstGeom>
          <a:noFill/>
        </p:spPr>
        <p:txBody>
          <a:bodyPr wrap="square" anchor="t">
            <a:spAutoFit/>
          </a:bodyPr>
          <a:lstStyle/>
          <a:p>
            <a:pPr algn="l"/>
          </a:p>
        </p:txBody>
      </p:sp>
      <p:sp>
        <p:nvSpPr>
          <p:cNvPr id="23" name="Rounded Rectangle 22"/>
          <p:cNvSpPr/>
          <p:nvPr/>
        </p:nvSpPr>
        <p:spPr>
          <a:xfrm>
            <a:off x="457200" y="3931920"/>
            <a:ext cx="2057400" cy="100584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3931920"/>
            <a:ext cx="63500" cy="100584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3977640"/>
            <a:ext cx="1645920" cy="320040"/>
          </a:xfrm>
          <a:prstGeom prst="rect">
            <a:avLst/>
          </a:prstGeom>
          <a:noFill/>
        </p:spPr>
        <p:txBody>
          <a:bodyPr wrap="square" anchor="t">
            <a:spAutoFit/>
          </a:bodyPr>
          <a:lstStyle/>
          <a:p>
            <a:pPr algn="l"/>
            <a:r>
              <a:t>Thesis</a:t>
            </a:r>
          </a:p>
        </p:txBody>
      </p:sp>
      <p:sp>
        <p:nvSpPr>
          <p:cNvPr id="26" name="TextBox 25"/>
          <p:cNvSpPr txBox="1"/>
          <p:nvPr/>
        </p:nvSpPr>
        <p:spPr>
          <a:xfrm>
            <a:off x="640080" y="4297680"/>
            <a:ext cx="1737360" cy="548640"/>
          </a:xfrm>
          <a:prstGeom prst="rect">
            <a:avLst/>
          </a:prstGeom>
          <a:noFill/>
        </p:spPr>
        <p:txBody>
          <a:bodyPr wrap="square" anchor="t">
            <a:spAutoFit/>
          </a:bodyPr>
          <a:lstStyle/>
          <a:p>
            <a:pPr algn="l"/>
            <a:r>
              <a:t>Symbol validity state: intact/weaken/invalid</a:t>
            </a:r>
          </a:p>
        </p:txBody>
      </p:sp>
      <p:sp>
        <p:nvSpPr>
          <p:cNvPr id="27" name="Rounded Rectangle 26"/>
          <p:cNvSpPr/>
          <p:nvPr/>
        </p:nvSpPr>
        <p:spPr>
          <a:xfrm>
            <a:off x="2697480" y="3931920"/>
            <a:ext cx="2057400" cy="100584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697480" y="3931920"/>
            <a:ext cx="63500" cy="100584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880360" y="3977640"/>
            <a:ext cx="1645920" cy="320040"/>
          </a:xfrm>
          <a:prstGeom prst="rect">
            <a:avLst/>
          </a:prstGeom>
          <a:noFill/>
        </p:spPr>
        <p:txBody>
          <a:bodyPr wrap="square" anchor="t">
            <a:spAutoFit/>
          </a:bodyPr>
          <a:lstStyle/>
          <a:p>
            <a:pPr algn="l"/>
          </a:p>
        </p:txBody>
      </p:sp>
      <p:sp>
        <p:nvSpPr>
          <p:cNvPr id="30" name="TextBox 29"/>
          <p:cNvSpPr txBox="1"/>
          <p:nvPr/>
        </p:nvSpPr>
        <p:spPr>
          <a:xfrm>
            <a:off x="2880360" y="4297680"/>
            <a:ext cx="1737360" cy="548640"/>
          </a:xfrm>
          <a:prstGeom prst="rect">
            <a:avLst/>
          </a:prstGeom>
          <a:noFill/>
        </p:spPr>
        <p:txBody>
          <a:bodyPr wrap="square" anchor="t">
            <a:spAutoFit/>
          </a:bodyPr>
          <a:lstStyle/>
          <a:p>
            <a:pPr algn="l"/>
            <a:r>
              <a:t>Open R</a:t>
            </a:r>
          </a:p>
        </p:txBody>
      </p:sp>
      <p:sp>
        <p:nvSpPr>
          <p:cNvPr id="31" name="Rounded Rectangle 30"/>
          <p:cNvSpPr/>
          <p:nvPr/>
        </p:nvSpPr>
        <p:spPr>
          <a:xfrm>
            <a:off x="4937760" y="3931920"/>
            <a:ext cx="2057400" cy="1005840"/>
          </a:xfrm>
          <a:prstGeom prst="roundRect">
            <a:avLst/>
          </a:prstGeom>
          <a:solidFill>
            <a:srgbClr val="F8F9FA"/>
          </a:solidFill>
          <a:ln w="12700">
            <a:solidFill>
              <a:srgbClr val="E9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Current reward-to-risk multiple</a:t>
            </a:r>
            <a:endParaRPr/>
          </a:p>
        </p:txBody>
      </p:sp>
      <p:sp>
        <p:nvSpPr>
          <p:cNvPr id="32" name="Rectangle 31"/>
          <p:cNvSpPr/>
          <p:nvPr/>
        </p:nvSpPr>
        <p:spPr>
          <a:xfrm>
            <a:off x="4937760" y="3931920"/>
            <a:ext cx="63500" cy="100584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120640" y="3977640"/>
            <a:ext cx="1645920" cy="320040"/>
          </a:xfrm>
          <a:prstGeom prst="rect">
            <a:avLst/>
          </a:prstGeom>
          <a:noFill/>
        </p:spPr>
        <p:txBody>
          <a:bodyPr wrap="square" anchor="t">
            <a:spAutoFit/>
          </a:bodyPr>
          <a:lstStyle/>
          <a:p>
            <a:pPr algn="l"/>
          </a:p>
        </p:txBody>
      </p:sp>
      <p:sp>
        <p:nvSpPr>
          <p:cNvPr id="34" name="TextBox 33"/>
          <p:cNvSpPr txBox="1"/>
          <p:nvPr/>
        </p:nvSpPr>
        <p:spPr>
          <a:xfrm>
            <a:off x="5120640" y="4297680"/>
            <a:ext cx="1737360" cy="548640"/>
          </a:xfrm>
          <a:prstGeom prst="rect">
            <a:avLst/>
          </a:prstGeom>
          <a:noFill/>
        </p:spPr>
        <p:txBody>
          <a:bodyPr wrap="square" anchor="t">
            <a:spAutoFit/>
          </a:bodyPr>
          <a:lstStyle/>
          <a:p>
            <a:pPr algn="l"/>
          </a:p>
        </p:txBody>
      </p:sp>
      <p:sp>
        <p:nvSpPr>
          <p:cNvPr id="35" name="TextBox 34"/>
          <p:cNvSpPr txBox="1"/>
          <p:nvPr/>
        </p:nvSpPr>
        <p:spPr>
          <a:xfrm>
            <a:off x="7132320" y="3611880"/>
            <a:ext cx="4572000" cy="274320"/>
          </a:xfrm>
          <a:prstGeom prst="rect">
            <a:avLst/>
          </a:prstGeom>
          <a:noFill/>
        </p:spPr>
        <p:txBody>
          <a:bodyPr wrap="square" anchor="t">
            <a:spAutoFit/>
          </a:bodyPr>
          <a:lstStyle/>
          <a:p>
            <a:pPr algn="l"/>
            <a:r>
              <a:t>Policy Health</a:t>
            </a:r>
          </a:p>
        </p:txBody>
      </p:sp>
      <p:sp>
        <p:nvSpPr>
          <p:cNvPr id="36" name="Rectangle 35"/>
          <p:cNvSpPr/>
          <p:nvPr/>
        </p:nvSpPr>
        <p:spPr>
          <a:xfrm>
            <a:off x="7132320" y="3931920"/>
            <a:ext cx="4754880" cy="2743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t>Parallel Worlds quality signal for rules</a:t>
            </a:r>
            <a:endParaRPr/>
          </a:p>
        </p:txBody>
      </p:sp>
      <p:sp>
        <p:nvSpPr>
          <p:cNvPr id="37" name="TextBox 36"/>
          <p:cNvSpPr txBox="1"/>
          <p:nvPr/>
        </p:nvSpPr>
        <p:spPr>
          <a:xfrm>
            <a:off x="7178040" y="3950208"/>
            <a:ext cx="1828800" cy="228600"/>
          </a:xfrm>
          <a:prstGeom prst="rect">
            <a:avLst/>
          </a:prstGeom>
          <a:noFill/>
        </p:spPr>
        <p:txBody>
          <a:bodyPr wrap="square" anchor="t">
            <a:spAutoFit/>
          </a:bodyPr>
          <a:lstStyle/>
          <a:p>
            <a:pPr algn="ctr"/>
          </a:p>
        </p:txBody>
      </p:sp>
      <p:sp>
        <p:nvSpPr>
          <p:cNvPr id="38" name="TextBox 37"/>
          <p:cNvSpPr txBox="1"/>
          <p:nvPr/>
        </p:nvSpPr>
        <p:spPr>
          <a:xfrm>
            <a:off x="9006840" y="3950208"/>
            <a:ext cx="822960" cy="228600"/>
          </a:xfrm>
          <a:prstGeom prst="rect">
            <a:avLst/>
          </a:prstGeom>
          <a:noFill/>
        </p:spPr>
        <p:txBody>
          <a:bodyPr wrap="square" anchor="t">
            <a:spAutoFit/>
          </a:bodyPr>
          <a:lstStyle/>
          <a:p>
            <a:pPr algn="ctr"/>
          </a:p>
        </p:txBody>
      </p:sp>
      <p:sp>
        <p:nvSpPr>
          <p:cNvPr id="39" name="TextBox 38"/>
          <p:cNvSpPr txBox="1"/>
          <p:nvPr/>
        </p:nvSpPr>
        <p:spPr>
          <a:xfrm>
            <a:off x="9829800" y="3950208"/>
            <a:ext cx="1097280" cy="228600"/>
          </a:xfrm>
          <a:prstGeom prst="rect">
            <a:avLst/>
          </a:prstGeom>
          <a:noFill/>
        </p:spPr>
        <p:txBody>
          <a:bodyPr wrap="square" anchor="t">
            <a:spAutoFit/>
          </a:bodyPr>
          <a:lstStyle/>
          <a:p>
            <a:pPr algn="ctr"/>
          </a:p>
        </p:txBody>
      </p:sp>
      <p:sp>
        <p:nvSpPr>
          <p:cNvPr id="40" name="TextBox 39"/>
          <p:cNvSpPr txBox="1"/>
          <p:nvPr/>
        </p:nvSpPr>
        <p:spPr>
          <a:xfrm>
            <a:off x="10927080" y="3950208"/>
            <a:ext cx="548640" cy="228600"/>
          </a:xfrm>
          <a:prstGeom prst="rect">
            <a:avLst/>
          </a:prstGeom>
          <a:noFill/>
        </p:spPr>
        <p:txBody>
          <a:bodyPr wrap="square" anchor="t">
            <a:spAutoFit/>
          </a:bodyPr>
          <a:lstStyle/>
          <a:p>
            <a:pPr algn="ctr"/>
            <a:r>
              <a:t>HOT</a:t>
            </a:r>
          </a:p>
        </p:txBody>
      </p:sp>
      <p:sp>
        <p:nvSpPr>
          <p:cNvPr id="41" name="Rectangle 40"/>
          <p:cNvSpPr/>
          <p:nvPr/>
        </p:nvSpPr>
        <p:spPr>
          <a:xfrm>
            <a:off x="7132320" y="4206240"/>
            <a:ext cx="4754880" cy="256032"/>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t>Unseen decision-relevant news marker</a:t>
            </a:r>
            <a:endParaRPr/>
          </a:p>
        </p:txBody>
      </p:sp>
      <p:sp>
        <p:nvSpPr>
          <p:cNvPr id="42" name="Oval 41"/>
          <p:cNvSpPr/>
          <p:nvPr/>
        </p:nvSpPr>
        <p:spPr>
          <a:xfrm>
            <a:off x="7223760" y="4279392"/>
            <a:ext cx="109728" cy="109728"/>
          </a:xfrm>
          <a:prstGeom prst="ellipse">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406640" y="4215384"/>
            <a:ext cx="1554480" cy="228600"/>
          </a:xfrm>
          <a:prstGeom prst="rect">
            <a:avLst/>
          </a:prstGeom>
          <a:noFill/>
        </p:spPr>
        <p:txBody>
          <a:bodyPr wrap="square" anchor="t">
            <a:spAutoFit/>
          </a:bodyPr>
          <a:lstStyle/>
          <a:p>
            <a:pPr algn="l"/>
          </a:p>
        </p:txBody>
      </p:sp>
      <p:sp>
        <p:nvSpPr>
          <p:cNvPr id="44" name="TextBox 43"/>
          <p:cNvSpPr txBox="1"/>
          <p:nvPr/>
        </p:nvSpPr>
        <p:spPr>
          <a:xfrm>
            <a:off x="9006840" y="4215384"/>
            <a:ext cx="822960" cy="228600"/>
          </a:xfrm>
          <a:prstGeom prst="rect">
            <a:avLst/>
          </a:prstGeom>
          <a:noFill/>
        </p:spPr>
        <p:txBody>
          <a:bodyPr wrap="square" anchor="t">
            <a:spAutoFit/>
          </a:bodyPr>
          <a:lstStyle/>
          <a:p>
            <a:pPr algn="ctr"/>
          </a:p>
        </p:txBody>
      </p:sp>
      <p:sp>
        <p:nvSpPr>
          <p:cNvPr id="45" name="TextBox 44"/>
          <p:cNvSpPr txBox="1"/>
          <p:nvPr/>
        </p:nvSpPr>
        <p:spPr>
          <a:xfrm>
            <a:off x="9829800" y="4215384"/>
            <a:ext cx="1097280" cy="228600"/>
          </a:xfrm>
          <a:prstGeom prst="rect">
            <a:avLst/>
          </a:prstGeom>
          <a:noFill/>
        </p:spPr>
        <p:txBody>
          <a:bodyPr wrap="square" anchor="t">
            <a:spAutoFit/>
          </a:bodyPr>
          <a:lstStyle/>
          <a:p>
            <a:pPr algn="ctr"/>
            <a:r>
              <a:t>Runs (Audit)</a:t>
            </a:r>
          </a:p>
        </p:txBody>
      </p:sp>
      <p:sp>
        <p:nvSpPr>
          <p:cNvPr id="46" name="TextBox 45"/>
          <p:cNvSpPr txBox="1"/>
          <p:nvPr/>
        </p:nvSpPr>
        <p:spPr>
          <a:xfrm>
            <a:off x="10927080" y="4215384"/>
            <a:ext cx="548640" cy="228600"/>
          </a:xfrm>
          <a:prstGeom prst="rect">
            <a:avLst/>
          </a:prstGeom>
          <a:noFill/>
        </p:spPr>
        <p:txBody>
          <a:bodyPr wrap="square" anchor="t">
            <a:spAutoFit/>
          </a:bodyPr>
          <a:lstStyle/>
          <a:p>
            <a:pPr algn="ctr"/>
            <a:r>
              <a:t>Operational truth source for pipelines</a:t>
            </a:r>
          </a:p>
        </p:txBody>
      </p:sp>
      <p:sp>
        <p:nvSpPr>
          <p:cNvPr id="47" name="Rectangle 46"/>
          <p:cNvSpPr/>
          <p:nvPr/>
        </p:nvSpPr>
        <p:spPr>
          <a:xfrm>
            <a:off x="7132320" y="4462272"/>
            <a:ext cx="4754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223760" y="4535424"/>
            <a:ext cx="109728" cy="109728"/>
          </a:xfrm>
          <a:prstGeom prst="ellipse">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406640" y="4471416"/>
            <a:ext cx="1554480" cy="228600"/>
          </a:xfrm>
          <a:prstGeom prst="rect">
            <a:avLst/>
          </a:prstGeom>
          <a:noFill/>
        </p:spPr>
        <p:txBody>
          <a:bodyPr wrap="square" anchor="t">
            <a:spAutoFit/>
          </a:bodyPr>
          <a:lstStyle/>
          <a:p>
            <a:pPr algn="l"/>
          </a:p>
        </p:txBody>
      </p:sp>
      <p:sp>
        <p:nvSpPr>
          <p:cNvPr id="50" name="TextBox 49"/>
          <p:cNvSpPr txBox="1"/>
          <p:nvPr/>
        </p:nvSpPr>
        <p:spPr>
          <a:xfrm>
            <a:off x="9006840" y="4471416"/>
            <a:ext cx="822960" cy="228600"/>
          </a:xfrm>
          <a:prstGeom prst="rect">
            <a:avLst/>
          </a:prstGeom>
          <a:noFill/>
        </p:spPr>
        <p:txBody>
          <a:bodyPr wrap="square" anchor="t">
            <a:spAutoFit/>
          </a:bodyPr>
          <a:lstStyle/>
          <a:p>
            <a:pPr algn="ctr"/>
            <a:r>
              <a:t>Learning Ledger</a:t>
            </a:r>
          </a:p>
        </p:txBody>
      </p:sp>
      <p:sp>
        <p:nvSpPr>
          <p:cNvPr id="51" name="TextBox 50"/>
          <p:cNvSpPr txBox="1"/>
          <p:nvPr/>
        </p:nvSpPr>
        <p:spPr>
          <a:xfrm>
            <a:off x="9829800" y="4471416"/>
            <a:ext cx="1097280" cy="228600"/>
          </a:xfrm>
          <a:prstGeom prst="rect">
            <a:avLst/>
          </a:prstGeom>
          <a:noFill/>
        </p:spPr>
        <p:txBody>
          <a:bodyPr wrap="square" anchor="t">
            <a:spAutoFit/>
          </a:bodyPr>
          <a:lstStyle/>
          <a:p>
            <a:pPr algn="ctr"/>
            <a:r>
              <a:t>Decision-to-outcome causality trace</a:t>
            </a:r>
          </a:p>
        </p:txBody>
      </p:sp>
      <p:sp>
        <p:nvSpPr>
          <p:cNvPr id="52" name="TextBox 51"/>
          <p:cNvSpPr txBox="1"/>
          <p:nvPr/>
        </p:nvSpPr>
        <p:spPr>
          <a:xfrm>
            <a:off x="10927080" y="4471416"/>
            <a:ext cx="548640" cy="228600"/>
          </a:xfrm>
          <a:prstGeom prst="rect">
            <a:avLst/>
          </a:prstGeom>
          <a:noFill/>
        </p:spPr>
        <p:txBody>
          <a:bodyPr wrap="square" anchor="t">
            <a:spAutoFit/>
          </a:bodyPr>
          <a:lstStyle/>
          <a:p>
            <a:pPr algn="ctr"/>
          </a:p>
        </p:txBody>
      </p:sp>
      <p:sp>
        <p:nvSpPr>
          <p:cNvPr id="53" name="Rectangle 52"/>
          <p:cNvSpPr/>
          <p:nvPr/>
        </p:nvSpPr>
        <p:spPr>
          <a:xfrm>
            <a:off x="7132320" y="4718304"/>
            <a:ext cx="4754880" cy="256032"/>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7223760" y="4791456"/>
            <a:ext cx="109728" cy="109728"/>
          </a:xfrm>
          <a:prstGeom prst="ellipse">
            <a:avLst/>
          </a:prstGeom>
          <a:solidFill>
            <a:srgbClr val="20C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406640" y="4727448"/>
            <a:ext cx="1554480" cy="228600"/>
          </a:xfrm>
          <a:prstGeom prst="rect">
            <a:avLst/>
          </a:prstGeom>
          <a:noFill/>
        </p:spPr>
        <p:txBody>
          <a:bodyPr wrap="square" anchor="t">
            <a:spAutoFit/>
          </a:bodyPr>
          <a:lstStyle/>
          <a:p>
            <a:pPr algn="l"/>
          </a:p>
        </p:txBody>
      </p:sp>
      <p:sp>
        <p:nvSpPr>
          <p:cNvPr id="56" name="TextBox 55"/>
          <p:cNvSpPr txBox="1"/>
          <p:nvPr/>
        </p:nvSpPr>
        <p:spPr>
          <a:xfrm>
            <a:off x="9006840" y="4727448"/>
            <a:ext cx="822960" cy="228600"/>
          </a:xfrm>
          <a:prstGeom prst="rect">
            <a:avLst/>
          </a:prstGeom>
          <a:noFill/>
        </p:spPr>
        <p:txBody>
          <a:bodyPr wrap="square" anchor="t">
            <a:spAutoFit/>
          </a:bodyPr>
          <a:lstStyle/>
          <a:p>
            <a:pPr algn="ctr"/>
          </a:p>
        </p:txBody>
      </p:sp>
      <p:sp>
        <p:nvSpPr>
          <p:cNvPr id="57" name="TextBox 56"/>
          <p:cNvSpPr txBox="1"/>
          <p:nvPr/>
        </p:nvSpPr>
        <p:spPr>
          <a:xfrm>
            <a:off x="9829800" y="4727448"/>
            <a:ext cx="1097280" cy="228600"/>
          </a:xfrm>
          <a:prstGeom prst="rect">
            <a:avLst/>
          </a:prstGeom>
          <a:noFill/>
        </p:spPr>
        <p:txBody>
          <a:bodyPr wrap="square" anchor="t">
            <a:spAutoFit/>
          </a:bodyPr>
          <a:lstStyle/>
          <a:p>
            <a:pPr algn="ctr"/>
          </a:p>
        </p:txBody>
      </p:sp>
      <p:sp>
        <p:nvSpPr>
          <p:cNvPr id="58" name="TextBox 57"/>
          <p:cNvSpPr txBox="1"/>
          <p:nvPr/>
        </p:nvSpPr>
        <p:spPr>
          <a:xfrm>
            <a:off x="10927080" y="4727448"/>
            <a:ext cx="548640" cy="228600"/>
          </a:xfrm>
          <a:prstGeom prst="rect">
            <a:avLst/>
          </a:prstGeom>
          <a:noFill/>
        </p:spPr>
        <p:txBody>
          <a:bodyPr wrap="square" anchor="t">
            <a:spAutoFit/>
          </a:bodyPr>
          <a:lstStyle/>
          <a:p>
            <a:pPr algn="ctr"/>
          </a:p>
        </p:txBody>
      </p:sp>
      <p:sp>
        <p:nvSpPr>
          <p:cNvPr id="59" name="Rectangle 58"/>
          <p:cNvSpPr/>
          <p:nvPr/>
        </p:nvSpPr>
        <p:spPr>
          <a:xfrm>
            <a:off x="7132320" y="4974336"/>
            <a:ext cx="4754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223760" y="5047488"/>
            <a:ext cx="109728" cy="109728"/>
          </a:xfrm>
          <a:prstGeom prst="ellipse">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406640" y="4983480"/>
            <a:ext cx="1554480" cy="228600"/>
          </a:xfrm>
          <a:prstGeom prst="rect">
            <a:avLst/>
          </a:prstGeom>
          <a:noFill/>
        </p:spPr>
        <p:txBody>
          <a:bodyPr wrap="square" anchor="t">
            <a:spAutoFit/>
          </a:bodyPr>
          <a:lstStyle/>
          <a:p>
            <a:pPr algn="l"/>
          </a:p>
        </p:txBody>
      </p:sp>
      <p:sp>
        <p:nvSpPr>
          <p:cNvPr id="62" name="TextBox 61"/>
          <p:cNvSpPr txBox="1"/>
          <p:nvPr/>
        </p:nvSpPr>
        <p:spPr>
          <a:xfrm>
            <a:off x="9006840" y="4983480"/>
            <a:ext cx="822960" cy="228600"/>
          </a:xfrm>
          <a:prstGeom prst="rect">
            <a:avLst/>
          </a:prstGeom>
          <a:noFill/>
        </p:spPr>
        <p:txBody>
          <a:bodyPr wrap="square" anchor="t">
            <a:spAutoFit/>
          </a:bodyPr>
          <a:lstStyle/>
          <a:p>
            <a:pPr algn="ctr"/>
          </a:p>
        </p:txBody>
      </p:sp>
      <p:sp>
        <p:nvSpPr>
          <p:cNvPr id="63" name="TextBox 62"/>
          <p:cNvSpPr txBox="1"/>
          <p:nvPr/>
        </p:nvSpPr>
        <p:spPr>
          <a:xfrm>
            <a:off x="9829800" y="4983480"/>
            <a:ext cx="1097280" cy="228600"/>
          </a:xfrm>
          <a:prstGeom prst="rect">
            <a:avLst/>
          </a:prstGeom>
          <a:noFill/>
        </p:spPr>
        <p:txBody>
          <a:bodyPr wrap="square" anchor="t">
            <a:spAutoFit/>
          </a:bodyPr>
          <a:lstStyle/>
          <a:p>
            <a:pPr algn="ctr"/>
          </a:p>
        </p:txBody>
      </p:sp>
      <p:sp>
        <p:nvSpPr>
          <p:cNvPr id="64" name="TextBox 63"/>
          <p:cNvSpPr txBox="1"/>
          <p:nvPr/>
        </p:nvSpPr>
        <p:spPr>
          <a:xfrm>
            <a:off x="10927080" y="4983480"/>
            <a:ext cx="548640" cy="228600"/>
          </a:xfrm>
          <a:prstGeom prst="rect">
            <a:avLst/>
          </a:prstGeom>
          <a:noFill/>
        </p:spPr>
        <p:txBody>
          <a:bodyPr wrap="square" anchor="t">
            <a:spAutoFit/>
          </a:bodyPr>
          <a:lstStyle/>
          <a:p>
            <a:pPr algn="ctr"/>
          </a:p>
        </p:txBody>
      </p:sp>
      <p:sp>
        <p:nvSpPr>
          <p:cNvPr id="65" name="Rectangle 64"/>
          <p:cNvSpPr/>
          <p:nvPr/>
        </p:nvSpPr>
        <p:spPr>
          <a:xfrm>
            <a:off x="7132320" y="5230368"/>
            <a:ext cx="4754880" cy="256032"/>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7223760" y="5303520"/>
            <a:ext cx="109728" cy="109728"/>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406640" y="5239512"/>
            <a:ext cx="1554480" cy="228600"/>
          </a:xfrm>
          <a:prstGeom prst="rect">
            <a:avLst/>
          </a:prstGeom>
          <a:noFill/>
        </p:spPr>
        <p:txBody>
          <a:bodyPr wrap="square" anchor="t">
            <a:spAutoFit/>
          </a:bodyPr>
          <a:lstStyle/>
          <a:p>
            <a:pPr algn="l"/>
          </a:p>
        </p:txBody>
      </p:sp>
      <p:sp>
        <p:nvSpPr>
          <p:cNvPr id="68" name="TextBox 67"/>
          <p:cNvSpPr txBox="1"/>
          <p:nvPr/>
        </p:nvSpPr>
        <p:spPr>
          <a:xfrm>
            <a:off x="9006840" y="5239512"/>
            <a:ext cx="822960" cy="228600"/>
          </a:xfrm>
          <a:prstGeom prst="rect">
            <a:avLst/>
          </a:prstGeom>
          <a:noFill/>
        </p:spPr>
        <p:txBody>
          <a:bodyPr wrap="square" anchor="t">
            <a:spAutoFit/>
          </a:bodyPr>
          <a:lstStyle/>
          <a:p>
            <a:pPr algn="ctr"/>
          </a:p>
        </p:txBody>
      </p:sp>
      <p:sp>
        <p:nvSpPr>
          <p:cNvPr id="69" name="TextBox 68"/>
          <p:cNvSpPr txBox="1"/>
          <p:nvPr/>
        </p:nvSpPr>
        <p:spPr>
          <a:xfrm>
            <a:off x="9829800" y="5239512"/>
            <a:ext cx="1097280" cy="228600"/>
          </a:xfrm>
          <a:prstGeom prst="rect">
            <a:avLst/>
          </a:prstGeom>
          <a:noFill/>
        </p:spPr>
        <p:txBody>
          <a:bodyPr wrap="square" anchor="t">
            <a:spAutoFit/>
          </a:bodyPr>
          <a:lstStyle/>
          <a:p>
            <a:pPr algn="ctr"/>
          </a:p>
        </p:txBody>
      </p:sp>
      <p:sp>
        <p:nvSpPr>
          <p:cNvPr id="70" name="TextBox 69"/>
          <p:cNvSpPr txBox="1"/>
          <p:nvPr/>
        </p:nvSpPr>
        <p:spPr>
          <a:xfrm>
            <a:off x="10927080" y="5239512"/>
            <a:ext cx="548640" cy="228600"/>
          </a:xfrm>
          <a:prstGeom prst="rect">
            <a:avLst/>
          </a:prstGeom>
          <a:noFill/>
        </p:spPr>
        <p:txBody>
          <a:bodyPr wrap="square" anchor="t">
            <a:spAutoFit/>
          </a:bodyPr>
          <a:lstStyle/>
          <a:p>
            <a:pPr algn="ctr"/>
          </a:p>
        </p:txBody>
      </p:sp>
      <p:sp>
        <p:nvSpPr>
          <p:cNvPr id="71" name="Rectangle 70"/>
          <p:cNvSpPr/>
          <p:nvPr/>
        </p:nvSpPr>
        <p:spPr>
          <a:xfrm>
            <a:off x="7132320" y="5486400"/>
            <a:ext cx="4754880" cy="274320"/>
          </a:xfrm>
          <a:prstGeom prst="rect">
            <a:avLst/>
          </a:prstGeom>
          <a:solidFill>
            <a:srgbClr val="0D1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06640" y="5504688"/>
            <a:ext cx="1554480" cy="228600"/>
          </a:xfrm>
          <a:prstGeom prst="rect">
            <a:avLst/>
          </a:prstGeom>
          <a:noFill/>
        </p:spPr>
        <p:txBody>
          <a:bodyPr wrap="square" anchor="t">
            <a:spAutoFit/>
          </a:bodyPr>
          <a:lstStyle/>
          <a:p>
            <a:pPr algn="l"/>
          </a:p>
        </p:txBody>
      </p:sp>
      <p:sp>
        <p:nvSpPr>
          <p:cNvPr id="73" name="TextBox 72"/>
          <p:cNvSpPr txBox="1"/>
          <p:nvPr/>
        </p:nvSpPr>
        <p:spPr>
          <a:xfrm>
            <a:off x="9006840" y="5504688"/>
            <a:ext cx="822960" cy="228600"/>
          </a:xfrm>
          <a:prstGeom prst="rect">
            <a:avLst/>
          </a:prstGeom>
          <a:noFill/>
        </p:spPr>
        <p:txBody>
          <a:bodyPr wrap="square" anchor="t">
            <a:spAutoFit/>
          </a:bodyPr>
          <a:lstStyle/>
          <a:p>
            <a:pPr algn="ctr"/>
          </a:p>
        </p:txBody>
      </p:sp>
      <p:sp>
        <p:nvSpPr>
          <p:cNvPr id="74" name="TextBox 73"/>
          <p:cNvSpPr txBox="1"/>
          <p:nvPr/>
        </p:nvSpPr>
        <p:spPr>
          <a:xfrm>
            <a:off x="9829800" y="5504688"/>
            <a:ext cx="1097280" cy="228600"/>
          </a:xfrm>
          <a:prstGeom prst="rect">
            <a:avLst/>
          </a:prstGeom>
          <a:noFill/>
        </p:spPr>
        <p:txBody>
          <a:bodyPr wrap="square" anchor="t">
            <a:spAutoFit/>
          </a:bodyPr>
          <a:lstStyle/>
          <a:p>
            <a:pPr algn="ctr"/>
          </a:p>
        </p:txBody>
      </p:sp>
      <p:sp>
        <p:nvSpPr>
          <p:cNvPr id="75" name="TextBox 74"/>
          <p:cNvSpPr txBox="1"/>
          <p:nvPr/>
        </p:nvSpPr>
        <p:spPr>
          <a:xfrm>
            <a:off x="10927080" y="5504688"/>
            <a:ext cx="548640" cy="228600"/>
          </a:xfrm>
          <a:prstGeom prst="rect">
            <a:avLst/>
          </a:prstGeom>
          <a:noFill/>
        </p:spPr>
        <p:txBody>
          <a:bodyPr wrap="square" anchor="t">
            <a:spAutoFit/>
          </a:bodyPr>
          <a:lstStyle/>
          <a:p>
            <a:pPr algn="ctr"/>
          </a:p>
        </p:txBody>
      </p:sp>
      <p:sp>
        <p:nvSpPr>
          <p:cNvPr id="76" name="Rounded Rectangle 75"/>
          <p:cNvSpPr/>
          <p:nvPr/>
        </p:nvSpPr>
        <p:spPr>
          <a:xfrm>
            <a:off x="457200" y="5943600"/>
            <a:ext cx="11247120" cy="73152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31520" y="5989320"/>
            <a:ext cx="10789920" cy="523220"/>
          </a:xfrm>
          <a:prstGeom prst="rect">
            <a:avLst/>
          </a:prstGeom>
          <a:noFill/>
        </p:spPr>
        <p:txBody>
          <a:bodyPr wrap="square" anchor="t">
            <a:spAutoFit/>
          </a:bodyPr>
          <a:lstStyle/>
          <a:p>
            <a:pPr algn="ctr"/>
            <a:r>
              <a:t>Operator principle: trust evidence, verify in audit, then act.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540"/>
        </a:solidFill>
        <a:effectLst/>
      </p:bgPr>
    </p:bg>
    <p:spTree>
      <p:nvGrpSpPr>
        <p:cNvPr id="1" name=""/>
        <p:cNvGrpSpPr/>
        <p:nvPr/>
      </p:nvGrpSpPr>
      <p:grpSpPr>
        <a:xfrm>
          <a:off x="0" y="0"/>
          <a:ext cx="0" cy="0"/>
          <a:chOff x="0" y="0"/>
          <a:chExt cx="0" cy="0"/>
        </a:xfrm>
      </p:grpSpPr>
      <p:sp>
        <p:nvSpPr>
          <p:cNvPr id="2" name="Rectangle 1"/>
          <p:cNvSpPr/>
          <p:nvPr/>
        </p:nvSpPr>
        <p:spPr>
          <a:xfrm>
            <a:off x="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144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8288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296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440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0584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9728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887200" y="0"/>
            <a:ext cx="6350" cy="685800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0" y="9144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0" y="18288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27432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36576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45720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54864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400800"/>
            <a:ext cx="12191695" cy="6350"/>
          </a:xfrm>
          <a:prstGeom prst="rect">
            <a:avLst/>
          </a:prstGeom>
          <a:solidFill>
            <a:srgbClr val="14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440680" y="2057400"/>
            <a:ext cx="274320" cy="274320"/>
          </a:xfrm>
          <a:prstGeom prst="ellipse">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377440"/>
            <a:ext cx="7772400" cy="914400"/>
          </a:xfrm>
          <a:prstGeom prst="rect">
            <a:avLst/>
          </a:prstGeom>
          <a:noFill/>
        </p:spPr>
        <p:txBody>
          <a:bodyPr wrap="square" anchor="t">
            <a:spAutoFit/>
          </a:bodyPr>
          <a:lstStyle/>
          <a:p>
            <a:pPr algn="ctr"/>
            <a:r>
              <a:t>Thank You</a:t>
            </a:r>
          </a:p>
        </p:txBody>
      </p:sp>
      <p:sp>
        <p:nvSpPr>
          <p:cNvPr id="26" name="Rectangle 25"/>
          <p:cNvSpPr/>
          <p:nvPr/>
        </p:nvSpPr>
        <p:spPr>
          <a:xfrm>
            <a:off x="5029200" y="3291840"/>
            <a:ext cx="2103120" cy="508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86000" y="3566160"/>
            <a:ext cx="7772400" cy="548640"/>
          </a:xfrm>
          <a:prstGeom prst="rect">
            <a:avLst/>
          </a:prstGeom>
          <a:noFill/>
        </p:spPr>
        <p:txBody>
          <a:bodyPr wrap="square" anchor="t">
            <a:spAutoFit/>
          </a:bodyPr>
          <a:lstStyle/>
          <a:p>
            <a:pPr algn="ctr"/>
            <a:r>
              <a:t>Q&amp;A + Live Walkthrough</a:t>
            </a:r>
          </a:p>
        </p:txBody>
      </p:sp>
      <p:sp>
        <p:nvSpPr>
          <p:cNvPr id="28" name="TextBox 27"/>
          <p:cNvSpPr txBox="1"/>
          <p:nvPr/>
        </p:nvSpPr>
        <p:spPr>
          <a:xfrm>
            <a:off x="2286000" y="4206240"/>
            <a:ext cx="7772400" cy="731520"/>
          </a:xfrm>
          <a:prstGeom prst="rect">
            <a:avLst/>
          </a:prstGeom>
          <a:noFill/>
        </p:spPr>
        <p:txBody>
          <a:bodyPr wrap="square" anchor="t">
            <a:spAutoFit/>
          </a:bodyPr>
          <a:lstStyle/>
          <a:p>
            <a:pPr algn="ctr"/>
            <a:r>
              <a:t>Deep-dive options: committee logic, live workflow controls, or audit/learning trace.</a:t>
            </a:r>
          </a:p>
        </p:txBody>
      </p:sp>
      <p:sp>
        <p:nvSpPr>
          <p:cNvPr id="29" name="Rectangle 28"/>
          <p:cNvSpPr/>
          <p:nvPr/>
        </p:nvSpPr>
        <p:spPr>
          <a:xfrm>
            <a:off x="0" y="6537960"/>
            <a:ext cx="12191695" cy="320040"/>
          </a:xfrm>
          <a:prstGeom prst="rect">
            <a:avLst/>
          </a:prstGeom>
          <a:solidFill>
            <a:srgbClr val="1A2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37960"/>
            <a:ext cx="3657600" cy="381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5760720"/>
            <a:ext cx="11247120" cy="457200"/>
          </a:xfrm>
          <a:prstGeom prst="rect">
            <a:avLst/>
          </a:prstGeom>
          <a:noFill/>
        </p:spPr>
        <p:txBody>
          <a:bodyPr wrap="square" anchor="t">
            <a:spAutoFit/>
          </a:bodyPr>
          <a:lstStyle/>
          <a:p>
            <a:pPr algn="ctr"/>
            <a:r>
              <a:t>Market Intelligence Platform  |  Internal Training  |  March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9938</Words>
  <Application>Microsoft Office PowerPoint</Application>
  <PresentationFormat>Widescreen</PresentationFormat>
  <Paragraphs>832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Kenneth Jebjerg</cp:lastModifiedBy>
  <cp:revision>1</cp:revision>
  <dcterms:created xsi:type="dcterms:W3CDTF">2013-01-27T09:14:16Z</dcterms:created>
  <dcterms:modified xsi:type="dcterms:W3CDTF">2026-02-16T22:52:14Z</dcterms:modified>
  <cp:category/>
</cp:coreProperties>
</file>