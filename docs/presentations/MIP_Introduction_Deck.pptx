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6350" cy="6858000"/>
          </a:xfrm>
          <a:prstGeom prst="rect">
            <a:avLst/>
          </a:prstGeom>
          <a:solidFill>
            <a:srgbClr val="1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6350" cy="6858000"/>
          </a:xfrm>
          <a:prstGeom prst="rect">
            <a:avLst/>
          </a:prstGeom>
          <a:solidFill>
            <a:srgbClr val="1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6350" cy="6858000"/>
          </a:xfrm>
          <a:prstGeom prst="rect">
            <a:avLst/>
          </a:prstGeom>
          <a:solidFill>
            <a:srgbClr val="1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1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2331720"/>
            <a:ext cx="8138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Segoe UI"/>
              </a:rPr>
              <a:t>MIP — Market Intelligence Platform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3429000"/>
            <a:ext cx="2103120" cy="508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3639312"/>
            <a:ext cx="85039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CCD5E0"/>
                </a:solidFill>
                <a:latin typeface="Segoe UI"/>
              </a:rPr>
              <a:t>A private AI-assisted market research and systematic trading platform.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074920"/>
            <a:ext cx="8503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C757D"/>
                </a:solidFill>
                <a:latin typeface="Segoe UI"/>
              </a:rPr>
              <a:t>Evidence-first pipelines in Snowflake  •  Bounded AI narration  •  Live execution discipline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2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510528"/>
            <a:ext cx="3474720" cy="508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D1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Why MIP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50392"/>
            <a:ext cx="146304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1556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D1540"/>
                </a:solidFill>
                <a:latin typeface="Segoe UI"/>
              </a:rPr>
              <a:t>Operators drown in signal noise; systems need repeatable proof and oversight.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789920" cy="4663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egoe UI"/>
              </a:rPr>
              <a:t>•  Charts and scans produce disconnected ideas — scaling coverage without drowning in contradiction is hard.
•  Pure rule bots are brittle: markets shift; rules need statistically visible aging and diagnostics.
•  Generic AI trading chat can sound confident without evidence trails — that is risky where capital is involved.
•  Live trading needs inspectable decisions: what data, what policy, what broker truth — with audit lineage.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D1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The MIP Philosophy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50392"/>
            <a:ext cx="146304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1556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D1540"/>
                </a:solidFill>
                <a:latin typeface="Segoe UI"/>
              </a:rPr>
              <a:t>Deterministic substrate first — AI explains, challenges, narrates — it does not replace truth.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789920" cy="4663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egoe UI"/>
              </a:rPr>
              <a:t>•  Deterministic evidence first: bars, setups, validated outcomes in Snowflake APP/MART schemas.
•  AI as a reasoning layer atop structured facts — not undocumented magic.
•  Snowflake as analytical truth layer: procedures, tables, mart views compose the playbook.
•  IBKR (when ADAPTER_MODE allows) as execution-layer truth aligned with LIVE_PORTFOLIO_CONFIG.
•  Every decision pathway should trace to inspectable rows, reason codes, and operator controls.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D1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MIP Lifecycle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50392"/>
            <a:ext cx="146304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D1540"/>
                </a:solidFill>
                <a:latin typeface="Segoe UI"/>
              </a:rPr>
              <a:t>One chain from market bars to disciplined live operations.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148840"/>
            <a:ext cx="1691640" cy="1005840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2240280"/>
            <a:ext cx="15453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2624328"/>
            <a:ext cx="158191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EEEEFF"/>
                </a:solidFill>
                <a:latin typeface="Segoe UI"/>
              </a:rPr>
              <a:t>Bars → MARKET_BARS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57984" y="2514600"/>
            <a:ext cx="320040" cy="256032"/>
          </a:xfrm>
          <a:prstGeom prst="rightArrow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76272" y="2148840"/>
            <a:ext cx="1691640" cy="1005840"/>
          </a:xfrm>
          <a:prstGeom prst="round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9424" y="2240280"/>
            <a:ext cx="15453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Returns / legacy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31136" y="2624328"/>
            <a:ext cx="158191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EEEEFF"/>
                </a:solidFill>
                <a:latin typeface="Segoe UI"/>
              </a:rPr>
              <a:t>MARKET_RETURNS, momentum RECs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922776" y="2514600"/>
            <a:ext cx="320040" cy="256032"/>
          </a:xfrm>
          <a:prstGeom prst="rightArrow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41064" y="2148840"/>
            <a:ext cx="1691640" cy="1005840"/>
          </a:xfrm>
          <a:prstGeom prst="round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14216" y="2240280"/>
            <a:ext cx="15453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Structural discovery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95928" y="2624328"/>
            <a:ext cx="158191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EEEEFF"/>
                </a:solidFill>
                <a:latin typeface="Segoe UI"/>
              </a:rPr>
              <a:t>Levels, setups, regimes, trust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687568" y="2514600"/>
            <a:ext cx="320040" cy="256032"/>
          </a:xfrm>
          <a:prstGeom prst="rightArrow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05856" y="2148840"/>
            <a:ext cx="1691640" cy="100584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240280"/>
            <a:ext cx="15453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Proposals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2624328"/>
            <a:ext cx="158191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EEEEFF"/>
                </a:solidFill>
                <a:latin typeface="Segoe UI"/>
              </a:rPr>
              <a:t>Deterministic + Phase 4 board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452360" y="2514600"/>
            <a:ext cx="320040" cy="256032"/>
          </a:xfrm>
          <a:prstGeom prst="rightArrow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148840"/>
            <a:ext cx="1691640" cy="1005840"/>
          </a:xfrm>
          <a:prstGeom prst="round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2240280"/>
            <a:ext cx="15453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Committee / LPA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5512" y="2624328"/>
            <a:ext cx="158191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EEEEFF"/>
                </a:solidFill>
                <a:latin typeface="Segoe UI"/>
              </a:rPr>
              <a:t>Hearings, LPA cockpit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217152" y="2514600"/>
            <a:ext cx="320040" cy="256032"/>
          </a:xfrm>
          <a:prstGeom prst="rightArrow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35440" y="2148840"/>
            <a:ext cx="1691640" cy="1005840"/>
          </a:xfrm>
          <a:prstGeom prst="roundRect">
            <a:avLst/>
          </a:prstGeom>
          <a:solidFill>
            <a:srgbClr val="1A2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08592" y="2240280"/>
            <a:ext cx="15453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Broker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0304" y="2624328"/>
            <a:ext cx="158191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EEEEFF"/>
                </a:solidFill>
                <a:latin typeface="Segoe UI"/>
              </a:rPr>
              <a:t>Orders, fills, reconcile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493008"/>
            <a:ext cx="1078992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egoe UI"/>
              </a:rPr>
              <a:t>Closer loop:
•  Daily TASK_RUN_DAILY_PIPELINE → SP_RUN_DAILY_PIPELINE orchestrates ingestion, returns,
    momentum recommendation generation/outcomes, portfolio simulation,
    morning brief persistence,
•  then SP_RUN_STRUCTURAL_DAILY_PIPELINE (levels → setups → evaluate → trust → propose).
•  Phase 4 run_board stages Cortex agents publishing STRUCTURAL_TRADE_PROPOSALS (BOARD_RUN_ID set).
•  Parallel Worlds + daily position verdict (SP_RUN_DAILY_POSITION_VERDICT when enabled) tighten governance.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D1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Data Ingestion &amp; Daily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50392"/>
            <a:ext cx="146304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15568"/>
            <a:ext cx="10789920" cy="5422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egoe UI"/>
              </a:rPr>
              <a:t>•  TASK_RUN_DAILY_PIPELINE (Snowflake task) invokes SP_RUN_DAILY_PIPELINE after US equity close window (cron in 150_task_run_daily_training.sql).
•  SP_PIPELINE_INGEST → SP_INGEST_MARKET_BARS: routes by MARKET_DATA_PROVIDER_DEFAULT — IB ingest via cursorfiles/ingest_ibkr_bars.py is primary path in ops docs; Alpha Vantage proc remains available.
•  MARKET_BARS refreshed in MART; SP_PIPELINE_REFRESH_RETURNS maintains MARKET_RETURNS.
•  Momentum path: SP_GENERATE_MOMENTUM_RECS → RECOMMENDATION_LOG; evaluate → RECOMMENDATION_OUTCOMES (H1,H3,H5,H10,H20).
•  Portfolio simulation SP_RUN_PORTFOLIO_SIMULATION updates PORTFOLIO_* tables.
•  Morning digest path: SP_WRITE_MORNING_BRIEF merges V_MORNING_BRIEF_JSON into AGENT_OUT.MORNING_BRIEF.
•  Manual operator path: mip_ui_api POST /ib/daily-job/run (+ optional synth_intraday_daily, pipeline, run_board flags).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D1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Training &amp; Evidence Accumulation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50392"/>
            <a:ext cx="146304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15568"/>
            <a:ext cx="10789920" cy="5422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egoe UI"/>
              </a:rPr>
              <a:t>•  Legacy momentum trainers: horizons and HIT coverage in RECOMMENDATION_OUTCOMES; trust signals via mart/training KPI views.
•  Structural track: STRUCTURAL_SETUP_EVENTS linked to STRUCTURAL_SETUP_OUTCOMES once forward bars exist (SP_EVALUATE_STRUCTURAL_OUTCOMES).
•  STRUCTURAL_SETUP_TRUST rolls up MEANINGFUL_HIT_RATE, path survival, MFE/MAE style metrics per family / market.
(TRUST_LABEL bands such as TRUSTED / PROVISIONAL / RESEARCH depending on thresholds in SQL.)
•  Meaningful move thresholds encode what counts as structural success versus noise — parameterized in APP strategy tables/views.
•  Operator surfaces: /structural-training, /training (digest + maturity vocabulary). Ask MIP can explain rows in plain language.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D1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Structural Pattern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50392"/>
            <a:ext cx="146304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15568"/>
            <a:ext cx="10789920" cy="5422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egoe UI"/>
              </a:rPr>
              <a:t>•  Daily structural DAG (SP_RUN_STRUCTURAL_DAILY_PIPELINE) detects pivot levels SP_DETECT_STRUCTURAL_LEVELS,
computes structural state/regime compatibility, evaluates structural setups.
•  Setup families surfaced in mart views include breakout/retest, wick rejections at support/resistance,
trend pullbacks, failed breakout reversals — see SETUP_NARRATIVE cases in V_STRUCTURAL_TIMELINE_SETUPS.
•  Outputs track LEVEL_PRICE, ENTRY_ZONE_LOW/HIGH, invalidation context, wick and multi-bar confirmation scores.
•  Market structure map view (v_symbol_market_structure_map) adds BOS/CHOCH/wick-probe style tags for richer context.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D1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Structural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50392"/>
            <a:ext cx="146304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1556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D1540"/>
                </a:solidFill>
                <a:latin typeface="Segoe UI"/>
              </a:rPr>
              <a:t>Market memory for a symbol: recent structure, levels, events, proposal linkage.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789920" cy="4663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egoe UI"/>
              </a:rPr>
              <a:t>•  UI route /structural-timeline → FastAPI /structural-timeline/detail?setup_event_id=…
•  Mart rail V_STRUCTURAL_TIMELINE_EVENTS unions state changes, setup lifecycle, proposal_create, new levels.
•  V_STRUCTURAL_TIMELINE_LEVELS reads STRUCTURAL_LEVEL_CACHE for scored support/resistance bands.
•  Setups view joins trust policy, proposal counts, regime tags, narrative text for education.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D1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Agentic Proposal 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50392"/>
            <a:ext cx="146304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1556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D1540"/>
                </a:solidFill>
                <a:latin typeface="Segoe UI"/>
              </a:rPr>
              <a:t>Evidence pack → specialist agents → chair → durable proposals (separate from deterministic SP_PROPOSE_STRUCTURAL_TRADES).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789920" cy="4663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egoe UI"/>
              </a:rPr>
              <a:t>•  Phase 4 entry: MIP/scripts/proposal_board_phase4/run_board.py stages dossiers (V_PROPOSAL_BOARD_*), parallel specialists, chair, publication policy.
•  Published rows appear in STRUCTURAL_TRADE_PROPOSALS with BOARD_RUN_ID; timeline/agentic narratives key off that discriminator.
•  Operator trigger commonly chains after pipeline via POST /ib/daily-job/run (run_proposal_board flag).
•  Short-side publication guarded by LIVE_PORTFOLIO_CONFIG.IBKR_ACCOUNT_MODE (≠ UNKNOWN / fail-closed logic in orchestrator).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D1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Committee &amp; Agentic Revalidation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50392"/>
            <a:ext cx="146304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1556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D1540"/>
                </a:solidFill>
                <a:latin typeface="Segoe UI"/>
              </a:rPr>
              <a:t>Re-open a thesis: still valid, degraded, or closed / blocked by policy?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789920" cy="4663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egoe UI"/>
              </a:rPr>
              <a:t>•  /structural-committee + committee.py hearings: OPEN / REFRESH / COMMIT flows persist structured stance and reason scaffolding.
•  Shadow board helpers for exploratory runs (committee_shadow_board_* endpoints).
•  LPA inline committee exhibits embed context while acting on LIVE_ACTION rows (LpaCommittee2Exhibits).
•  Deterministic counterpart: SP_RUN_DAILY_POSITION_VERDICT + Position Health (/position-health) scores thesis_integrity,
fragility vs invalidation cushions — distinct from conversational agents but feeds the same operator story.
•  Ask: is price still near the thesis zone? Is structure repairing or snapping? Answers combine SQL verdicts + hearings + tape.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D1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Live Portfolio Activity (LPA)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50392"/>
            <a:ext cx="146304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1556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D1540"/>
                </a:solidFill>
                <a:latin typeface="Segoe UI"/>
              </a:rPr>
              <a:t>Operator cockpit for open risk, broker sync, proposals, guarded execution clicks.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789920" cy="4663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egoe UI"/>
              </a:rPr>
              <a:t>•  /live-portfolio-activity surfaces pending LIVE_ACTION payloads, snapshots, stale revalidation cues.
•  Reason-code map translates machine codes (e.g. EXECUTION_CLICK_REVALIDATION_STALE, PRICE_GUARD_FAIL, drift codes) into operator prose.
•  Links outward to hearings, portfolios, audits when context panels mount.
•  Keeps deterministic guardrails visible before anything hits IBKR — single pane to "decide responsibly."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D1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Trade Configuration, Brackets &amp; IBKR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50392"/>
            <a:ext cx="146304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1556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D1540"/>
                </a:solidFill>
                <a:latin typeface="Segoe UI"/>
              </a:rPr>
              <a:t>Configure intent and broker paths — mind the overloaded "paper" wording.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789920" cy="4663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egoe UI"/>
              </a:rPr>
              <a:t>•  /live-portfolio-config edits LIVE_PORTFOLIO_CONFIG knobs (adapter mode, IB account ids, sizing/risk placeholders per schema).
•  live.py composes brackets, realism checks referencing broker snapshots — separate env LIVE_EXECUTION_MODE can force IBKR or placeholder semantics.
•  ADAPTER_MODE 'LIVE' means broker submit wiring — NOT automatically "real-money"; IBKR_ACCOUNT_MODE (PAPER/REAL/UNKNOWN) is explicit safety.
•  Ingest bars + executions reconcile through IBKR-aligned scripts and audit tables referenced in LIVE router smoke paths.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D1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Ask MIP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50392"/>
            <a:ext cx="146304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15568"/>
            <a:ext cx="10789920" cy="5422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egoe UI"/>
              </a:rPr>
              <a:t>•  Embedded assistant (AskMipPanel) posts conversation + route context to POST /ask/v3.
•  Backend binds User Guide segments, glossary, optional web fallback governed by orchestrator policies (see docs/ask_mip/ask_mip_v2_design.md).
•  Uses Snowflake Cortex COMPLETE for natural language while blocking undocumented internal claims.
•  Operators get "why is this badge red?", "explain this KPI", onboarding without paging an engineer.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D1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Parallel Worlds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50392"/>
            <a:ext cx="146304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1556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D1540"/>
                </a:solidFill>
                <a:latin typeface="Segoe UI"/>
              </a:rPr>
              <a:t>Simulation intelligence — contrasts alternate policy scenarios vs realized path.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789920" cy="4663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egoe UI"/>
              </a:rPr>
              <a:t>•  /parallel-worlds aggregates portfolio-level scenario grids, regret heatmaps, equity curves, tuning surfaces.
•  API reads mart views such as V_PARALLEL_WORLD_REGRET joined to active PARALLEL_WORLD_SCENARIO rows.
•  Use case: understand opportunity cost / policy sensitivity — not a substitute for broker execution truth.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D1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Literature-Informed Intelligence (Planned Layer)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50392"/>
            <a:ext cx="146304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78992"/>
            <a:ext cx="106070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D1540"/>
                </a:solidFill>
                <a:latin typeface="Segoe UI"/>
              </a:rPr>
              <a:t>Turn external trading literature into a controlled knowledge layer — not a trade-decision authority.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10607040" cy="406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egoe UI"/>
              </a:rPr>
              <a:t>•  Ingest books / research → extract setup concepts, context rules, invalidation templates, failure modes, trade-management heuristics.
•  Normalize into structured concept cards with provenance and confidence metadata.
•  Tag each card: observable with existing MIP bars/structure versus narrative-only.
•  Inject cards into Phase 4 / committee / revalidation dialogs as debate material — challenge weak thesis, articulate failure symmetry.
•  Binding decisions remain deterministic evidence + broker truth + risk policies + STRUCTURAL_SETUP_TRUST / outcomes.
•  Illustrative style note: contextual trading literature (e.g. bar-reading frameworks) mapped to setup families (STRUCTURAL_SETUP_EVENTS.SETUP_FAMILY) conceptually.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276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D7E14"/>
                </a:solidFill>
                <a:latin typeface="Segoe UI"/>
              </a:rPr>
              <a:t>Architecture target — not yet implemented in Snowflake/repo. Companion doc logs status as Planned.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D1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Engineering Accelerator: Cortex Code + Cursor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50392"/>
            <a:ext cx="146304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78992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D1540"/>
                </a:solidFill>
                <a:latin typeface="Segoe UI"/>
              </a:rPr>
              <a:t>Separate from runtime Cortex agents: tooling velocity for APP/MART SQL stewardship.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10607040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egoe UI"/>
              </a:rPr>
              <a:t>•  Cursor keeps repo grounding (ADRs, smoke SQL, conventions for SP_/V_/TASK_ naming, migration hygiene).
•  Cortex Code (Snowflake IDE assistant) proposes/refactors SQL &amp; JavaScript procs with warehouse-native idioms (VARIANT, QUALIFY, EXECUTE AS CALLER).
•  Generate candidate smoke fragments mirroring MIP/SQL/smoke patterns; humans paste + adjust before deploy.
•  Auto-annotate semantic intent bridging APP tables vs MART views for onboarding docs.
•  Pair on incident playbooks: translate live.py guard findings into targeted diagnostic SELECTs.
•  Workflow: prompt → diff review in Cursor → PR → deploy via existing MIP_ADMIN_ROLE procedures — no auto-deploy from model output.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276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D7E14"/>
                </a:solidFill>
                <a:latin typeface="Segoe UI"/>
              </a:rPr>
              <a:t>Vision practice — Snowflake Cortex Code integration not wired in this repository today.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D1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What Makes MIP Different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50392"/>
            <a:ext cx="146304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15568"/>
            <a:ext cx="10789920" cy="5422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Segoe UI"/>
              </a:rPr>
              <a:t>•  Versus charting SaaS: MIP couples signals to multi-horizon outcome tables and operator-grade audit/logging (MIP_AUDIT_LOG pipeline steps).
•  Versus brittle bots: separates evolving structural detectors from trust overlays (STRUCTURAL_SETUP_TRUST) plus committee/LPA veto paths.
•  Versus ChatGPT trader: deterministic rows + Cortex narration + explicit reason codes guard against confident hallucinations.
•  Versus opaque quant boxes: dossier/board pipeline documents evidence packs feeding chair decisions; Parallel Worlds exposes scenario regret.
•  Hybrid: deterministic core + cautious agent choreography + human cockpit for final intent.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D1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Audience-Specific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50392"/>
            <a:ext cx="146304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2670048" cy="347472"/>
          </a:xfrm>
          <a:prstGeom prst="round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Traders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27632"/>
            <a:ext cx="2670048" cy="4224528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737360"/>
            <a:ext cx="2414016" cy="3977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egoe UI"/>
              </a:rPr>
              <a:t>Structural timeline + trust overlays before sizing.
Committee/LPA revalidation when tape drifts.
Parallel Worlds for policy regret — not execution truth.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4408" y="1234440"/>
            <a:ext cx="2670048" cy="347472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4408" y="1280160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AI / ML curious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64408" y="1627632"/>
            <a:ext cx="2670048" cy="4224528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2424" y="1737360"/>
            <a:ext cx="2414016" cy="3977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egoe UI"/>
              </a:rPr>
              <a:t>Hybrid: Snowflake evidence + Cortex agents + human cockpit.
BOARD_RUN_ID marks agentic proposals vs SQL-only path.
Planned literature cards = debate material, not veto authority.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17336" y="1234440"/>
            <a:ext cx="2670048" cy="347472"/>
          </a:xfrm>
          <a:prstGeom prst="round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17336" y="1280160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Finance / risk leaders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17336" y="1627632"/>
            <a:ext cx="2670048" cy="4224528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5352" y="1737360"/>
            <a:ext cx="2414016" cy="3977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egoe UI"/>
              </a:rPr>
              <a:t>Governance: schemas, audit log, explicit IBKR_ACCOUNT_MODE.
Traceability from bar row → setup → proposal → order intent.
Automation bounded by reason codes and broker reconciliation.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0264" y="1234440"/>
            <a:ext cx="2670048" cy="347472"/>
          </a:xfrm>
          <a:prstGeom prst="roundRect">
            <a:avLst/>
          </a:prstGeom>
          <a:solidFill>
            <a:srgbClr val="1A2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70264" y="1280160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Technical explorers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0264" y="1627632"/>
            <a:ext cx="2670048" cy="4224528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1A2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737360"/>
            <a:ext cx="2414016" cy="3977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Segoe UI"/>
              </a:rPr>
              <a:t>Read SP_RUN_DAILY_PIPELINE + SP_RUN_STRUCTURAL_DAILY_PIPELINE.
FastAPI read models + React cockpit mirror mart truth.
Smoke SQL under MIP/SQL/smoke reproduces checkpoints.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D1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Current State vs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850392"/>
            <a:ext cx="146304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3520440" cy="365760"/>
          </a:xfrm>
          <a:prstGeom prst="round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352044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Implemented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32461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egoe UI"/>
              </a:rPr>
              <a:t>SP_RUN_DAILY_PIPELINE + structural DAG
Momentum + structural trust tables
Phase 4 run_board
LPA + live.py + LIVE_PORTFOLIO_CONFIG
Parallel Worlds mart + UI
Ask MIP /ask/v3 + Cortex COMPLETE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33672" y="1234440"/>
            <a:ext cx="3520440" cy="365760"/>
          </a:xfrm>
          <a:prstGeom prst="round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33672" y="1280160"/>
            <a:ext cx="352044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Partial / wiring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2" y="1719072"/>
            <a:ext cx="32461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egoe UI"/>
              </a:rPr>
              <a:t>Intraday TASK_RUN_INTRADAY_PIPELINE suspended
Committee2 feature depth env-specific
Adapter vs IBKR_ACCOUNT_MODE wording cleanup backlog
Optional PW panels tolerant of sparse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64424" y="1234440"/>
            <a:ext cx="3520440" cy="365760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64424" y="1280160"/>
            <a:ext cx="352044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Future 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4" y="1719072"/>
            <a:ext cx="32461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Segoe UI"/>
              </a:rPr>
              <a:t>Literature RAG concept-card layer (Slide 15)
Cortex Code + Cursor SQL velocity loop
Deeper retrieval inside Ask beyond static guide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240280"/>
            <a:ext cx="9966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Segoe UI"/>
              </a:rPr>
              <a:t>Closing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3291840"/>
            <a:ext cx="3017520" cy="508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3703320"/>
            <a:ext cx="9921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CCD5E0"/>
                </a:solidFill>
                <a:latin typeface="Segoe UI"/>
              </a:rPr>
              <a:t>MIP is an evolving AI-assisted trading operating system — research, deterministic evidence,
committee-grade challenge, guarded live execution oversight, simulation feedback,
and disciplined learning loops anchored in Snowflake + broker truth.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989320"/>
            <a:ext cx="9921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C757D"/>
                </a:solidFill>
                <a:latin typeface="Segoe UI"/>
              </a:rPr>
              <a:t>Market Intelligence Platform  •  May 2026  •  See mip_deck_repo_findings.md for object-level traceability.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2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3474720" cy="508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