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6858000"/>
          </a:xfrm>
          <a:prstGeom prst="rect">
            <a:avLst/>
          </a:prstGeom>
          <a:solidFill>
            <a:srgbClr val="1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37160" cy="47548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097280"/>
            <a:ext cx="6858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Market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031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4A3B8"/>
                </a:solidFill>
              </a:defRPr>
            </a:pPr>
            <a:r>
              <a:t>Where Market Research Meets Intelligent Execution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834640"/>
            <a:ext cx="2743200" cy="36576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108960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MIP is a Snowflake-native platform that fuses AI-driven</a:t>
            </a:r>
          </a:p>
          <a:p>
            <a:pPr>
              <a:spcBef>
                <a:spcPts val="400"/>
              </a:spcBef>
              <a:defRPr sz="1600">
                <a:solidFill>
                  <a:srgbClr val="CBD5E1"/>
                </a:solidFill>
              </a:defRPr>
            </a:pPr>
            <a:r>
              <a:t>market research with live broker-linked trading.</a:t>
            </a:r>
          </a:p>
          <a:p>
            <a:pPr>
              <a:spcBef>
                <a:spcPts val="400"/>
              </a:spcBef>
              <a:defRPr sz="1600">
                <a:solidFill>
                  <a:srgbClr val="CBD5E1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CBD5E1"/>
                </a:solidFill>
              </a:defRPr>
            </a:pPr>
            <a:r>
              <a:t>Every trade is backed by evidence. Every decision is auditable.</a:t>
            </a:r>
          </a:p>
          <a:p>
            <a:pPr>
              <a:spcBef>
                <a:spcPts val="400"/>
              </a:spcBef>
              <a:defRPr sz="1600">
                <a:solidFill>
                  <a:srgbClr val="CBD5E1"/>
                </a:solidFill>
              </a:defRPr>
            </a:pPr>
            <a:r>
              <a:t>Every outcome feeds the next cycle of learning.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5577840"/>
            <a:ext cx="173736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5577840"/>
            <a:ext cx="1737360" cy="310896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5577840"/>
            <a:ext cx="173736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EXECUTION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5577840"/>
            <a:ext cx="1737360" cy="310896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LEARNING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1371600"/>
            <a:ext cx="4114800" cy="4389120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800" b="1">
                <a:solidFill>
                  <a:srgbClr val="E2E8F0"/>
                </a:solidFill>
              </a:defRPr>
            </a:pPr>
            <a:r>
              <a:t>Platform Highlights</a:t>
            </a:r>
          </a:p>
          <a:p>
            <a:pPr>
              <a:spcBef>
                <a:spcPts val="600"/>
              </a:spcBef>
              <a:defRPr sz="1200">
                <a:solidFill>
                  <a:srgbClr val="B4C3D7"/>
                </a:solidFill>
              </a:defRPr>
            </a:pPr>
            <a:r>
              <a:t>  AI committee reviews every trade proposal</a:t>
            </a:r>
          </a:p>
          <a:p>
            <a:pPr>
              <a:spcBef>
                <a:spcPts val="600"/>
              </a:spcBef>
              <a:defRPr sz="1200">
                <a:solidFill>
                  <a:srgbClr val="B4C3D7"/>
                </a:solidFill>
              </a:defRPr>
            </a:pPr>
            <a:r>
              <a:t>  Pattern-based signal detection across FX + equities</a:t>
            </a:r>
          </a:p>
          <a:p>
            <a:pPr>
              <a:spcBef>
                <a:spcPts val="600"/>
              </a:spcBef>
              <a:defRPr sz="1200">
                <a:solidFill>
                  <a:srgbClr val="B4C3D7"/>
                </a:solidFill>
              </a:defRPr>
            </a:pPr>
            <a:r>
              <a:t>  Parallel worlds test policy quality before risk</a:t>
            </a:r>
          </a:p>
          <a:p>
            <a:pPr>
              <a:spcBef>
                <a:spcPts val="600"/>
              </a:spcBef>
              <a:defRPr sz="1200">
                <a:solidFill>
                  <a:srgbClr val="B4C3D7"/>
                </a:solidFill>
              </a:defRPr>
            </a:pPr>
            <a:r>
              <a:t>  Live IBKR link with real-time position sync</a:t>
            </a:r>
          </a:p>
          <a:p>
            <a:pPr>
              <a:spcBef>
                <a:spcPts val="600"/>
              </a:spcBef>
              <a:defRPr sz="1200">
                <a:solidFill>
                  <a:srgbClr val="B4C3D7"/>
                </a:solidFill>
              </a:defRPr>
            </a:pPr>
            <a:r>
              <a:t>  News intelligence with bounded influence</a:t>
            </a:r>
          </a:p>
          <a:p>
            <a:pPr>
              <a:spcBef>
                <a:spcPts val="600"/>
              </a:spcBef>
              <a:defRPr sz="1200">
                <a:solidFill>
                  <a:srgbClr val="B4C3D7"/>
                </a:solidFill>
              </a:defRPr>
            </a:pPr>
            <a:r>
              <a:t>  Full audit trail from signal to settlement</a:t>
            </a:r>
          </a:p>
          <a:p>
            <a:pPr>
              <a:spcBef>
                <a:spcPts val="600"/>
              </a:spcBef>
              <a:defRPr sz="1200">
                <a:solidFill>
                  <a:srgbClr val="B4C3D7"/>
                </a:solidFill>
              </a:defRPr>
            </a:pPr>
            <a:r>
              <a:t>  Learning ledger closes the feedback loop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What Is MIP?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An evidence-first market intelligence engine — not a prediction machine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65960"/>
            <a:ext cx="1664208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Market Data</a:t>
            </a:r>
          </a:p>
        </p:txBody>
      </p:sp>
      <p:sp>
        <p:nvSpPr>
          <p:cNvPr id="8" name="Chevron 7"/>
          <p:cNvSpPr/>
          <p:nvPr/>
        </p:nvSpPr>
        <p:spPr>
          <a:xfrm>
            <a:off x="2139696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50008" y="1965960"/>
            <a:ext cx="1664208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Signals</a:t>
            </a:r>
          </a:p>
        </p:txBody>
      </p:sp>
      <p:sp>
        <p:nvSpPr>
          <p:cNvPr id="10" name="Chevron 9"/>
          <p:cNvSpPr/>
          <p:nvPr/>
        </p:nvSpPr>
        <p:spPr>
          <a:xfrm>
            <a:off x="4032504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42816" y="1965960"/>
            <a:ext cx="1664208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Training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5312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35624" y="1965960"/>
            <a:ext cx="1664208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Proposals</a:t>
            </a:r>
          </a:p>
        </p:txBody>
      </p:sp>
      <p:sp>
        <p:nvSpPr>
          <p:cNvPr id="14" name="Chevron 13"/>
          <p:cNvSpPr/>
          <p:nvPr/>
        </p:nvSpPr>
        <p:spPr>
          <a:xfrm>
            <a:off x="7818120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28432" y="1965960"/>
            <a:ext cx="1664208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Committee</a:t>
            </a:r>
          </a:p>
        </p:txBody>
      </p:sp>
      <p:sp>
        <p:nvSpPr>
          <p:cNvPr id="16" name="Chevron 15"/>
          <p:cNvSpPr/>
          <p:nvPr/>
        </p:nvSpPr>
        <p:spPr>
          <a:xfrm>
            <a:off x="9710928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21240" y="1965960"/>
            <a:ext cx="1664208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Execution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5394960" cy="2743200"/>
          </a:xfrm>
          <a:prstGeom prst="roundRect">
            <a:avLst/>
          </a:prstGeom>
          <a:solidFill>
            <a:srgbClr val="E3ECFD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800" b="1">
                <a:solidFill>
                  <a:srgbClr val="3069F0"/>
                </a:solidFill>
              </a:defRPr>
            </a:pPr>
            <a:r>
              <a:t>Research Engine</a:t>
            </a: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</a:defRPr>
            </a:pPr>
            <a:r>
              <a:t>Ingests market data across FX pairs and equities</a:t>
            </a: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</a:defRPr>
            </a:pPr>
            <a:r>
              <a:t>Detects patterns and evaluates across 5 horizons (H1-H20)</a:t>
            </a: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</a:defRPr>
            </a:pPr>
            <a:r>
              <a:t>Builds trust scores through backtested evidence</a:t>
            </a: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</a:defRPr>
            </a:pPr>
            <a:r>
              <a:t>News context + parallel world stress testing</a:t>
            </a: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</a:defRPr>
            </a:pPr>
            <a:r>
              <a:t>Training maturity gates prevent premature trading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108960"/>
            <a:ext cx="5394960" cy="2743200"/>
          </a:xfrm>
          <a:prstGeom prst="roundRect">
            <a:avLst/>
          </a:prstGeom>
          <a:solidFill>
            <a:srgbClr val="E6F5E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800" b="1">
                <a:solidFill>
                  <a:srgbClr val="2E7D32"/>
                </a:solidFill>
              </a:defRPr>
            </a:pPr>
            <a:r>
              <a:t>Trading Operations</a:t>
            </a: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</a:defRPr>
            </a:pPr>
            <a:r>
              <a:t>AI committee verdicts before any execution</a:t>
            </a: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</a:defRPr>
            </a:pPr>
            <a:r>
              <a:t>Live broker link with IBKR (paper + live modes)</a:t>
            </a: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</a:defRPr>
            </a:pPr>
            <a:r>
              <a:t>Position lifecycle: import &gt; validate &gt; approve &gt; execute</a:t>
            </a: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</a:defRPr>
            </a:pPr>
            <a:r>
              <a:t>Performance dashboards with Sharpe, drawdown, win rate</a:t>
            </a: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</a:defRPr>
            </a:pPr>
            <a:r>
              <a:t>Every decision traceable in the Learning Ledger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⚖️  Think of MIP as a research lab with a built-in trading desk — the lab must approve before the desk can act.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Training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Evidence quality is measured before any trade is considered — maturity gates keep the system honest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560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3069F0"/>
                </a:solidFill>
              </a:defRPr>
            </a:pPr>
            <a:r>
              <a:t>0-100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Maturity 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965960"/>
            <a:ext cx="2560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6A1B9A"/>
                </a:solidFill>
              </a:defRPr>
            </a:pPr>
            <a:r>
              <a:t>H1-H20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5 Horizons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965960"/>
            <a:ext cx="2560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E7D32"/>
                </a:solidFill>
              </a:defRPr>
            </a:pPr>
            <a:r>
              <a:t>86%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Coverage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1965960"/>
            <a:ext cx="2926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796B"/>
                </a:solidFill>
              </a:defRPr>
            </a:pPr>
            <a:r>
              <a:t>PER SYMBOL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Granularity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83280"/>
            <a:ext cx="2103120" cy="310896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INSUFFICIENT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383280"/>
            <a:ext cx="210312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WARMING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3383280"/>
            <a:ext cx="210312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LEARNING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3383280"/>
            <a:ext cx="210312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CONFIDENT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54864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How Training Works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Each symbol + pattern combination is independently trained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Maturity = sample size + coverage + horizon depth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Trust labels gate whether the system can propose trades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LOW_EVIDENCE symbols are quarantined from execution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The system learns continuously — maturity rises over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73152" cy="20116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3931920"/>
            <a:ext cx="52578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What You See in the UI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Symbol grid with maturity scores and trust labels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Horizon returns: Avg H1, H3, H5, H10, H20 per pattern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Coverage % — how much of the symbol's history is trained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Sample size — number of observations backing the score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AI summary translates stats into plain-language guidance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931920"/>
            <a:ext cx="73152" cy="20116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🎓  Like a medical residency: doctors don't operate until they've logged enough supervised hours. MIP's patterns don't trade until trained.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Market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Symbol-level storyboard — see every signal, proposal, and trade on a visual timeline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96596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Signals (S:12)</a:t>
            </a:r>
          </a:p>
        </p:txBody>
      </p:sp>
      <p:sp>
        <p:nvSpPr>
          <p:cNvPr id="8" name="Chevron 7"/>
          <p:cNvSpPr/>
          <p:nvPr/>
        </p:nvSpPr>
        <p:spPr>
          <a:xfrm>
            <a:off x="4133087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0" y="196596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Proposals (P:3)</a:t>
            </a:r>
          </a:p>
        </p:txBody>
      </p:sp>
      <p:sp>
        <p:nvSpPr>
          <p:cNvPr id="10" name="Chevron 9"/>
          <p:cNvSpPr/>
          <p:nvPr/>
        </p:nvSpPr>
        <p:spPr>
          <a:xfrm>
            <a:off x="7333488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0" y="1965960"/>
            <a:ext cx="274320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Trades (T:1)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71800"/>
            <a:ext cx="146304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EXECUTED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2971800"/>
            <a:ext cx="146304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PROPOSED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2971800"/>
            <a:ext cx="164592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SIGNAL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2971800"/>
            <a:ext cx="1463040" cy="310896"/>
          </a:xfrm>
          <a:prstGeom prst="roundRect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INACTIVE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40"/>
            <a:ext cx="54864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Visual Storyboard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Tile grid colors indicate lifecycle stage at a glance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Chart overlays: signals (blue), proposals (orange), trades (green)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Signal chain tree shows branching proposals per portfolio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OHLC price chart with signal/trade markers overlaid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Cross-check training trust status by pattern directly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20440"/>
            <a:ext cx="73152" cy="24688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3520440"/>
            <a:ext cx="52578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Narrative Value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Decision narrative explains why a symbol advanced or stalled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Full transparency: signal &gt; proposal &gt; committee &gt; outcome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Click-through to committee decisions and execution runs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Portfolio-level filtering for multi-strategy environments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Time-range controls for historical investigation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520440"/>
            <a:ext cx="73152" cy="24688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📰  Like a newspaper front page for each symbol — you see the headline (trade), the story (proposals), and the raw sources (signals).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News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Evidence-backed context layer — news informs decisions but never overrides risk gates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60604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3069F0"/>
                </a:solidFill>
              </a:defRPr>
            </a:pPr>
            <a:r>
              <a:t>RSS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Multi-Source Ingest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965960"/>
            <a:ext cx="260604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C62828"/>
                </a:solidFill>
              </a:defRPr>
            </a:pPr>
            <a:r>
              <a:t>Z ≥ 1.5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HOT Threshold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965960"/>
            <a:ext cx="260604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6A1B9A"/>
                </a:solidFill>
              </a:defRPr>
            </a:pPr>
            <a:r>
              <a:t>BOUNDED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Influence Control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1965960"/>
            <a:ext cx="283464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E7D32"/>
                </a:solidFill>
              </a:defRPr>
            </a:pPr>
            <a:r>
              <a:t>REAL-TIME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Freshness Tracking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83280"/>
            <a:ext cx="356616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Context KPIs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Symbols with active news coverage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HOT symbols (burst z-score ≥ 1.5)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Snapshot age and freshness tracking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Stale symbol alerts for decision caution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73152" cy="256032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0" y="3383280"/>
            <a:ext cx="356616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Decision Impact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Proposals scoped with news context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Score adjustments bounded by guardrails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New entry blocks when uncertainty spikes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AI reader summary from stored features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3383280"/>
            <a:ext cx="73152" cy="2560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3383280"/>
            <a:ext cx="35204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Sources &amp; Guardrails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SEC, GlobeNewswire, MarketWatch, Fed, ECB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IBKR research feed integration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Invalid URLs auto-excluded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No narrative guesswork — evidence only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3383280"/>
            <a:ext cx="73152" cy="2560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📡  Like a newsroom fact-checker: MIP reads the headlines but only acts on verified, scored evidence — never on rumor alone.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Parallel Worlds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Counterfactual laboratory — stress-test policy quality against 'what if' scenarios before risking capital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931920" cy="1828800"/>
          </a:xfrm>
          <a:prstGeom prst="roundRect">
            <a:avLst/>
          </a:prstGeom>
          <a:solidFill>
            <a:srgbClr val="E6F5EA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800">
                <a:solidFill>
                  <a:srgbClr val="2E7D32"/>
                </a:solidFill>
              </a:defRPr>
            </a:pPr>
            <a:r>
              <a:t>Policy Health: HEALTHY</a:t>
            </a:r>
          </a:p>
          <a:p>
            <a:pPr>
              <a:spcBef>
                <a:spcPts val="300"/>
              </a:spcBef>
              <a:defRPr sz="1200">
                <a:solidFill>
                  <a:srgbClr val="1F2937"/>
                </a:solidFill>
              </a:defRPr>
            </a:pPr>
            <a:r>
              <a:t>  Stability Score: 95 / 100</a:t>
            </a:r>
          </a:p>
          <a:p>
            <a:pPr>
              <a:spcBef>
                <a:spcPts val="300"/>
              </a:spcBef>
              <a:defRPr sz="1200">
                <a:solidFill>
                  <a:srgbClr val="1F2937"/>
                </a:solidFill>
              </a:defRPr>
            </a:pPr>
            <a:r>
              <a:t>  Regret Driver: Baseline (staying in cash)</a:t>
            </a:r>
          </a:p>
          <a:p>
            <a:pPr>
              <a:spcBef>
                <a:spcPts val="300"/>
              </a:spcBef>
              <a:defRPr sz="1200">
                <a:solidFill>
                  <a:srgbClr val="1F2937"/>
                </a:solidFill>
              </a:defRPr>
            </a:pPr>
            <a:r>
              <a:t>  Top Candidate: Weak — continue monitoring</a:t>
            </a:r>
          </a:p>
          <a:p>
            <a:pPr>
              <a:spcBef>
                <a:spcPts val="300"/>
              </a:spcBef>
              <a:defRPr sz="1200">
                <a:solidFill>
                  <a:srgbClr val="1F2937"/>
                </a:solidFill>
              </a:defRPr>
            </a:pPr>
            <a:r>
              <a:t>  Current policy outperforms all alternatives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920240"/>
            <a:ext cx="6858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Scenario Types Under Test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THRESHOLD — vary signal filter strictness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SIZING — test alternative position sizing models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TIMING — simulate delayed entry by N bars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HORIZON — change holding period assumptions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EARLY_EXIT — apply payoff multiplier cutoffs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BASELINE — the 'do nothing' cash benchmark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920240"/>
            <a:ext cx="73152" cy="182880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3977639"/>
            <a:ext cx="137160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STRONG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3977639"/>
            <a:ext cx="155448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EMERGING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3977639"/>
            <a:ext cx="118872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WEAK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3977639"/>
            <a:ext cx="1188720" cy="310896"/>
          </a:xfrm>
          <a:prstGeom prst="roundRect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NOISE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26280"/>
            <a:ext cx="5394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How It Works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Scenarios are simulated over historical data windows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Gate-by-gate divergence analysis identifies where policies differ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Regret = excess return of best alternative vs current policy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Humans approve all policy changes — AI explains, never decides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73152" cy="14173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4526280"/>
            <a:ext cx="5394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AI Narrative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AI explains gate-by-gate divergence and regret trend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Generates plain-language summary of scenario performance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Highlights emerging threats to current policy stability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Links to live broker snapshots for real-world validation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4526280"/>
            <a:ext cx="73152" cy="1417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🌍  Like a flight simulator for your trading strategy — test every 'what-if' scenario before you take off with real capital.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Live Portfolio Link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The control plane — binding MIP's intelligence engine to real broker execution via Interactive Brokers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965960"/>
            <a:ext cx="292608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Source Portfolio</a:t>
            </a:r>
          </a:p>
        </p:txBody>
      </p:sp>
      <p:sp>
        <p:nvSpPr>
          <p:cNvPr id="8" name="Chevron 7"/>
          <p:cNvSpPr/>
          <p:nvPr/>
        </p:nvSpPr>
        <p:spPr>
          <a:xfrm>
            <a:off x="4041648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0" y="1965960"/>
            <a:ext cx="292608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MIP Live Config</a:t>
            </a:r>
          </a:p>
        </p:txBody>
      </p:sp>
      <p:sp>
        <p:nvSpPr>
          <p:cNvPr id="10" name="Chevron 9"/>
          <p:cNvSpPr/>
          <p:nvPr/>
        </p:nvSpPr>
        <p:spPr>
          <a:xfrm>
            <a:off x="7516367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965960"/>
            <a:ext cx="292608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IBKR Account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2926080"/>
            <a:ext cx="182880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Activation Guard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926080"/>
            <a:ext cx="210312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Execution Readiness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36576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Configuration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Adapter mode: PAPER or LIVE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Max positions and exposure limits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Cash buffer percentage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Quote freshness thresholds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Cooldown bars between trades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474720"/>
            <a:ext cx="73152" cy="24688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34840" y="3474720"/>
            <a:ext cx="36576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Risk Brakes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Drawdown stop threshold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Bust percentage limit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Validity window enforcement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Snapshot freshness gates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Position-level safeguards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3474720"/>
            <a:ext cx="73152" cy="2468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0" y="3474720"/>
            <a:ext cx="33375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Governance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Save writes config — no orders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Execution requires validation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Committee must approve first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Full audit of every state change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Human override at every step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3474720"/>
            <a:ext cx="73152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🏛️  Like air traffic control: MIP clears each flight (trade) only when conditions, fuel (capital), and weather (market) all pass safety checks.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Live Portfolio 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Real-time operational lifecycle with committee checkpoints at every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Imported</a:t>
            </a:r>
          </a:p>
        </p:txBody>
      </p:sp>
      <p:sp>
        <p:nvSpPr>
          <p:cNvPr id="8" name="Chevron 7"/>
          <p:cNvSpPr/>
          <p:nvPr/>
        </p:nvSpPr>
        <p:spPr>
          <a:xfrm>
            <a:off x="2578608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52927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Validated</a:t>
            </a:r>
          </a:p>
        </p:txBody>
      </p:sp>
      <p:sp>
        <p:nvSpPr>
          <p:cNvPr id="10" name="Chevron 9"/>
          <p:cNvSpPr/>
          <p:nvPr/>
        </p:nvSpPr>
        <p:spPr>
          <a:xfrm>
            <a:off x="4837175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1496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Committee</a:t>
            </a:r>
          </a:p>
        </p:txBody>
      </p:sp>
      <p:sp>
        <p:nvSpPr>
          <p:cNvPr id="12" name="Chevron 11"/>
          <p:cNvSpPr/>
          <p:nvPr/>
        </p:nvSpPr>
        <p:spPr>
          <a:xfrm>
            <a:off x="7095744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70063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Approved</a:t>
            </a:r>
          </a:p>
        </p:txBody>
      </p:sp>
      <p:sp>
        <p:nvSpPr>
          <p:cNvPr id="14" name="Chevron 13"/>
          <p:cNvSpPr/>
          <p:nvPr/>
        </p:nvSpPr>
        <p:spPr>
          <a:xfrm>
            <a:off x="9354311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28632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Executed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2926080"/>
            <a:ext cx="2560320" cy="310896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Committee Checkpoint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29000"/>
            <a:ext cx="27432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E7D32"/>
                </a:solidFill>
              </a:defRPr>
            </a:pPr>
            <a:r>
              <a:t>NAV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Net Asset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3429000"/>
            <a:ext cx="27432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3069F0"/>
                </a:solidFill>
              </a:defRPr>
            </a:pPr>
            <a:r>
              <a:t>P&amp;L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Unrealized Gains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429000"/>
            <a:ext cx="27432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925F00"/>
                </a:solidFill>
              </a:defRPr>
            </a:pPr>
            <a:r>
              <a:t>DRIFT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Alignment Check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429000"/>
            <a:ext cx="22860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6A1B9A"/>
                </a:solidFill>
              </a:defRPr>
            </a:pPr>
            <a:r>
              <a:t>W / L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Winners vs Losers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54880"/>
            <a:ext cx="54864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What You Monitor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Open positions: symbol, side, qty, avg cost, unrealized P&amp;L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Execution history: fill prices, realized P&amp;L, timestamps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TP/SL status + protection level for each position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754880"/>
            <a:ext cx="73152" cy="128016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4754880"/>
            <a:ext cx="525780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Cross-Checks Available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AI Agent Decisions  for verdict context and reason codes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Runs  for execution truth and pipeline health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Symbol Tracker  for real-time thesis validation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754880"/>
            <a:ext cx="73152" cy="12801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🏥  Like a hospital patient monitor — vital signs (NAV, P&amp;L, drift) are tracked continuously, and alerts fire before problems escalate.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AI Agent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The committee courtroom — every trade proposal faces a structured verdict with reason codes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APPROVED Example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Verdict:  APPROVE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Confidence:  HIGH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Trust gate:  PASSED — maturity 82, coverage 91%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Risk gate:  PASSED — within position limits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Freshness:  PASSED — quote age 3 min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Committee summary generated for audit trail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73152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REJECTED Example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Verdict:  REJECT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Confidence:  MEDIUM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Trust gate:  FAILED — maturity only 34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Capacity gate:  BLOCKED — max positions reached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Stale quote risk flagged (15 min age)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Reason codes preserved for learning ledger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965960"/>
            <a:ext cx="73152" cy="2103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PROPOSED</a:t>
            </a:r>
          </a:p>
        </p:txBody>
      </p:sp>
      <p:sp>
        <p:nvSpPr>
          <p:cNvPr id="12" name="Chevron 11"/>
          <p:cNvSpPr/>
          <p:nvPr/>
        </p:nvSpPr>
        <p:spPr>
          <a:xfrm>
            <a:off x="2578608" y="452628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52927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TRUST GATE</a:t>
            </a:r>
          </a:p>
        </p:txBody>
      </p:sp>
      <p:sp>
        <p:nvSpPr>
          <p:cNvPr id="14" name="Chevron 13"/>
          <p:cNvSpPr/>
          <p:nvPr/>
        </p:nvSpPr>
        <p:spPr>
          <a:xfrm>
            <a:off x="4837175" y="452628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11496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RISK GATE</a:t>
            </a:r>
          </a:p>
        </p:txBody>
      </p:sp>
      <p:sp>
        <p:nvSpPr>
          <p:cNvPr id="16" name="Chevron 15"/>
          <p:cNvSpPr/>
          <p:nvPr/>
        </p:nvSpPr>
        <p:spPr>
          <a:xfrm>
            <a:off x="7095744" y="452628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70063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COMMITTEE</a:t>
            </a:r>
          </a:p>
        </p:txBody>
      </p:sp>
      <p:sp>
        <p:nvSpPr>
          <p:cNvPr id="18" name="Chevron 17"/>
          <p:cNvSpPr/>
          <p:nvPr/>
        </p:nvSpPr>
        <p:spPr>
          <a:xfrm>
            <a:off x="9354311" y="452628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28632" y="434340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VERDICT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49240"/>
            <a:ext cx="108813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Deterministic Accountability</a:t>
            </a: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</a:defRPr>
            </a:pPr>
            <a:r>
              <a:t>  Reason codes are structured and queryable — not free-text opinions. Every APPROVE and REJECT is reproducible and auditable.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49240"/>
            <a:ext cx="73152" cy="6400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⚖️  Like a courtroom trial: evidence is presented, gates are checked, and a structured verdict is rendered — with a full transcript for appeal.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Learning Ledger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The institutional memory — every decision, its context, and what happened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Proposal</a:t>
            </a:r>
          </a:p>
        </p:txBody>
      </p:sp>
      <p:sp>
        <p:nvSpPr>
          <p:cNvPr id="8" name="Chevron 7"/>
          <p:cNvSpPr/>
          <p:nvPr/>
        </p:nvSpPr>
        <p:spPr>
          <a:xfrm>
            <a:off x="2578608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52927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Decision</a:t>
            </a:r>
          </a:p>
        </p:txBody>
      </p:sp>
      <p:sp>
        <p:nvSpPr>
          <p:cNvPr id="10" name="Chevron 9"/>
          <p:cNvSpPr/>
          <p:nvPr/>
        </p:nvSpPr>
        <p:spPr>
          <a:xfrm>
            <a:off x="4837175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1496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Execution</a:t>
            </a:r>
          </a:p>
        </p:txBody>
      </p:sp>
      <p:sp>
        <p:nvSpPr>
          <p:cNvPr id="12" name="Chevron 11"/>
          <p:cNvSpPr/>
          <p:nvPr/>
        </p:nvSpPr>
        <p:spPr>
          <a:xfrm>
            <a:off x="7095744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70063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Outcome</a:t>
            </a:r>
          </a:p>
        </p:txBody>
      </p:sp>
      <p:sp>
        <p:nvSpPr>
          <p:cNvPr id="14" name="Chevron 13"/>
          <p:cNvSpPr/>
          <p:nvPr/>
        </p:nvSpPr>
        <p:spPr>
          <a:xfrm>
            <a:off x="9354311" y="214884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28632" y="1965960"/>
            <a:ext cx="19659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Lesson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36576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Event Types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TRAINING_EVENT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  Maturity changes, trust label shifts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DECISION_EVENT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  Committee verdicts, reason codes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LIVE_EVENT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  Execution fills, P&amp;L outcomes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63240"/>
            <a:ext cx="73152" cy="283464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34840" y="3063240"/>
            <a:ext cx="356616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Causality Chain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Before State  vs  After State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Influence delta tracking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Causality links between events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Outcome state for closed-loop review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News context influence measured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063240"/>
            <a:ext cx="73152" cy="28346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38160" y="3063240"/>
            <a:ext cx="34290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Team Use Cases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Post-trade retrospectives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Weekly performance reviews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Policy tuning decisions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Rejection pattern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Stakeholder explainability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3063240"/>
            <a:ext cx="73152" cy="28346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📚  Like a pilot's flight log: every takeoff, turbulence, and landing is recorded — so the next flight benefits from every past experience.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Live Symbol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Real-time thesis monitoring with committee commentary on every open position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011680" cy="310896"/>
          </a:xfrm>
          <a:prstGeom prst="roundRect">
            <a:avLst/>
          </a:prstGeom>
          <a:solidFill>
            <a:srgbClr val="036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THESIS INTACT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1965960"/>
            <a:ext cx="182880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WEAKENING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965960"/>
            <a:ext cx="1920240" cy="310896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INVALIDATED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1965960"/>
            <a:ext cx="228600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PROTECTED FULL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14600"/>
            <a:ext cx="5486400" cy="338328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E2E8F0"/>
                </a:solidFill>
              </a:defRPr>
            </a:pPr>
            <a:r>
              <a:t>Symbol Metrics (Live)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Open R:  +1.2R  (reward vs risk from entry)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Expected Move Reached:  84%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Distance to Stop Loss:  1.6%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Distance to Take Profit:  0.8%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Vol Regime:  Normal → Elevated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Protection Status:  PROTECTED_PARTIAL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Price chart with TP/SL bands overlaid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Real-time quote updates from IBKR feed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14600"/>
            <a:ext cx="73152" cy="33832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514600"/>
            <a:ext cx="5349240" cy="338328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E2E8F0"/>
                </a:solidFill>
              </a:defRPr>
            </a:pPr>
            <a:r>
              <a:t>Committee Commentary (Live)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Stance:  WATCH_CLOSELY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Confidence:  MEDIUM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Reason Tags: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  momentum_fade, near_tp, news_uncertainty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Suggested Actions: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  Tighten stop, monitor revalidation window</a:t>
            </a:r>
          </a:p>
          <a:p>
            <a:pPr>
              <a:spcBef>
                <a:spcPts val="300"/>
              </a:spcBef>
              <a:defRPr sz="1200">
                <a:solidFill>
                  <a:srgbClr val="CBD5E1"/>
                </a:solidFill>
              </a:defRPr>
            </a:pPr>
            <a:r>
              <a:t>    Consider partial exit if thesis weakens further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514600"/>
            <a:ext cx="73152" cy="33832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142032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📡  Like a mission control dashboard: every satellite (position) has live telemetry and a flight director's commentary.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Symbol monitoring + real-time committee commentary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Performance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Portfolio-level truth — return, risk, consistency, and the story behind the numbers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6517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E7D32"/>
                </a:solidFill>
              </a:defRPr>
            </a:pPr>
            <a:r>
              <a:t>+12.4%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Total Return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65960"/>
            <a:ext cx="26517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C62828"/>
                </a:solidFill>
              </a:defRPr>
            </a:pPr>
            <a:r>
              <a:t>-4.1%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Max Drawdown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65960"/>
            <a:ext cx="26517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3069F0"/>
                </a:solidFill>
              </a:defRPr>
            </a:pPr>
            <a:r>
              <a:t>1.82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Sharpe Ratio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6840" y="1965960"/>
            <a:ext cx="256032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6A1B9A"/>
                </a:solidFill>
              </a:defRPr>
            </a:pPr>
            <a:r>
              <a:t>67%</a:t>
            </a:r>
          </a:p>
          <a:p>
            <a:pPr algn="ctr">
              <a:spcBef>
                <a:spcPts val="200"/>
              </a:spcBef>
              <a:defRPr sz="1100">
                <a:solidFill>
                  <a:srgbClr val="5F6B7A"/>
                </a:solidFill>
              </a:defRPr>
            </a:pPr>
            <a:r>
              <a:t>Win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83280"/>
            <a:ext cx="36576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Core Metrics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Total equity and return %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Max drawdown and recovery time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Sharpe ratio for risk-adjusted returns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Win rate and expectancy per trade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Monthly cost trend 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73152" cy="2560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3383280"/>
            <a:ext cx="36576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Visual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Equity curve with drawdown bands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Decision quality trend (expectancy over time)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Selectivity trend — how filters evolve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Decision funnel: signals &gt; proposals &gt; trades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Parallel Worlds counterfactual comparison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3383280"/>
            <a:ext cx="73152" cy="256032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3383280"/>
            <a:ext cx="333756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Drill-Down Paths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Period filters for focused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Compare return vs drawdown across portfolios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Trace root cause in Training + Decisions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Target realism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Cost attribution breakdown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3383280"/>
            <a:ext cx="73152" cy="2560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📊  Like a financial annual report — but updated daily, with drill-through to every decision that shaped the bottom 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Pipeline Runs &amp; Audit Trail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Operational truth — what ran, when, how long, and what went wrong (if anything)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37160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SUCCESS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1965960"/>
            <a:ext cx="2103120" cy="310896"/>
          </a:xfrm>
          <a:prstGeom prst="round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SUCCESS + SKIPS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965960"/>
            <a:ext cx="1188720" cy="310896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FAILED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1965960"/>
            <a:ext cx="137160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RUNNING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14600"/>
            <a:ext cx="54864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Daily Pipeline Sequence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Ingest market data → Generate signals → Evaluate patterns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Run portfolio simulation → Propose trades → Execute approved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Generate briefs + digest → Run parallel worlds analysis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Scheduled: 5 PM ET, Monday through Friday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14600"/>
            <a:ext cx="73152" cy="192024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51460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Run Detail Panel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Summary cards: status, duration, as-of date, portfolio count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Step-by-step timeline with individual durations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Error panel: SQLSTATE, query IDs, error messages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AI-generated run summary accelerates triage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514600"/>
            <a:ext cx="73152" cy="19202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663440"/>
            <a:ext cx="108813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Audit Log Architecture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MIP_AUDIT_LOG captures every event: stored procedure name, status, duration, error details, and portfolio context.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Immutable audit trail — entries are append-only. Failed runs preserve full diagnostics for root cause analysis.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AI summary explains what happened in plain language — but step-level detail is always available for verification.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3440"/>
            <a:ext cx="73152" cy="12801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✈️  Like an aircraft's black box recorder: every system event is logged, so investigations start with facts, not guesses.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Ask MIP — Your Intelligent Platform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Route-aware, docs-grounded AI assistant — always one click away on every page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User Question</a:t>
            </a:r>
          </a:p>
        </p:txBody>
      </p:sp>
      <p:sp>
        <p:nvSpPr>
          <p:cNvPr id="8" name="Chevron 7"/>
          <p:cNvSpPr/>
          <p:nvPr/>
        </p:nvSpPr>
        <p:spPr>
          <a:xfrm>
            <a:off x="2011680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67712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Route Context</a:t>
            </a:r>
          </a:p>
        </p:txBody>
      </p:sp>
      <p:sp>
        <p:nvSpPr>
          <p:cNvPr id="10" name="Chevron 9"/>
          <p:cNvSpPr/>
          <p:nvPr/>
        </p:nvSpPr>
        <p:spPr>
          <a:xfrm>
            <a:off x="3913631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69664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Doc Retrieval</a:t>
            </a:r>
          </a:p>
        </p:txBody>
      </p:sp>
      <p:sp>
        <p:nvSpPr>
          <p:cNvPr id="12" name="Chevron 11"/>
          <p:cNvSpPr/>
          <p:nvPr/>
        </p:nvSpPr>
        <p:spPr>
          <a:xfrm>
            <a:off x="5815584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71616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Glossary Match</a:t>
            </a:r>
          </a:p>
        </p:txBody>
      </p:sp>
      <p:sp>
        <p:nvSpPr>
          <p:cNvPr id="14" name="Chevron 13"/>
          <p:cNvSpPr/>
          <p:nvPr/>
        </p:nvSpPr>
        <p:spPr>
          <a:xfrm>
            <a:off x="7717536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73568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Cortex LLM</a:t>
            </a:r>
          </a:p>
        </p:txBody>
      </p:sp>
      <p:sp>
        <p:nvSpPr>
          <p:cNvPr id="16" name="Chevron 15"/>
          <p:cNvSpPr/>
          <p:nvPr/>
        </p:nvSpPr>
        <p:spPr>
          <a:xfrm>
            <a:off x="9619488" y="2103120"/>
            <a:ext cx="164592" cy="411480"/>
          </a:xfrm>
          <a:prstGeom prst="chevron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0" y="1920240"/>
            <a:ext cx="1627632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FD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334155"/>
                </a:solidFill>
              </a:defRPr>
            </a:pPr>
            <a:r>
              <a:t>Answer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971800"/>
            <a:ext cx="356616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How It Works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Floating button on every page (❓ FAB)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Panel slides open from the right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User types a question in natural language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System detects current route + page context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Retrieves relevant docs + glossary matches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Calls Snowflake Cortex (Claude 3.5 Sonnet)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Returns structured answer with provenance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71800"/>
            <a:ext cx="73152" cy="292608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43400" y="2971800"/>
            <a:ext cx="365760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Route-Aware Intelligence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Knows which page you're viewing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Injects page-specific guide content as context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Frames answers relative to visible UI elements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24 route-to-guide mappings for precise context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Score boosting for current-page documentation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Page hint block in system prompt (first 1200 chars)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General finance knowledge when MIP docs don't cover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971800"/>
            <a:ext cx="73152" cy="29260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38160" y="2971800"/>
            <a:ext cx="342900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Quality &amp; Trust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Provenance badges: DOC, GLOSSARY, INFERENCE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Confidence scoring (docs 50%, glossary 35%)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"Did you mean" suggestions when unsure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Unknown terms logged for glossary review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Telemetry: every query tracked for coverage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Never invents live values or thresholds</a:t>
            </a:r>
          </a:p>
          <a:p>
            <a:pPr>
              <a:spcBef>
                <a:spcPts val="400"/>
              </a:spcBef>
              <a:defRPr sz="1200">
                <a:solidFill>
                  <a:srgbClr val="1F2937"/>
                </a:solidFill>
              </a:defRPr>
            </a:pPr>
            <a:r>
              <a:t>  90-second timeout, last 10 messages as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2971800"/>
            <a:ext cx="73152" cy="2926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5989320"/>
            <a:ext cx="2103120" cy="310896"/>
          </a:xfrm>
          <a:prstGeom prst="round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CLAUDE 3.5 SONNET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5989320"/>
            <a:ext cx="2286000" cy="310896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24 GUIDE FILES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12080" y="5989320"/>
            <a:ext cx="2103120" cy="310896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GLOSSARY TABLE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5989320"/>
            <a:ext cx="2011680" cy="310896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TELEMETRY LOG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09760" y="5989320"/>
            <a:ext cx="2011680" cy="310896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FALLBACK 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🧭  Like a knowledgeable colleague sitting next to you: they know the platform, see your screen, and answer questions grounded in facts — not guesses.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Purpose-built on modern, production-grade technologies — Snowflake-native with thin presentation layers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974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Database &amp; AI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Snowflake  —  Data warehouse, compute, and orchestration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Snowflake Cortex  —  Native LLM inference (Claude, Mistral)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Stored Procedures  —  60+ business logic procedures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Scheduled Tasks  —  Daily, hourly, and intraday pipelines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External Access  —  Network rules for market data APIs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402336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26974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Backend API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Python 3.12  —  Runtime for API and scripts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FastAPI  —  High-performance async REST framework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Uvicorn  —  ASGI server for production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snowflake-connector-python  —  Native DB driver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ib-insync  —  Interactive Brokers integration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920240"/>
            <a:ext cx="73152" cy="40233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26974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Frontend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React 18  —  Component-based UI framework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Vite 5  —  Lightning-fast build and dev server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Plotly.js + Recharts  —  Interactive financial charts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React Router 6  —  Client-side navigation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react-markdown  —  AI narrative rendering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920240"/>
            <a:ext cx="73152" cy="40233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06840" y="1920240"/>
            <a:ext cx="26974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334155"/>
                </a:solidFill>
              </a:defRPr>
            </a:pPr>
            <a:r>
              <a:t>Integrations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Interactive Brokers  —  Live + paper trading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AlphaVantage  —  Historical OHLCV market data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RSS Feeds  —  SEC, Fed, ECB, MarketWatch, IBKR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GitHub Actions  —  CI/CD pipeline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  Cursor (Claude)  —  AI-assisted development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1920240"/>
            <a:ext cx="73152" cy="4023360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6035040"/>
            <a:ext cx="10881360" cy="457200"/>
          </a:xfrm>
          <a:prstGeom prst="roundRect">
            <a:avLst/>
          </a:prstGeom>
          <a:solidFill>
            <a:srgbClr val="F0F3FA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i="1">
                <a:solidFill>
                  <a:srgbClr val="334155"/>
                </a:solidFill>
              </a:defRPr>
            </a:pPr>
            <a:r>
              <a:t>🧱  Like a well-designed building: Snowflake is the foundation, Python is the plumbing, React is the facade, and IBKR is the power grid.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Market Intelligence Platform  |  Evidence  &gt;  Decision  &gt;  Execution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Platform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Four-layer Snowflake-native architecture — data, logic, and pipelines live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1088136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PRESENTATION LAYER    React 18 + Vite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15 feature pages  |  Plotly.js charts  |  Real-time updates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Responsive layout  |  Dark/light theming  |  AI narrative rendering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9144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1088136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API LAYER    FastAPI + Python 3.12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25+ REST routers  |  Snowflake connector  |  CORS middleware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IBKR bridge scripts  |  Keypair auth  |  JSON responses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91440" cy="9601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4069080"/>
            <a:ext cx="1088136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LOGIC LAYER    Snowflake Stored Procedures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60+ procedures: ingest, signals, training, simulation, proposals, execution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Cortex AI: committee verdicts, digests, narratives  |  Parallel worlds engine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69080"/>
            <a:ext cx="91440" cy="96012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166360"/>
            <a:ext cx="1088136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DATA LAYER    Snowflake Tables + Views + Tasks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APP schema: 40+ tables  |  MART schema: analytical views  |  AGENT_OUT: AI output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Scheduled tasks: daily 5PM, intraday 15-min, hourly monitors  |  Audit 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166360"/>
            <a:ext cx="91440" cy="9601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wn Arrow 14"/>
          <p:cNvSpPr/>
          <p:nvPr/>
        </p:nvSpPr>
        <p:spPr>
          <a:xfrm>
            <a:off x="5852160" y="2852928"/>
            <a:ext cx="457200" cy="109728"/>
          </a:xfrm>
          <a:prstGeom prst="downArrow">
            <a:avLst/>
          </a:prstGeom>
          <a:solidFill>
            <a:srgbClr val="50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852160" y="3950208"/>
            <a:ext cx="457200" cy="109728"/>
          </a:xfrm>
          <a:prstGeom prst="downArrow">
            <a:avLst/>
          </a:prstGeom>
          <a:solidFill>
            <a:srgbClr val="50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5852160" y="5047488"/>
            <a:ext cx="457200" cy="109728"/>
          </a:xfrm>
          <a:prstGeom prst="downArrow">
            <a:avLst/>
          </a:prstGeom>
          <a:solidFill>
            <a:srgbClr val="506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0" y="1874519"/>
            <a:ext cx="3749039" cy="2743200"/>
          </a:xfrm>
          <a:prstGeom prst="roundRect">
            <a:avLst/>
          </a:prstGeom>
          <a:solidFill>
            <a:srgbClr val="141C30"/>
          </a:solidFill>
          <a:ln>
            <a:solidFill>
              <a:srgbClr val="92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925F00"/>
                </a:solidFill>
              </a:defRPr>
            </a:pPr>
            <a:r>
              <a:t>EXTERNAL SYSTEMS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Interactive Brokers (IBKR)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  Paper + Live trading accounts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  Order placement + snapshots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AlphaVantage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  Historical OHLCV bars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RSS News Feeds</a:t>
            </a:r>
          </a:p>
          <a:p>
            <a:pPr>
              <a:spcBef>
                <a:spcPts val="100"/>
              </a:spcBef>
              <a:defRPr sz="1000">
                <a:solidFill>
                  <a:srgbClr val="B4C3D7"/>
                </a:solidFill>
              </a:defRPr>
            </a:pPr>
            <a:r>
              <a:t>    SEC, Fed, ECB, MarketWatch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Snowflake-native architecture  |  All logic lives in the warehouse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"/>
            <a:ext cx="12191695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875520" y="128016"/>
            <a:ext cx="2103120" cy="384048"/>
          </a:xfrm>
          <a:prstGeom prst="roundRect">
            <a:avLst/>
          </a:prstGeom>
          <a:solidFill>
            <a:srgbClr val="24304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1E9F6"/>
                </a:solidFill>
              </a:defRPr>
            </a:pPr>
            <a: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172A"/>
                </a:solidFill>
              </a:defRPr>
            </a:pPr>
            <a:r>
              <a:t>AI Architecture — Snowflake Cortex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F6B7A"/>
                </a:solidFill>
              </a:defRPr>
            </a:pPr>
            <a:r>
              <a:t>8 AI touchpoints across the platform — every call has a deterministic fallback, every output is auditable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834640"/>
            <a:ext cx="3017520" cy="1097280"/>
          </a:xfrm>
          <a:prstGeom prst="round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❄️  SNOWFLAKE CORTEX</a:t>
            </a:r>
          </a:p>
          <a:p>
            <a:pPr algn="ctr">
              <a:spcBef>
                <a:spcPts val="200"/>
              </a:spcBef>
              <a:defRPr sz="1100">
                <a:solidFill>
                  <a:srgbClr val="C8DCFF"/>
                </a:solidFill>
              </a:defRPr>
            </a:pPr>
            <a:r>
              <a:t>LLM inference layer</a:t>
            </a:r>
          </a:p>
          <a:p>
            <a:pPr algn="ctr">
              <a:spcBef>
                <a:spcPts val="200"/>
              </a:spcBef>
              <a:defRPr sz="900">
                <a:solidFill>
                  <a:srgbClr val="AAC3F0"/>
                </a:solidFill>
              </a:defRPr>
            </a:pPr>
            <a:r>
              <a:t>Claude 3.5 Sonnet  |  Mistral Large 2  |  Llama 3.1 70B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3069F0"/>
                </a:solidFill>
              </a:defRPr>
            </a:pPr>
            <a:r>
              <a:t>  Daily Digest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mistral-large2  •  Portfolio + global narrative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73152" cy="658368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4443983" y="2066543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2596896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00796B"/>
                </a:solidFill>
              </a:defRPr>
            </a:pPr>
            <a:r>
              <a:t>  Training Digest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mistral-large2  •  Maturity journey per symbol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96896"/>
            <a:ext cx="73152" cy="65836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443983" y="2834639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3364991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2E7D32"/>
                </a:solidFill>
              </a:defRPr>
            </a:pPr>
            <a:r>
              <a:t>  Committee Verdict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claude-3.5-sonnet  •  Per-proposal trade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64991"/>
            <a:ext cx="7315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4443983" y="3602736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4133087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6A1B9A"/>
                </a:solidFill>
              </a:defRPr>
            </a:pPr>
            <a:r>
              <a:t>  Parallel Worlds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mistral-large2  •  Counterfactual 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33087"/>
            <a:ext cx="73152" cy="65836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4443983" y="4370832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0" y="1828800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C62828"/>
                </a:solidFill>
              </a:defRPr>
            </a:pPr>
            <a:r>
              <a:t>  News Extraction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llama-3.1-70b  •  Structured event parsing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31168" y="1828800"/>
            <a:ext cx="73152" cy="65836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 rot="10800000">
            <a:off x="7214616" y="2066543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0" y="2596896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925F00"/>
                </a:solidFill>
              </a:defRPr>
            </a:pPr>
            <a:r>
              <a:t>  Portfolio Lifecycle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mistral-large2  •  Creation-to-today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631168" y="2596896"/>
            <a:ext cx="73152" cy="658368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 rot="10800000">
            <a:off x="7214616" y="2834639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72400" y="3364991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3949AB"/>
                </a:solidFill>
              </a:defRPr>
            </a:pPr>
            <a:r>
              <a:t>  Ask MIP (v2)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claude-3.5-sonnet  •  Route-aware user assistant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631168" y="3364991"/>
            <a:ext cx="73152" cy="658368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 rot="10800000">
            <a:off x="7214616" y="3602736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0" y="4133087"/>
            <a:ext cx="393192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43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718096"/>
                </a:solidFill>
              </a:defRPr>
            </a:pPr>
            <a:r>
              <a:t>  Ask MIP (v1)</a:t>
            </a:r>
          </a:p>
          <a:p>
            <a:pPr>
              <a:spcBef>
                <a:spcPts val="100"/>
              </a:spcBef>
              <a:defRPr sz="900">
                <a:solidFill>
                  <a:srgbClr val="B4C3D7"/>
                </a:solidFill>
              </a:defRPr>
            </a:pPr>
            <a:r>
              <a:t>    claude-3.5-sonnet  •  Guide-grounded Q&amp;A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631168" y="4133087"/>
            <a:ext cx="73152" cy="658368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ight Arrow 30"/>
          <p:cNvSpPr/>
          <p:nvPr/>
        </p:nvSpPr>
        <p:spPr>
          <a:xfrm rot="10800000">
            <a:off x="7214616" y="4370832"/>
            <a:ext cx="502920" cy="182880"/>
          </a:xfrm>
          <a:prstGeom prst="rightArrow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0292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8291AA"/>
                </a:solidFill>
              </a:defRPr>
            </a:pPr>
            <a:r>
              <a:t>SQL STORED PROCEDURES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50292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8291AA"/>
                </a:solidFill>
              </a:defRPr>
            </a:pPr>
            <a:r>
              <a:t>PYTHON API  +  SQL PROCEDURES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394960"/>
            <a:ext cx="11247120" cy="640080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300" b="1">
                <a:solidFill>
                  <a:srgbClr val="925F00"/>
                </a:solidFill>
              </a:defRPr>
            </a:pPr>
            <a:r>
              <a:t>SAFETY NET  —  Every AI call has a deterministic fallback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    If Cortex fails or times out: digests generate bullet-point summaries from snapshots, committee falls back to deterministic approval, news uses heuristic extraction, and Ask MIP returns a service error.  No AI failure can halt the trading pipeline.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11480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2E7D32"/>
                </a:solidFill>
              </a:defRPr>
            </a:pPr>
            <a:r>
              <a:t>Output → AGENT_OUT schema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5852160" y="3977639"/>
            <a:ext cx="457200" cy="164592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0" y="43891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8291AA"/>
                </a:solidFill>
              </a:defRPr>
            </a:pPr>
            <a:r>
              <a:t>DAILY_DIGEST_NARRATIVE  •  TRAINING_DIGEST_NARRATIVE  •  PORTFOLIO_LIFECYCLE_NARRATIVE  •  PARALLEL_WORLD_NARRATIVE  •  ORDER_PROPOSALS  •  NEWS_EVENT_EXTRACTED  •  ASK_QUERY_EVENT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601968"/>
            <a:ext cx="91440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E7B8D"/>
                </a:solidFill>
              </a:defRPr>
            </a:pPr>
            <a:r>
              <a:t>MIP  |  8 AI touchpoints  |  3 models  |  Full deterministic fallback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How MIP Was Built — The AI-Orchestrated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36576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Development Timeline — 6 months, zero lines of code typed by a human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09928"/>
            <a:ext cx="10881360" cy="54864"/>
          </a:xfrm>
          <a:prstGeom prst="rect">
            <a:avLst/>
          </a:prstGeom>
          <a:solidFill>
            <a:srgbClr val="28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618488"/>
            <a:ext cx="237744" cy="237744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069F0"/>
                </a:solidFill>
              </a:defRPr>
            </a:pPr>
            <a:r>
              <a:t>Oct – Dec 2025</a:t>
            </a:r>
          </a:p>
        </p:txBody>
      </p:sp>
      <p:sp>
        <p:nvSpPr>
          <p:cNvPr id="9" name="Oval 8"/>
          <p:cNvSpPr/>
          <p:nvPr/>
        </p:nvSpPr>
        <p:spPr>
          <a:xfrm>
            <a:off x="4572000" y="1618488"/>
            <a:ext cx="237744" cy="237744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37160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069F0"/>
                </a:solidFill>
              </a:defRPr>
            </a:pPr>
            <a:r>
              <a:t>Jan 2026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1618488"/>
            <a:ext cx="237744" cy="237744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37160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069F0"/>
                </a:solidFill>
              </a:defRPr>
            </a:pPr>
            <a:r>
              <a:t>Feb 2026</a:t>
            </a:r>
          </a:p>
        </p:txBody>
      </p:sp>
      <p:sp>
        <p:nvSpPr>
          <p:cNvPr id="13" name="Oval 12"/>
          <p:cNvSpPr/>
          <p:nvPr/>
        </p:nvSpPr>
        <p:spPr>
          <a:xfrm>
            <a:off x="10149840" y="1618488"/>
            <a:ext cx="237744" cy="237744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0" y="137160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069F0"/>
                </a:solidFill>
              </a:defRPr>
            </a:pPr>
            <a:r>
              <a:t>Mar 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1965960"/>
            <a:ext cx="2606040" cy="1417320"/>
          </a:xfrm>
          <a:prstGeom prst="roundRect">
            <a:avLst/>
          </a:prstGeom>
          <a:solidFill>
            <a:srgbClr val="142037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3069F0"/>
                </a:solidFill>
              </a:defRPr>
            </a:pPr>
            <a:r>
              <a:t>ChatGPT + Codex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ChatGPT as investment SME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&amp; solution architect.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OpenAI Codex as developer.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Core pipeline built.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1965960"/>
            <a:ext cx="2606040" cy="54864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7560" y="1965960"/>
            <a:ext cx="2606040" cy="1417320"/>
          </a:xfrm>
          <a:prstGeom prst="roundRect">
            <a:avLst/>
          </a:prstGeom>
          <a:solidFill>
            <a:srgbClr val="142037"/>
          </a:solidFill>
          <a:ln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6A1B9A"/>
                </a:solidFill>
              </a:defRPr>
            </a:pPr>
            <a:r>
              <a:t>Transition to Cursor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Switched to Cursor (Claude)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for development &amp; implementation.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ChatGPT for requirements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&amp; idea validation.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1965960"/>
            <a:ext cx="2606040" cy="54864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35040" y="1965960"/>
            <a:ext cx="2606040" cy="1417320"/>
          </a:xfrm>
          <a:prstGeom prst="roundRect">
            <a:avLst/>
          </a:prstGeom>
          <a:solidFill>
            <a:srgbClr val="142037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t>Full Cursor Autonomy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Cursor deploys direct to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Snowflake. Testing, debugging,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data repairs — all autonomous.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Human reviews, never types.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965960"/>
            <a:ext cx="260604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32520" y="1965960"/>
            <a:ext cx="2606040" cy="1417320"/>
          </a:xfrm>
          <a:prstGeom prst="roundRect">
            <a:avLst/>
          </a:prstGeom>
          <a:solidFill>
            <a:srgbClr val="142037"/>
          </a:solidFill>
          <a:ln>
            <a:solidFill>
              <a:srgbClr val="92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925F00"/>
                </a:solidFill>
              </a:defRPr>
            </a:pPr>
            <a:r>
              <a:t>Platform Maturity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IBKR live broker integration.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Cortex AI committee + narratives.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Parallel worlds + news intelligence.</a:t>
            </a:r>
          </a:p>
          <a:p>
            <a:pPr>
              <a:spcBef>
                <a:spcPts val="200"/>
              </a:spcBef>
              <a:defRPr sz="1000">
                <a:solidFill>
                  <a:srgbClr val="B4C3D7"/>
                </a:solidFill>
              </a:defRPr>
            </a:pPr>
            <a:r>
              <a:t>146K lines. Production-ready.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965960"/>
            <a:ext cx="2606040" cy="54864"/>
          </a:xfrm>
          <a:prstGeom prst="rect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6576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Kenneth's Role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023360"/>
            <a:ext cx="1828800" cy="1280160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925F00"/>
                </a:solidFill>
              </a:defRPr>
            </a:pPr>
            <a:r>
              <a:t>⭐  Visionary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Conceived the mission.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Defined what MIP should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become.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39" y="4023360"/>
            <a:ext cx="1828800" cy="1280160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3069F0"/>
                </a:solidFill>
              </a:defRPr>
            </a:pPr>
            <a:r>
              <a:t>⚙️  Orchestrator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Directed the AI agents.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Reviewed output, steered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direction.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4023360"/>
            <a:ext cx="1828800" cy="1280160"/>
          </a:xfrm>
          <a:prstGeom prst="roundRect">
            <a:avLst/>
          </a:prstGeom>
          <a:solidFill>
            <a:srgbClr val="142037"/>
          </a:solidFill>
          <a:ln>
            <a:solidFill>
              <a:srgbClr val="283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2E7D32"/>
                </a:solidFill>
              </a:defRPr>
            </a:pPr>
            <a:r>
              <a:t>☑️  Product Owner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Prioritised features.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Defined acceptance criteria.</a:t>
            </a:r>
          </a:p>
          <a:p>
            <a:pPr>
              <a:spcBef>
                <a:spcPts val="100"/>
              </a:spcBef>
              <a:defRPr sz="900">
                <a:solidFill>
                  <a:srgbClr val="A0AFC3"/>
                </a:solidFill>
              </a:defRPr>
            </a:pPr>
            <a:r>
              <a:t>Quality gatekeeper.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576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The Numbers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041648"/>
            <a:ext cx="5120640" cy="237744"/>
          </a:xfrm>
          <a:prstGeom prst="rect">
            <a:avLst/>
          </a:prstGeom>
          <a:solidFill>
            <a:srgbClr val="1E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041648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B4C3D7"/>
                </a:solidFill>
              </a:defRPr>
            </a:pPr>
            <a:r>
              <a:t>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4041648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B4C3D7"/>
                </a:solidFill>
              </a:defRPr>
            </a:pPr>
            <a:r>
              <a:t>Files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4041648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B4C3D7"/>
                </a:solidFill>
              </a:defRPr>
            </a:pPr>
            <a:r>
              <a:t>Lines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404164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B4C3D7"/>
                </a:solidFill>
              </a:defRPr>
            </a:pPr>
            <a:r>
              <a:t>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279392"/>
            <a:ext cx="5120640" cy="237744"/>
          </a:xfrm>
          <a:prstGeom prst="rect">
            <a:avLst/>
          </a:prstGeom>
          <a:solidFill>
            <a:srgbClr val="14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46520" y="4343400"/>
            <a:ext cx="109728" cy="109728"/>
          </a:xfrm>
          <a:prstGeom prst="ellipse">
            <a:avLst/>
          </a:prstGeom>
          <a:solidFill>
            <a:srgbClr val="925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1968" y="4279392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SQL (Snowflake)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4279392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340 files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4279392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47,500 lines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4279392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40%</a:t>
            </a:r>
          </a:p>
        </p:txBody>
      </p:sp>
      <p:sp>
        <p:nvSpPr>
          <p:cNvPr id="39" name="Oval 38"/>
          <p:cNvSpPr/>
          <p:nvPr/>
        </p:nvSpPr>
        <p:spPr>
          <a:xfrm>
            <a:off x="6446520" y="4581144"/>
            <a:ext cx="109728" cy="109728"/>
          </a:xfrm>
          <a:prstGeom prst="ellipse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01968" y="4517136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React (JSX/JS/CSS)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4517136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100 files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2640" y="4517136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31,500 lines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4517136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27%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754880"/>
            <a:ext cx="5120640" cy="237744"/>
          </a:xfrm>
          <a:prstGeom prst="rect">
            <a:avLst/>
          </a:prstGeom>
          <a:solidFill>
            <a:srgbClr val="14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46520" y="4818888"/>
            <a:ext cx="109728" cy="109728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01968" y="4754880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Python (FastAPI)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4754880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51 files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4754880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23,100 lines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81360" y="4754880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20%</a:t>
            </a:r>
          </a:p>
        </p:txBody>
      </p:sp>
      <p:sp>
        <p:nvSpPr>
          <p:cNvPr id="50" name="Oval 49"/>
          <p:cNvSpPr/>
          <p:nvPr/>
        </p:nvSpPr>
        <p:spPr>
          <a:xfrm>
            <a:off x="6446520" y="5056632"/>
            <a:ext cx="109728" cy="109728"/>
          </a:xfrm>
          <a:prstGeom prst="ellipse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01968" y="4992624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Python (Scripts)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4992624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23 files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2640" y="4992624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10,300 lines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0" y="4992624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9%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5230368"/>
            <a:ext cx="5120640" cy="237744"/>
          </a:xfrm>
          <a:prstGeom prst="rect">
            <a:avLst/>
          </a:prstGeom>
          <a:solidFill>
            <a:srgbClr val="14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446520" y="5294376"/>
            <a:ext cx="109728" cy="109728"/>
          </a:xfrm>
          <a:prstGeom prst="ellipse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01968" y="5230368"/>
            <a:ext cx="2286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Documentation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78240" y="5230368"/>
            <a:ext cx="914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80 files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5230368"/>
            <a:ext cx="11887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5,300 lines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81360" y="5230368"/>
            <a:ext cx="640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2DCEB"/>
                </a:solidFill>
              </a:defRPr>
            </a:pPr>
            <a:r>
              <a:t>4%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5468112"/>
            <a:ext cx="5120640" cy="256032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5468112"/>
            <a:ext cx="2286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5468112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594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2640" y="546811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117,700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81360" y="5468112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100%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0080" y="5760720"/>
            <a:ext cx="10881360" cy="868680"/>
          </a:xfrm>
          <a:prstGeom prst="roundRect">
            <a:avLst/>
          </a:prstGeom>
          <a:solidFill>
            <a:srgbClr val="142341"/>
          </a:solidFill>
          <a:ln>
            <a:solidFill>
              <a:srgbClr val="306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4400" y="5833872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DCE6F5"/>
                </a:solidFill>
              </a:defRPr>
            </a:pPr>
            <a:r>
              <a:t>“Kenneth never wrote a line of code, AI did.  AI never made a product decision, Kenneth did.</a:t>
            </a:r>
          </a:p>
          <a:p>
            <a:pPr>
              <a:defRPr sz="1400" i="1">
                <a:solidFill>
                  <a:srgbClr val="DCE6F5"/>
                </a:solidFill>
              </a:defRPr>
            </a:pPr>
            <a:r>
              <a:t>Each played to their strengths.  117,700 lines.  594 files.  6 months.  One human involved.”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137160" cy="5029200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1F5F9"/>
                </a:solidFill>
              </a:defRPr>
            </a:pPr>
            <a:r>
              <a:t>MIP: Intelligence Meets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The platform where every trade is born from evidence, governed by committee, and remembered for the future.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017520"/>
            <a:ext cx="3657600" cy="36576"/>
          </a:xfrm>
          <a:prstGeom prst="rect">
            <a:avLst/>
          </a:prstGeom>
          <a:solidFill>
            <a:srgbClr val="306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2918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🔬  Research  —  Pattern detection, training maturity, news intelligence, parallel worlds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⚖️  Decisions  —  AI committee verdicts, reason codes, structured gates, full transparency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4805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💹  Execution  —  Live IBKR link, position lifecycle, risk brakes, real-time sync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0749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📚  Learning  —  Causal ledger, outcome tracking, policy feedback, continuous improvement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6692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069F0"/>
                </a:solidFill>
              </a:defRPr>
            </a:pPr>
            <a:r>
              <a:t>Ready to see it live?  Let's walk through the platform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