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92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neth Jebjerg" userId="31b26a954995a5e4" providerId="LiveId" clId="{FB9E2242-EB45-4C40-9CD8-7B1EDA37FE0A}"/>
    <pc:docChg chg="custSel modSld">
      <pc:chgData name="Kenneth Jebjerg" userId="31b26a954995a5e4" providerId="LiveId" clId="{FB9E2242-EB45-4C40-9CD8-7B1EDA37FE0A}" dt="2026-03-20T06:41:35.754" v="25" actId="12"/>
      <pc:docMkLst>
        <pc:docMk/>
      </pc:docMkLst>
      <pc:sldChg chg="delSp modSp mod">
        <pc:chgData name="Kenneth Jebjerg" userId="31b26a954995a5e4" providerId="LiveId" clId="{FB9E2242-EB45-4C40-9CD8-7B1EDA37FE0A}" dt="2026-03-20T06:41:35.754" v="25" actId="12"/>
        <pc:sldMkLst>
          <pc:docMk/>
          <pc:sldMk cId="0" sldId="256"/>
        </pc:sldMkLst>
        <pc:spChg chg="del">
          <ac:chgData name="Kenneth Jebjerg" userId="31b26a954995a5e4" providerId="LiveId" clId="{FB9E2242-EB45-4C40-9CD8-7B1EDA37FE0A}" dt="2026-03-20T06:38:46.868" v="0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6:41:35.754" v="25" actId="12"/>
          <ac:spMkLst>
            <pc:docMk/>
            <pc:sldMk cId="0" sldId="256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37160" cy="47548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Market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4A3B8"/>
                </a:solidFill>
              </a:defRPr>
            </a:pPr>
            <a:r>
              <a:t>Where Market Research Meets Intelligent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834640"/>
            <a:ext cx="2743200" cy="36576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MIP is a Snowflake-native platform that fuses AI-driven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market research with live broker-linked trading.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Every trade is backed by evidence. Every decision is auditable.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Every outcome feeds the next cycle of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577840"/>
            <a:ext cx="173736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577840"/>
            <a:ext cx="1737360" cy="31089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5577840"/>
            <a:ext cx="173736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5577840"/>
            <a:ext cx="1737360" cy="310896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657600" cy="3734656"/>
          </a:xfrm>
          <a:prstGeom prst="roundRect">
            <a:avLst/>
          </a:prstGeom>
          <a:solidFill>
            <a:srgbClr val="142037"/>
          </a:solidFill>
          <a:ln>
            <a:solidFill>
              <a:srgbClr val="2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E2E8F0"/>
                </a:solidFill>
              </a:defRPr>
            </a:pPr>
            <a:r>
              <a:rPr dirty="0"/>
              <a:t>Platform Highlights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AI committee reviews every trade proposal</a:t>
            </a:r>
            <a:endParaRPr lang="de-DE" dirty="0"/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Pattern-based signal detection across FX +</a:t>
            </a:r>
            <a:r>
              <a:rPr lang="de-DE" dirty="0"/>
              <a:t> </a:t>
            </a:r>
            <a:r>
              <a:rPr dirty="0"/>
              <a:t>equities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 Parallel worlds test policy quality before risk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Live IBKR link with real-time position sync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News intelligence with bounded influence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Full audit trail from signal to settlement</a:t>
            </a:r>
          </a:p>
          <a:p>
            <a:pPr marL="171450" indent="-171450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lang="de-DE" dirty="0"/>
              <a:t>L</a:t>
            </a:r>
            <a:r>
              <a:rPr dirty="0"/>
              <a:t>earning ledger closes the feedback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What Is MIP?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An evidence-first market intelligence engine — not a prediction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1664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Market Data</a:t>
            </a:r>
          </a:p>
        </p:txBody>
      </p:sp>
      <p:sp>
        <p:nvSpPr>
          <p:cNvPr id="8" name="Chevron 7"/>
          <p:cNvSpPr/>
          <p:nvPr/>
        </p:nvSpPr>
        <p:spPr>
          <a:xfrm>
            <a:off x="2139696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50008" y="1965960"/>
            <a:ext cx="1664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Signals</a:t>
            </a:r>
          </a:p>
        </p:txBody>
      </p:sp>
      <p:sp>
        <p:nvSpPr>
          <p:cNvPr id="10" name="Chevron 9"/>
          <p:cNvSpPr/>
          <p:nvPr/>
        </p:nvSpPr>
        <p:spPr>
          <a:xfrm>
            <a:off x="4032504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42816" y="1965960"/>
            <a:ext cx="1664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Training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5312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35624" y="1965960"/>
            <a:ext cx="1664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Proposals</a:t>
            </a:r>
          </a:p>
        </p:txBody>
      </p:sp>
      <p:sp>
        <p:nvSpPr>
          <p:cNvPr id="14" name="Chevron 13"/>
          <p:cNvSpPr/>
          <p:nvPr/>
        </p:nvSpPr>
        <p:spPr>
          <a:xfrm>
            <a:off x="7818120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28432" y="1965960"/>
            <a:ext cx="1664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Committee</a:t>
            </a:r>
          </a:p>
        </p:txBody>
      </p:sp>
      <p:sp>
        <p:nvSpPr>
          <p:cNvPr id="16" name="Chevron 15"/>
          <p:cNvSpPr/>
          <p:nvPr/>
        </p:nvSpPr>
        <p:spPr>
          <a:xfrm>
            <a:off x="9710928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21240" y="1965960"/>
            <a:ext cx="166420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60"/>
            <a:ext cx="5394960" cy="2743200"/>
          </a:xfrm>
          <a:prstGeom prst="roundRect">
            <a:avLst/>
          </a:prstGeom>
          <a:solidFill>
            <a:srgbClr val="E3ECFD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3069F0"/>
                </a:solidFill>
              </a:defRPr>
            </a:pPr>
            <a:r>
              <a:t>Research Engine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Ingests market data across FX pairs and equities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Detects patterns and evaluates across 5 horizons (H1-H20)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Builds trust scores through backtested evidence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News context + parallel world stress testing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Training maturity gates prevent premature trading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08960"/>
            <a:ext cx="5394960" cy="2743200"/>
          </a:xfrm>
          <a:prstGeom prst="roundRect">
            <a:avLst/>
          </a:prstGeom>
          <a:solidFill>
            <a:srgbClr val="E6F5E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Trading Operations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AI committee verdicts before any execution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Live broker link with IBKR (paper + live modes)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Position lifecycle: import &gt; validate &gt; approve &gt; execute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Performance dashboards with Sharpe, drawdown, win rate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Every decision traceable in the Learning Ledger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⚖️  Think of MIP as a research lab with a built-in trading desk — the lab must approve before the desk can 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Training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Evidence quality is measured before any trade is considered — maturity gates keep the system honest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069F0"/>
                </a:solidFill>
              </a:defRPr>
            </a:pPr>
            <a:r>
              <a:t>0-100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Maturity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6A1B9A"/>
                </a:solidFill>
              </a:defRPr>
            </a:pPr>
            <a:r>
              <a:t>H1-H20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5 Horizons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86%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Coverage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965960"/>
            <a:ext cx="2926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00796B"/>
                </a:solidFill>
              </a:defRPr>
            </a:pPr>
            <a:r>
              <a:t>PER SYMBOL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Granularity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210312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INSUFFICIENT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383280"/>
            <a:ext cx="210312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WARMING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383280"/>
            <a:ext cx="210312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383280"/>
            <a:ext cx="210312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CONFIDENT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How Training Works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Each symbol + pattern combination is independently trained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Maturity = sample size + coverage + horizon depth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Trust labels gate whether the system can propose trades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LOW_EVIDENCE symbols are quarantined from execution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The system learns continuously — maturity rises over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73152" cy="20116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364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What You See in the UI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Symbol grid with maturity scores and trust labels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Horizon returns: Avg H1, H3, H5, H10, H20 per pattern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Coverage % — how much of the symbol's history is trained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Sample size — number of observations backing the score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AI summary translates stats into plain-language guidance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73152" cy="2011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🎓  Like a medical residency: doctors don't operate until they've logged enough supervised hours. MIP's patterns don't trade until trained.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Market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Symbol-level storyboard — see every signal, proposal, and trade on a visual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9659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Signals (S:12)</a:t>
            </a:r>
          </a:p>
        </p:txBody>
      </p:sp>
      <p:sp>
        <p:nvSpPr>
          <p:cNvPr id="8" name="Chevron 7"/>
          <p:cNvSpPr/>
          <p:nvPr/>
        </p:nvSpPr>
        <p:spPr>
          <a:xfrm>
            <a:off x="4133087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19659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Proposals (P:3)</a:t>
            </a:r>
          </a:p>
        </p:txBody>
      </p:sp>
      <p:sp>
        <p:nvSpPr>
          <p:cNvPr id="10" name="Chevron 9"/>
          <p:cNvSpPr/>
          <p:nvPr/>
        </p:nvSpPr>
        <p:spPr>
          <a:xfrm>
            <a:off x="7333488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0" y="196596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Trades (T:1)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146304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971800"/>
            <a:ext cx="146304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PROPOSED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971800"/>
            <a:ext cx="164592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SIGNAL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971800"/>
            <a:ext cx="1463040" cy="310896"/>
          </a:xfrm>
          <a:prstGeom prst="round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54864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Visual Storyboard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Tile grid colors indicate lifecycle stage at a glance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Chart overlays: signals (blue), proposals (orange), trades (green)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Signal chain tree shows branching proposals per portfolio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OHLC price chart with signal/trade markers overlaid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Cross-check training trust status by pattern directly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20440"/>
            <a:ext cx="73152" cy="24688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3520440"/>
            <a:ext cx="5257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Narrative Value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Decision narrative explains why a symbol advanced or stalled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Full transparency: signal &gt; proposal &gt; committee &gt; outcome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Click-through to committee decisions and execution runs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Portfolio-level filtering for multi-strategy environments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Time-range controls for historical investigation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520440"/>
            <a:ext cx="73152" cy="24688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📰  Like a newspaper front page for each symbol — you see the headline (trade), the story (proposals), and the raw sources (signals).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News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Evidence-backed context layer — news informs decisions but never overrides risk 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069F0"/>
                </a:solidFill>
              </a:defRPr>
            </a:pPr>
            <a:r>
              <a:t>RSS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Multi-Source Ingest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6596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C62828"/>
                </a:solidFill>
              </a:defRPr>
            </a:pPr>
            <a:r>
              <a:t>Z ≥ 1.5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HOT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96596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6A1B9A"/>
                </a:solidFill>
              </a:defRPr>
            </a:pPr>
            <a:r>
              <a:t>BOUNDED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Influence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965960"/>
            <a:ext cx="2834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REAL-TIME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Freshness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3566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Context KPIs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Symbols with active news coverage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HOT symbols (burst z-score ≥ 1.5)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Snapshot age and freshness tracking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Stale symbol alerts for decision caution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73152" cy="256032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43400" y="3383280"/>
            <a:ext cx="3566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Decision Impact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Proposals scoped with news context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Score adjustments bounded by guardrails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New entry blocks when uncertainty spikes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AI reader summary from stored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3383280"/>
            <a:ext cx="73152" cy="2560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0" y="3383280"/>
            <a:ext cx="35204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Sources &amp; Guardrails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SEC, GlobeNewswire, MarketWatch, Fed, ECB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IBKR research feed integration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Invalid URLs auto-excluded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No narrative guesswork — evidence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383280"/>
            <a:ext cx="73152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📡  Like a newsroom fact-checker: MIP reads the headlines but only acts on verified, scored evidence — never on rumor alone.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Parallel Worlds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Counterfactual laboratory — stress-test policy quality against 'what if' scenarios before risking capital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931920" cy="1828800"/>
          </a:xfrm>
          <a:prstGeom prst="roundRect">
            <a:avLst/>
          </a:prstGeom>
          <a:solidFill>
            <a:srgbClr val="E6F5EA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Policy Health: HEALTHY</a:t>
            </a:r>
          </a:p>
          <a:p>
            <a:pPr>
              <a:spcBef>
                <a:spcPts val="300"/>
              </a:spcBef>
              <a:defRPr sz="1200">
                <a:solidFill>
                  <a:srgbClr val="1F2937"/>
                </a:solidFill>
              </a:defRPr>
            </a:pPr>
            <a:r>
              <a:t>  Stability Score: 95 / 100</a:t>
            </a:r>
          </a:p>
          <a:p>
            <a:pPr>
              <a:spcBef>
                <a:spcPts val="300"/>
              </a:spcBef>
              <a:defRPr sz="1200">
                <a:solidFill>
                  <a:srgbClr val="1F2937"/>
                </a:solidFill>
              </a:defRPr>
            </a:pPr>
            <a:r>
              <a:t>  Regret Driver: Baseline (staying in cash)</a:t>
            </a:r>
          </a:p>
          <a:p>
            <a:pPr>
              <a:spcBef>
                <a:spcPts val="300"/>
              </a:spcBef>
              <a:defRPr sz="1200">
                <a:solidFill>
                  <a:srgbClr val="1F2937"/>
                </a:solidFill>
              </a:defRPr>
            </a:pPr>
            <a:r>
              <a:t>  Top Candidate: Weak — continue monitoring</a:t>
            </a:r>
          </a:p>
          <a:p>
            <a:pPr>
              <a:spcBef>
                <a:spcPts val="300"/>
              </a:spcBef>
              <a:defRPr sz="1200">
                <a:solidFill>
                  <a:srgbClr val="1F2937"/>
                </a:solidFill>
              </a:defRPr>
            </a:pPr>
            <a:r>
              <a:t>  Current policy outperforms all alternatives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920240"/>
            <a:ext cx="6858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Scenario Types Under Test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THRESHOLD — vary signal filter strictness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SIZING — test alternative position sizing models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TIMING — simulate delayed entry by N bars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HORIZON — change holding period assumptions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EARLY_EXIT — apply payoff multiplier cutoffs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BASELINE — the 'do nothing' cash benchmark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920240"/>
            <a:ext cx="73152" cy="18288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137160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3977639"/>
            <a:ext cx="155448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EMERGING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977639"/>
            <a:ext cx="118872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977639"/>
            <a:ext cx="1188720" cy="310896"/>
          </a:xfrm>
          <a:prstGeom prst="round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2628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How It Works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Scenarios are simulated over historical data windows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Gate-by-gate divergence analysis identifies where policies differ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Regret = excess return of best alternative vs current policy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Humans approve all policy changes — AI explains, never decides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73152" cy="14173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72200" y="452628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AI Narrative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AI explains gate-by-gate divergence and regret trend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Generates plain-language summary of scenario performance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Highlights emerging threats to current policy stability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Links to live broker snapshots for real-world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526280"/>
            <a:ext cx="73152" cy="1417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🌍  Like a flight simulator for your trading strategy — test every 'what-if' scenario before you take off with real capital.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Live Portfolio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The control plane — binding MIP's intelligence engine to real broker execution via Interactive Brokers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965960"/>
            <a:ext cx="2926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Source Portfolio</a:t>
            </a:r>
          </a:p>
        </p:txBody>
      </p:sp>
      <p:sp>
        <p:nvSpPr>
          <p:cNvPr id="8" name="Chevron 7"/>
          <p:cNvSpPr/>
          <p:nvPr/>
        </p:nvSpPr>
        <p:spPr>
          <a:xfrm>
            <a:off x="4041648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1965960"/>
            <a:ext cx="2926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MIP Live Config</a:t>
            </a:r>
          </a:p>
        </p:txBody>
      </p:sp>
      <p:sp>
        <p:nvSpPr>
          <p:cNvPr id="10" name="Chevron 9"/>
          <p:cNvSpPr/>
          <p:nvPr/>
        </p:nvSpPr>
        <p:spPr>
          <a:xfrm>
            <a:off x="7516367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1965960"/>
            <a:ext cx="2926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IBKR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926080"/>
            <a:ext cx="182880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Activation Guard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926080"/>
            <a:ext cx="210312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Execution Readiness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3657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Configuration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Adapter mode: PAPER or LIVE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Max positions and exposure limits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Cash buffer percentage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Quote freshness thresholds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Cooldown bars between trades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73152" cy="24688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657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Risk Brakes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Drawdown stop threshold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Bust percentage limit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Validity window enforcement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Snapshot freshness gates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Position-level safeguards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474720"/>
            <a:ext cx="73152" cy="2468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0" y="347472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Governance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Save writes config — no orders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Execution requires validation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Committee must approve first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Full audit of every state change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Human override at every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474720"/>
            <a:ext cx="73152" cy="2468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🏛️  Like air traffic control: MIP clears each flight (trade) only when conditions, fuel (capital), and weather (market) all pass safety checks.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Live Portfolio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Real-time operational lifecycle with committee checkpoints at every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Imported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78608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52927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Validated</a:t>
            </a:r>
          </a:p>
        </p:txBody>
      </p:sp>
      <p:sp>
        <p:nvSpPr>
          <p:cNvPr id="10" name="Chevron 9"/>
          <p:cNvSpPr/>
          <p:nvPr/>
        </p:nvSpPr>
        <p:spPr>
          <a:xfrm>
            <a:off x="4837175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11496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Committee</a:t>
            </a:r>
          </a:p>
        </p:txBody>
      </p:sp>
      <p:sp>
        <p:nvSpPr>
          <p:cNvPr id="12" name="Chevron 11"/>
          <p:cNvSpPr/>
          <p:nvPr/>
        </p:nvSpPr>
        <p:spPr>
          <a:xfrm>
            <a:off x="7095744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70063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Approved</a:t>
            </a:r>
          </a:p>
        </p:txBody>
      </p:sp>
      <p:sp>
        <p:nvSpPr>
          <p:cNvPr id="14" name="Chevron 13"/>
          <p:cNvSpPr/>
          <p:nvPr/>
        </p:nvSpPr>
        <p:spPr>
          <a:xfrm>
            <a:off x="9354311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28632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926080"/>
            <a:ext cx="2560320" cy="31089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Committee Checkpoint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NAV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Net Asset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4290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069F0"/>
                </a:solidFill>
              </a:defRPr>
            </a:pPr>
            <a:r>
              <a:t>P&amp;L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Unrealized Gains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42900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925F00"/>
                </a:solidFill>
              </a:defRPr>
            </a:pPr>
            <a:r>
              <a:t>DRIFT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Alignment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342900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6A1B9A"/>
                </a:solidFill>
              </a:defRPr>
            </a:pPr>
            <a:r>
              <a:t>W / L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Winners vs Losers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54880"/>
            <a:ext cx="5486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What You Monitor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Open positions: symbol, side, qty, avg cost, unrealized P&amp;L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Execution history: fill prices, realized P&amp;L, timestamps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TP/SL status + protection level for each 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73152" cy="128016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63640" y="475488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Cross-Checks Available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AI Agent Decisions  for verdict context and reason codes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Runs  for execution truth and pipeline health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Symbol Tracker  for real-time thesis 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754880"/>
            <a:ext cx="73152" cy="12801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🏥  Like a hospital patient monitor — vital signs (NAV, P&amp;L, drift) are tracked continuously, and alerts fire before problems escalate.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AI Agent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The committee courtroom — every trade proposal faces a structured verdict with reason codes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APPROVED Example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Verdict:  APPROVE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Confidence:  HIGH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Trust gate:  PASSED — maturity 82, coverage 91%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Risk gate:  PASSED — within position limits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Freshness:  PASSED — quote age 3 min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Committee summary generated for audit trail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196596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REJECTED Example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Verdict:  REJECT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Confidence:  MEDIUM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Trust gate:  FAILED — maturity only 34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Capacity gate:  BLOCKED — max positions reached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Stale quote risk flagged (15 min age)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Reason codes preserved for learning ledger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965960"/>
            <a:ext cx="73152" cy="2103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434340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PROPOSED</a:t>
            </a:r>
          </a:p>
        </p:txBody>
      </p:sp>
      <p:sp>
        <p:nvSpPr>
          <p:cNvPr id="12" name="Chevron 11"/>
          <p:cNvSpPr/>
          <p:nvPr/>
        </p:nvSpPr>
        <p:spPr>
          <a:xfrm>
            <a:off x="2578608" y="4526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52927" y="434340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TRUST GATE</a:t>
            </a:r>
          </a:p>
        </p:txBody>
      </p:sp>
      <p:sp>
        <p:nvSpPr>
          <p:cNvPr id="14" name="Chevron 13"/>
          <p:cNvSpPr/>
          <p:nvPr/>
        </p:nvSpPr>
        <p:spPr>
          <a:xfrm>
            <a:off x="4837175" y="4526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11496" y="434340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RISK GATE</a:t>
            </a:r>
          </a:p>
        </p:txBody>
      </p:sp>
      <p:sp>
        <p:nvSpPr>
          <p:cNvPr id="16" name="Chevron 15"/>
          <p:cNvSpPr/>
          <p:nvPr/>
        </p:nvSpPr>
        <p:spPr>
          <a:xfrm>
            <a:off x="7095744" y="4526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70063" y="434340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COMMITTEE</a:t>
            </a:r>
          </a:p>
        </p:txBody>
      </p:sp>
      <p:sp>
        <p:nvSpPr>
          <p:cNvPr id="18" name="Chevron 17"/>
          <p:cNvSpPr/>
          <p:nvPr/>
        </p:nvSpPr>
        <p:spPr>
          <a:xfrm>
            <a:off x="9354311" y="4526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28632" y="434340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VERDICT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881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Deterministic Accountability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  Reason codes are structured and queryable — not free-text opinions. Every APPROVE and REJECT is reproducible and auditable.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49240"/>
            <a:ext cx="73152" cy="6400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⚖️  Like a courtroom trial: evidence is presented, gates are checked, and a structured verdict is rendered — with a full transcript for appeal.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Learning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The institutional memory — every decision, its context, and what happened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Proposal</a:t>
            </a:r>
          </a:p>
        </p:txBody>
      </p:sp>
      <p:sp>
        <p:nvSpPr>
          <p:cNvPr id="8" name="Chevron 7"/>
          <p:cNvSpPr/>
          <p:nvPr/>
        </p:nvSpPr>
        <p:spPr>
          <a:xfrm>
            <a:off x="2578608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52927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4837175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11496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7095744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70063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Outcome</a:t>
            </a:r>
          </a:p>
        </p:txBody>
      </p:sp>
      <p:sp>
        <p:nvSpPr>
          <p:cNvPr id="14" name="Chevron 13"/>
          <p:cNvSpPr/>
          <p:nvPr/>
        </p:nvSpPr>
        <p:spPr>
          <a:xfrm>
            <a:off x="9354311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28632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Lesson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3657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Event Types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TRAINING_EVENT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Maturity changes, trust label shifts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DECISION_EVENT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Committee verdicts, reason codes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LIVE_EVENT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Execution fills, P&amp;L outcomes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73152" cy="28346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34840" y="3063240"/>
            <a:ext cx="35661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Causality Chain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Before State  vs  After State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Influence delta tracking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Causality links between events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Outcome state for closed-loop review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News context influence measured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063240"/>
            <a:ext cx="73152" cy="28346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38160" y="3063240"/>
            <a:ext cx="3429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Team Use Cases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Post-trade retrospectives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Weekly performance reviews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Policy tuning decisions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Rejection pattern analysis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Stakeholder explainability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063240"/>
            <a:ext cx="73152" cy="2834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📚  Like a pilot's flight log: every takeoff, turbulence, and landing is recorded — so the next flight benefits from every past experience.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Live Symbol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Real-time thesis monitoring with committee commentary on every open 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011680" cy="310896"/>
          </a:xfrm>
          <a:prstGeom prst="roundRect">
            <a:avLst/>
          </a:prstGeom>
          <a:solidFill>
            <a:srgbClr val="036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THESIS INTACT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965960"/>
            <a:ext cx="182880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WEAKENING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965960"/>
            <a:ext cx="192024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INVALIDATED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65960"/>
            <a:ext cx="228600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PROTECTED FULL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5486400" cy="3383280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2E8F0"/>
                </a:solidFill>
              </a:defRPr>
            </a:pPr>
            <a:r>
              <a:t>Symbol Metrics (Live)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Open R:  +1.2R  (reward vs risk from entry)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Expected Move Reached:  84%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Distance to Stop Loss:  1.6%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Distance to Take Profit:  0.8%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Vol Regime:  Normal → Elevated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Protection Status:  PROTECTED_PARTIAL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Price chart with TP/SL bands overlaid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Real-time quote updates from IBKR feed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73152" cy="33832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514600"/>
            <a:ext cx="5349240" cy="3383280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E2E8F0"/>
                </a:solidFill>
              </a:defRPr>
            </a:pPr>
            <a:r>
              <a:t>Committee Commentary (Live)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Stance:  WATCH_CLOSELY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Confidence:  MEDIUM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Reason Tags: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  momentum_fade, near_tp, news_uncertainty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Suggested Actions: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  Tighten stop, monitor revalidation window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  Consider partial exit if thesis weakens further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514600"/>
            <a:ext cx="73152" cy="33832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142032"/>
          </a:solidFill>
          <a:ln>
            <a:solidFill>
              <a:srgbClr val="2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94A3B8"/>
                </a:solidFill>
              </a:defRPr>
            </a:pPr>
            <a:r>
              <a:t>📡  Like a mission control dashboard: every satellite (position) has live telemetry and a flight director's commentary.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Symbol monitoring + real-time committee commentary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Performance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Portfolio-level truth — return, risk, consistency, and the story behind the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+12.4%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Total Return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6596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C62828"/>
                </a:solidFill>
              </a:defRPr>
            </a:pPr>
            <a:r>
              <a:t>-4.1%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Max Drawdown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069F0"/>
                </a:solidFill>
              </a:defRPr>
            </a:pPr>
            <a:r>
              <a:t>1.82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Sharpe Ratio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6A1B9A"/>
                </a:solidFill>
              </a:defRPr>
            </a:pPr>
            <a:r>
              <a:t>67%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Win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Core Metrics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Total equity and return %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Max drawdown and recovery time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Sharpe ratio for risk-adjusted returns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Win rate and expectancy per trade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Monthly cost trend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73152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338328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Visual Analysis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Equity curve with drawdown bands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Decision quality trend (expectancy over time)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Selectivity trend — how filters evolve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Decision funnel: signals &gt; proposals &gt; trades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Parallel Worlds counterfactual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383280"/>
            <a:ext cx="73152" cy="256032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3383280"/>
            <a:ext cx="33375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Drill-Down Paths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Period filters for focused analysis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Compare return vs drawdown across portfolios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Trace root cause in Training + Decisions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Target realism analysis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Cost attribution breakdown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383280"/>
            <a:ext cx="73152" cy="2560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📊  Like a financial annual report — but updated daily, with drill-through to every decision that shaped the bottom 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Pipeline Runs &amp;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Operational truth — what ran, when, how long, and what went wrong (if anything)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37160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65960"/>
            <a:ext cx="210312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SUCCESS + SKIPS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65960"/>
            <a:ext cx="118872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965960"/>
            <a:ext cx="137160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5486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Daily Pipeline Sequence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Ingest market data → Generate signals → Evaluate patterns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Run portfolio simulation → Propose trades → Execute approved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Generate briefs + digest → Run parallel worlds analysis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Scheduled: 5 PM ET, Monday through Friday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73152" cy="19202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51460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Run Detail Panel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Summary cards: status, duration, as-of date, portfolio count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Step-by-step timeline with individual durations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Error panel: SQLSTATE, query IDs, error messages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AI-generated run summary accelerates triage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514600"/>
            <a:ext cx="73152" cy="1920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Audit Log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MIP_AUDIT_LOG captures every event: stored procedure name, status, duration, error details, and portfolio context.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Immutable audit trail — entries are append-only. Failed runs preserve full diagnostics for root cause analysis.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AI summary explains what happened in plain language — but step-level detail is always available for verification.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73152" cy="1280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✈️  Like an aircraft's black box recorder: every system event is logged, so investigations start with facts, not guesses.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Snowflake-native: data, logic, and pipelines live together — the UI and API are thin presentation layers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103120"/>
            <a:ext cx="1097280" cy="1097280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069F0"/>
                </a:solidFill>
              </a:defRPr>
            </a:pPr>
            <a:r>
              <a:t>Snowflake</a:t>
            </a:r>
          </a:p>
        </p:txBody>
      </p:sp>
      <p:sp>
        <p:nvSpPr>
          <p:cNvPr id="9" name="Oval 8"/>
          <p:cNvSpPr/>
          <p:nvPr/>
        </p:nvSpPr>
        <p:spPr>
          <a:xfrm>
            <a:off x="4114800" y="2103120"/>
            <a:ext cx="1097280" cy="109728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2918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A1B9A"/>
                </a:solidFill>
              </a:defRPr>
            </a:pPr>
            <a:r>
              <a:t>Python API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2103120"/>
            <a:ext cx="1097280" cy="10972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918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React UI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0" y="2103120"/>
            <a:ext cx="1097280" cy="1097280"/>
          </a:xfrm>
          <a:prstGeom prst="ellipse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918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25F00"/>
                </a:solidFill>
              </a:defRPr>
            </a:pPr>
            <a:r>
              <a:t>IBKR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06040" y="2468880"/>
            <a:ext cx="1280160" cy="365760"/>
          </a:xfrm>
          <a:prstGeom prst="rightArrow">
            <a:avLst/>
          </a:prstGeom>
          <a:solidFill>
            <a:srgbClr val="B7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5349240" y="2468880"/>
            <a:ext cx="1280160" cy="365760"/>
          </a:xfrm>
          <a:prstGeom prst="rightArrow">
            <a:avLst/>
          </a:prstGeom>
          <a:solidFill>
            <a:srgbClr val="B7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8092440" y="2468880"/>
            <a:ext cx="1280160" cy="365760"/>
          </a:xfrm>
          <a:prstGeom prst="rightArrow">
            <a:avLst/>
          </a:prstGeom>
          <a:solidFill>
            <a:srgbClr val="B7C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Data Layer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Tables, views, stored procedures, tasks, external stages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73152" cy="210312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20439" y="3840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Logic Layer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Signal detection, training, proposals, committee, simulation, parallel worlds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39" y="3840480"/>
            <a:ext cx="73152" cy="2103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0" y="3840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Presentation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React pages, REST API routers, WebSocket feeds, chart overlays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840480"/>
            <a:ext cx="73152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81159" y="3840480"/>
            <a:ext cx="2743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Integration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IBKR adapter, RSS ingest, broker snapshots, execution bridge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59" y="3840480"/>
            <a:ext cx="73152" cy="2103120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37160" cy="50292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MIP: Intelligence Meets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The platform where every trade is born from evidence, governed by committee, and remembered for the future.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017520"/>
            <a:ext cx="3657600" cy="36576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🔬  Research  —  Pattern detection, training maturity, news intelligence, parallel worlds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⚖️  Decisions  —  AI committee verdicts, reason codes, structured gates, full transparency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480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💹  Execution  —  Live IBKR link, position lifecycle, risk brakes, real-time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74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📚  Learning  —  Causal ledger, outcome tracking, policy feedback, continuous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069F0"/>
                </a:solidFill>
              </a:defRPr>
            </a:pPr>
            <a:r>
              <a:t>Ready to see it live?  Let's walk through the platform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2344</Words>
  <Application>Microsoft Office PowerPoint</Application>
  <PresentationFormat>Widescreen</PresentationFormat>
  <Paragraphs>374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Kenneth Jebjerg</cp:lastModifiedBy>
  <cp:revision>1</cp:revision>
  <dcterms:created xsi:type="dcterms:W3CDTF">2013-01-27T09:14:16Z</dcterms:created>
  <dcterms:modified xsi:type="dcterms:W3CDTF">2026-03-20T06:44:21Z</dcterms:modified>
  <cp:category/>
</cp:coreProperties>
</file>