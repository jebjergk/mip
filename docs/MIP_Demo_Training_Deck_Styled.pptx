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MIP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Market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Demo + Training | Research Internals to Trading Operations</a:t>
            </a:r>
          </a:p>
        </p:txBody>
      </p:sp>
      <p:pic>
        <p:nvPicPr>
          <p:cNvPr id="7" name="Picture 6" descr="mip-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512064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2011680"/>
            <a:ext cx="5669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Why MIP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Evidence-first workflow, not prediction theater.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Committee + risk gates keep execution controlled.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Every decision is auditable from signal to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82880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5669280"/>
            <a:ext cx="1828800" cy="31089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5669280"/>
            <a:ext cx="18288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Inside-out sequence: research -&gt; committee -&gt; live operations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685800" cy="685800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828800"/>
            <a:ext cx="9966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Research Foundations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Intro, Training, Timeline, Parallel Worlds, News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828800"/>
            <a:ext cx="73152" cy="11887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852160" y="3154680"/>
            <a:ext cx="457200" cy="320040"/>
          </a:xfrm>
          <a:prstGeom prst="downArrow">
            <a:avLst/>
          </a:prstGeom>
          <a:solidFill>
            <a:srgbClr val="B7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4480" y="1828800"/>
            <a:ext cx="9966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Decision Layer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AI Committee decisions + symbol commentary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1828800"/>
            <a:ext cx="73152" cy="1188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852160" y="4325112"/>
            <a:ext cx="457200" cy="320040"/>
          </a:xfrm>
          <a:prstGeom prst="downArrow">
            <a:avLst/>
          </a:prstGeom>
          <a:solidFill>
            <a:srgbClr val="B7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325112"/>
            <a:ext cx="685800" cy="68580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4142232"/>
            <a:ext cx="9966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334155"/>
                </a:solidFill>
              </a:defRPr>
            </a:pPr>
            <a:r>
              <a:t>Decision Layer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AI Committee decisions + symbol commentary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142232"/>
            <a:ext cx="73152" cy="1188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1828800"/>
            <a:ext cx="9966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Trading Operations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Live link, activity, performance, audit, ledger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1828800"/>
            <a:ext cx="73152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495544"/>
            <a:ext cx="685800" cy="685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5312664"/>
            <a:ext cx="9966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334155"/>
                </a:solidFill>
              </a:defRPr>
            </a:pPr>
            <a:r>
              <a:t>Trading Operations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Live link, activity, performance, audit, ledger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5312664"/>
            <a:ext cx="73152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MIP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Research engine + trading controls in one Snowflake-native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Market Data</a:t>
            </a:r>
          </a:p>
        </p:txBody>
      </p:sp>
      <p:sp>
        <p:nvSpPr>
          <p:cNvPr id="8" name="Chevron 7"/>
          <p:cNvSpPr/>
          <p:nvPr/>
        </p:nvSpPr>
        <p:spPr>
          <a:xfrm>
            <a:off x="245973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4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Signals</a:t>
            </a:r>
          </a:p>
        </p:txBody>
      </p:sp>
      <p:sp>
        <p:nvSpPr>
          <p:cNvPr id="10" name="Chevron 9"/>
          <p:cNvSpPr/>
          <p:nvPr/>
        </p:nvSpPr>
        <p:spPr>
          <a:xfrm>
            <a:off x="437997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Outcomes</a:t>
            </a:r>
          </a:p>
        </p:txBody>
      </p:sp>
      <p:sp>
        <p:nvSpPr>
          <p:cNvPr id="12" name="Chevron 11"/>
          <p:cNvSpPr/>
          <p:nvPr/>
        </p:nvSpPr>
        <p:spPr>
          <a:xfrm>
            <a:off x="630021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Trust</a:t>
            </a:r>
          </a:p>
        </p:txBody>
      </p:sp>
      <p:sp>
        <p:nvSpPr>
          <p:cNvPr id="14" name="Chevron 13"/>
          <p:cNvSpPr/>
          <p:nvPr/>
        </p:nvSpPr>
        <p:spPr>
          <a:xfrm>
            <a:off x="822045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Proposals</a:t>
            </a:r>
          </a:p>
        </p:txBody>
      </p:sp>
      <p:sp>
        <p:nvSpPr>
          <p:cNvPr id="16" name="Chevron 15"/>
          <p:cNvSpPr/>
          <p:nvPr/>
        </p:nvSpPr>
        <p:spPr>
          <a:xfrm>
            <a:off x="1014069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700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91840"/>
            <a:ext cx="53949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Research Functionality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Pattern detection with horizon-based evaluation.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Training maturity, coverage, trust by symbol/pattern.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Parallel worlds for policy stress tests.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News context layered as evidence.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91840"/>
            <a:ext cx="73152" cy="265176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3291840"/>
            <a:ext cx="53949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Trading Functionality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Committee verdicts before execution.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Live link controls + readiness gates.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Lifecycle activity and symbol monitoring.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Performance + audit + learning 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291840"/>
            <a:ext cx="73152" cy="2651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Training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Evidence quality before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760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How To Read It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Start with sample size + coverage.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Then compare Avg H1/H3/H5/H10/H20.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Maturity = confidence in evidence, not certainty.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73152" cy="19202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920240"/>
            <a:ext cx="4937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Example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AUD/USD | Pattern 2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Coverage 86% | Maturity 78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Avg H5 +0.8% (historical edge)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920240"/>
            <a:ext cx="73152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82880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114800"/>
            <a:ext cx="182880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114800"/>
            <a:ext cx="18288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TRUST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789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AI Fusion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Ask MIP translates maturity and horizon stats into plain-language confidence guidance.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73152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Market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Symbol-level observability from signal to trade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Signals (S:12)</a:t>
            </a:r>
          </a:p>
        </p:txBody>
      </p:sp>
      <p:sp>
        <p:nvSpPr>
          <p:cNvPr id="8" name="Chevron 7"/>
          <p:cNvSpPr/>
          <p:nvPr/>
        </p:nvSpPr>
        <p:spPr>
          <a:xfrm>
            <a:off x="2459736" y="219456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40" y="196596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Proposals (P:3)</a:t>
            </a:r>
          </a:p>
        </p:txBody>
      </p:sp>
      <p:sp>
        <p:nvSpPr>
          <p:cNvPr id="10" name="Chevron 9"/>
          <p:cNvSpPr/>
          <p:nvPr/>
        </p:nvSpPr>
        <p:spPr>
          <a:xfrm>
            <a:off x="4379976" y="219456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Trades (T:1)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4864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Visual Storyboard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Tile colors: executed / proposed / signal-only / inactive.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Chart overlays: signal (blue), proposal (orange), trade (green).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Signal chain tree exposes proposal-by-portfolio branches.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73152" cy="27432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154680"/>
            <a:ext cx="52120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Narrative Value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Decision narrative explains why a symbol advanced or stalled.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Cross-check trust status by pattern.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Link directly into committee decisions and runs.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154680"/>
            <a:ext cx="73152" cy="2743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Parallel Worlds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Counterfactual lab for policy quality and regret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749039" cy="1828800"/>
          </a:xfrm>
          <a:prstGeom prst="roundRect">
            <a:avLst/>
          </a:prstGeom>
          <a:solidFill>
            <a:srgbClr val="E6F5EA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700">
                <a:solidFill>
                  <a:srgbClr val="2E7D32"/>
                </a:solidFill>
              </a:defRPr>
            </a:pPr>
            <a:r>
              <a:t>Policy Health: HEALTHY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Stability 95/100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Regret Driver: Baseline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Top Candidate: Weak (monitor)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6858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Scenario Types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Signal filter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Position sizing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Entry timing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Baseline (stay cash)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828800"/>
            <a:ext cx="73152" cy="18288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3716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931920"/>
            <a:ext cx="137160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EMERGING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931920"/>
            <a:ext cx="137160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931920"/>
            <a:ext cx="1371600" cy="310896"/>
          </a:xfrm>
          <a:prstGeom prst="round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789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AI Fusion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AI narrative explains gate-by-gate divergence and regret trend; humans still approve all policy changes.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73152" cy="1508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News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Evidence-backed context layer with strict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Context KPIs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Symbols with news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HOT symbols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Snapshot age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Stale symbols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25603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Decision Impact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Proposals scoped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With news context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With score adjustment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Blocked new 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73152" cy="2560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Guardrails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Invalid URLs excluded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Freshness explicit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Influence bounded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No narrative guesswork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73152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9728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663440"/>
            <a:ext cx="2560320" cy="31089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UNSEEN + DECISION RELEVANT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10789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AI Fusion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Reader summary is generated from stored features and linked proposal payload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73152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Live Portfolio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Control plane binding MIP workflow to broker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Source Portfolio</a:t>
            </a:r>
          </a:p>
        </p:txBody>
      </p:sp>
      <p:sp>
        <p:nvSpPr>
          <p:cNvPr id="8" name="Chevron 7"/>
          <p:cNvSpPr/>
          <p:nvPr/>
        </p:nvSpPr>
        <p:spPr>
          <a:xfrm>
            <a:off x="245973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4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MIP Live Portfolio</a:t>
            </a:r>
          </a:p>
        </p:txBody>
      </p:sp>
      <p:sp>
        <p:nvSpPr>
          <p:cNvPr id="10" name="Chevron 9"/>
          <p:cNvSpPr/>
          <p:nvPr/>
        </p:nvSpPr>
        <p:spPr>
          <a:xfrm>
            <a:off x="437997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IBKR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063240"/>
            <a:ext cx="164592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Activation Guard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063240"/>
            <a:ext cx="192024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Execution Readiness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Configuration Scope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Adapter mode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Position and exposure limits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Freshness + cooldown controls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Drawdown and bust brakes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219456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Governance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Saving writes control state only.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No order placement from this page.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Execution still requires validation and approvals.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73152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Live Portfolio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Operational lifecycle with committee checkpoints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Imported</a:t>
            </a:r>
          </a:p>
        </p:txBody>
      </p:sp>
      <p:sp>
        <p:nvSpPr>
          <p:cNvPr id="8" name="Chevron 7"/>
          <p:cNvSpPr/>
          <p:nvPr/>
        </p:nvSpPr>
        <p:spPr>
          <a:xfrm>
            <a:off x="245973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4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Validated</a:t>
            </a:r>
          </a:p>
        </p:txBody>
      </p:sp>
      <p:sp>
        <p:nvSpPr>
          <p:cNvPr id="10" name="Chevron 9"/>
          <p:cNvSpPr/>
          <p:nvPr/>
        </p:nvSpPr>
        <p:spPr>
          <a:xfrm>
            <a:off x="437997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Committee</a:t>
            </a:r>
          </a:p>
        </p:txBody>
      </p:sp>
      <p:sp>
        <p:nvSpPr>
          <p:cNvPr id="12" name="Chevron 11"/>
          <p:cNvSpPr/>
          <p:nvPr/>
        </p:nvSpPr>
        <p:spPr>
          <a:xfrm>
            <a:off x="630021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Approved</a:t>
            </a:r>
          </a:p>
        </p:txBody>
      </p:sp>
      <p:sp>
        <p:nvSpPr>
          <p:cNvPr id="14" name="Chevron 13"/>
          <p:cNvSpPr/>
          <p:nvPr/>
        </p:nvSpPr>
        <p:spPr>
          <a:xfrm>
            <a:off x="822045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063240"/>
            <a:ext cx="2103120" cy="31089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Committee checkpoint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What You Verify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Recent transitions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State freshness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Delay/block reasons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Approval path integrity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73152" cy="219456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Cross-Checks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AI Agent Decisions for verdict context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Runs for execution truth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Symbol Tracker for live thesis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73152" cy="21945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AI Agent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Committee courtroom for verdict, reason codes, and revalidation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Accepted Example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Verdict: APPROVE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Confidence: HIGH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Reason: Trust + risk + freshness all passed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73152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Rejected Example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Verdict: REJECT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Confidence: MEDIUM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Reason: Capacity/risk gate block, stale quote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20624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459736" y="4434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40" y="420624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APPROVED</a:t>
            </a:r>
          </a:p>
        </p:txBody>
      </p:sp>
      <p:sp>
        <p:nvSpPr>
          <p:cNvPr id="14" name="Chevron 13"/>
          <p:cNvSpPr/>
          <p:nvPr/>
        </p:nvSpPr>
        <p:spPr>
          <a:xfrm>
            <a:off x="4379976" y="4434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420624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REJECTED / EXECUTED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789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AI Fusion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Committee summary explains verdict quickly; reason codes preserve deterministic accountability.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73152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Live Symbol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Symbol-first monitoring + committee commentary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011680" cy="310896"/>
          </a:xfrm>
          <a:prstGeom prst="roundRect">
            <a:avLst/>
          </a:prstGeom>
          <a:solidFill>
            <a:srgbClr val="036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THESIS_INTACT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011680"/>
            <a:ext cx="182880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WEAKENING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011680"/>
            <a:ext cx="192024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303520" cy="338328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>
                <a:solidFill>
                  <a:srgbClr val="E2E8F0"/>
                </a:solidFill>
              </a:defRPr>
            </a:pPr>
            <a:r>
              <a:t>Symbol Metrics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- Open R: +1.2R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- Expected move reached: 84%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- Distance to SL: 1.6%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- Vol regime: Normal -&gt; Elevated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60320"/>
            <a:ext cx="5303520" cy="338328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>
                <a:solidFill>
                  <a:srgbClr val="E2E8F0"/>
                </a:solidFill>
              </a:defRPr>
            </a:pPr>
            <a:r>
              <a:t>Committee Commentary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- Stance: WATCH_CLOSELY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- Confidence: MEDIUM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- Reason tags: momentum_fade, near_tp, news_uncertainty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- Actions to consider: tighten stop, monitor revalidation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Symbol monitoring + committee commentary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Learning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Causality trace: what changed, why, and what happened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Proposal</a:t>
            </a:r>
          </a:p>
        </p:txBody>
      </p:sp>
      <p:sp>
        <p:nvSpPr>
          <p:cNvPr id="8" name="Chevron 7"/>
          <p:cNvSpPr/>
          <p:nvPr/>
        </p:nvSpPr>
        <p:spPr>
          <a:xfrm>
            <a:off x="245973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4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37997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30021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Outcome</a:t>
            </a:r>
          </a:p>
        </p:txBody>
      </p:sp>
      <p:sp>
        <p:nvSpPr>
          <p:cNvPr id="14" name="Chevron 13"/>
          <p:cNvSpPr/>
          <p:nvPr/>
        </p:nvSpPr>
        <p:spPr>
          <a:xfrm>
            <a:off x="8220456" y="2240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011680"/>
            <a:ext cx="17190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Lesson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What It Proves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Evidence chain behind each decision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Role/context attribution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Expected vs realized outcome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Recurring pattern quality over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73152" cy="25603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How Teams Use It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Post-trade review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Weekly retrospective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Policy tuning and rejection pattern analysis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Stakeholder explainability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73152" cy="2560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Performance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Portfolio-level truth on return, drawdown, and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Portfolio A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Return: +12.4%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Max DD: -4.1%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Stability: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Portfolio B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Return: +8.7%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Max DD: -2.9%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Stability: Very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22860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Portfolio C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Return: +15.1%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Max DD: -7.3%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Stability: 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73152" cy="228600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789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Interpretation Workflow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Use period filters first, then compare return vs drawdown, then trace root cause in Training + Decisions + Runs.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73152" cy="1554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Audit Trail (Runs)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Operational truth: what ran, status, durations, and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18872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874519"/>
            <a:ext cx="155448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SUCCESS+SKIPS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74519"/>
            <a:ext cx="109728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874519"/>
            <a:ext cx="128016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Run Detail Panel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Summary cards: status, duration, as-of, portfolios.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Step timeline with per-step duration and outcome.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Error panel with SQLSTATE and query IDs.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73152" cy="356616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Demo Note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Open one successful run and one failed run.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Show how AI summary accelerates triage.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Confirm final truth in step-level diagnostics.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73152" cy="35661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AI Is Naturally Fused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AI accelerates understanding while controls keep humans in charge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Where AI Helps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Daily digests and committee summaries.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Parallel Worlds what-if explanation.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News reader summary and HOT prioritization.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Ask MIP route-aware training support.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4297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334155"/>
                </a:solidFill>
              </a:defRPr>
            </a:pPr>
            <a:r>
              <a:t>Where Humans Control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Risk gates are deterministic.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Execution needs readiness + approvals.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AI comments are non-binding.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- Runs + Ledger preserve accountability.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73152" cy="4297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| Evidence -&gt; Decision -&gt;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137160" cy="43891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601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1F5F9"/>
                </a:solidFill>
              </a:defRPr>
            </a:pPr>
            <a:r>
              <a:t>Q&amp;A and Live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BD5E1"/>
                </a:solidFill>
              </a:defRPr>
            </a:pPr>
            <a:r>
              <a:t>Suggested final flow in front of colleagues: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1) Training -&gt; Timeline -&gt; Parallel Worlds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2) News -&gt; AI Agent Decisions -&gt; Symbol Tracker commentary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3) Live Link/Activity -&gt; Performance -&gt; Runs/Audit -&gt; Learning Ledger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