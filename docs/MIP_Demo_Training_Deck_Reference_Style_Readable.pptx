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Market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Demo + training: research internals to trading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669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Why MIP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Evidence-first decision support.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AI explanations with deterministic controls.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Complete signal-to-outcome audit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3152" cy="32918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24028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Session Goal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Teach how internals become trading actions.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Show committee reasoning with examples.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End with performance and audit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240280"/>
            <a:ext cx="73152" cy="3291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MIP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From research learning to controlled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Market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7" y="237744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Signals</a:t>
            </a:r>
          </a:p>
        </p:txBody>
      </p:sp>
      <p:sp>
        <p:nvSpPr>
          <p:cNvPr id="10" name="Chevron 9"/>
          <p:cNvSpPr/>
          <p:nvPr/>
        </p:nvSpPr>
        <p:spPr>
          <a:xfrm>
            <a:off x="4453128" y="237744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Outcomes</a:t>
            </a:r>
          </a:p>
        </p:txBody>
      </p:sp>
      <p:sp>
        <p:nvSpPr>
          <p:cNvPr id="12" name="Chevron 11"/>
          <p:cNvSpPr/>
          <p:nvPr/>
        </p:nvSpPr>
        <p:spPr>
          <a:xfrm>
            <a:off x="6464808" y="237744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Trust</a:t>
            </a:r>
          </a:p>
        </p:txBody>
      </p:sp>
      <p:sp>
        <p:nvSpPr>
          <p:cNvPr id="14" name="Chevron 13"/>
          <p:cNvSpPr/>
          <p:nvPr/>
        </p:nvSpPr>
        <p:spPr>
          <a:xfrm>
            <a:off x="8476488" y="237744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Committee</a:t>
            </a:r>
          </a:p>
        </p:txBody>
      </p:sp>
      <p:sp>
        <p:nvSpPr>
          <p:cNvPr id="16" name="Chevron 15"/>
          <p:cNvSpPr/>
          <p:nvPr/>
        </p:nvSpPr>
        <p:spPr>
          <a:xfrm>
            <a:off x="10488168" y="237744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19456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Research Functionality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Pattern detection and horizon evaluation (H1-H20).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Maturity, coverage, and trust scoring.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Counterfactual policy testing (Parallel Worlds).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25603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324612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Trading Functionality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Proposals through risk gates and committee checks.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Live-linked activity and symbol monitoring.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Performance + audit + learning feedback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46120"/>
            <a:ext cx="73152" cy="25603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Training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Evidence quality before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How to read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Start with sample size + coverage.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Then assess horizon averages and consistency.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Maturity is confidence in evidence, not 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18288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Example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AUD/USD Pattern 2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Coverage 86%, Maturity 78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Avg H5 +0.8% (historical edge)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73152" cy="18288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881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AI naturally fused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Ask MIP translates training metrics into plain-language guidance for operators.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73152" cy="1645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Market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Symbol story from signal to trade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Signals (S)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7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Proposals (P)</a:t>
            </a:r>
          </a:p>
        </p:txBody>
      </p:sp>
      <p:sp>
        <p:nvSpPr>
          <p:cNvPr id="10" name="Chevron 9"/>
          <p:cNvSpPr/>
          <p:nvPr/>
        </p:nvSpPr>
        <p:spPr>
          <a:xfrm>
            <a:off x="445312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Trades (T)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5486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Visuals to explain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Tile colors: executed / proposed / signal-only.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Chart overlays for signal, proposal, execution.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Signal-chain tree by portfolio.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73152" cy="2377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42900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Training angle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Use one symbol as anchor across slides.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Narrate why flow advanced or stalled.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Link directly to committee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429000"/>
            <a:ext cx="73152" cy="2377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Parallel 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Counterfactual lab for policy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Policy Health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Badge: Healthy / Watch / Needs Attention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Stability score and regret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19202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Scenarios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Signal filter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Position size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Entry timing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Baseline (stay cash)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73152" cy="1920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Confidence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Strong / Emerging / Weak / Noise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Only strong patterns move to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03120"/>
            <a:ext cx="73152" cy="19202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10881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AI naturally fused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AI narrative explains divergence and regret trend; changes remain human-governed.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73152" cy="1554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News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Evidence-backed context with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661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Context KPIs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Symbols with news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HOT symbols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Snapshot freshness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26517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5661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Decision Impact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Proposals with news_context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Score adjustments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Blocked new entries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73152" cy="26517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33832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Guardrails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Invalid URLs excluded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Influence bounded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Freshness always explicit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73152" cy="2651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AI naturally fused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Reader summary is grounded in stored features, not free-form speculation.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80"/>
            <a:ext cx="73152" cy="868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Live Portfolio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Control plane from source to broker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Source Portfolio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7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Live Portfolio</a:t>
            </a:r>
          </a:p>
        </p:txBody>
      </p:sp>
      <p:sp>
        <p:nvSpPr>
          <p:cNvPr id="10" name="Chevron 9"/>
          <p:cNvSpPr/>
          <p:nvPr/>
        </p:nvSpPr>
        <p:spPr>
          <a:xfrm>
            <a:off x="445312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IBKR</a:t>
            </a:r>
          </a:p>
        </p:txBody>
      </p:sp>
      <p:sp>
        <p:nvSpPr>
          <p:cNvPr id="12" name="Chevron 11"/>
          <p:cNvSpPr/>
          <p:nvPr/>
        </p:nvSpPr>
        <p:spPr>
          <a:xfrm>
            <a:off x="646480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Activation Guard</a:t>
            </a:r>
          </a:p>
        </p:txBody>
      </p:sp>
      <p:sp>
        <p:nvSpPr>
          <p:cNvPr id="14" name="Chevron 13"/>
          <p:cNvSpPr/>
          <p:nvPr/>
        </p:nvSpPr>
        <p:spPr>
          <a:xfrm>
            <a:off x="847648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What this page controls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Adapter mode, exposure limits, freshness controls.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Drawdown/bust safety brakes.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Saved config = governance record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3152" cy="2331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What it does not do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Does not place orders by itself.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Execution still requires approvals and revalidation.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Research source selected during activity import.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73152" cy="2331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Live Portfolio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Operational lifecycle with committee checkpoint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Imported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7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Validated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445312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Committee</a:t>
            </a:r>
          </a:p>
        </p:txBody>
      </p:sp>
      <p:sp>
        <p:nvSpPr>
          <p:cNvPr id="12" name="Chevron 11"/>
          <p:cNvSpPr/>
          <p:nvPr/>
        </p:nvSpPr>
        <p:spPr>
          <a:xfrm>
            <a:off x="646480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Approved</a:t>
            </a:r>
          </a:p>
        </p:txBody>
      </p:sp>
      <p:sp>
        <p:nvSpPr>
          <p:cNvPr id="14" name="Chevron 13"/>
          <p:cNvSpPr/>
          <p:nvPr/>
        </p:nvSpPr>
        <p:spPr>
          <a:xfrm>
            <a:off x="847648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Executed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Use during demo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Verify freshest transitions and statuses.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Investigate delays with reason fields.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Trace one action from import to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3152" cy="2331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Committee emphasis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Decision checkpoint is visible and auditable.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Cross-check with AI Agent Decisions and Runs.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Great training view for process discipline.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73152" cy="23317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AI Agent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Committee courtroom: verdict, reasons, revalidation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Accepted example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Verdict: APPROVE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Reason: trust + risk + freshness passed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Status path: PROPOSED -&gt; APPROVED -&gt; EXECUTED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18288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Rejected example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Verdict: REJECT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Reason: capacity/risk or stale data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Use reason tags for policy tuning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73152" cy="1828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881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AI naturally fused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Committee summaries accelerate understanding while structured reason codes preserve deterministic accountability.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73152" cy="1645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Live Symbol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Live symbol monitoring + committee commentary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Symbol metrics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Thesis state: intact / weakening / invalidated.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Open R, expected move reached, distance to TP/SL.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Protection and status badges by position.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18288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Committee commentary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Stance, confidence, reason tags, actions to consider.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Contextual guidance, non-binding by design.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Escalates symbols needing immediate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73152" cy="1828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881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Training angle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Teach how to combine symbol commentary with AI decisions, news context, and run health.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73152" cy="1645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Learning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Why decisions changed and what happened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Proposal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7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45312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Execution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46480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Outcome</a:t>
            </a:r>
          </a:p>
        </p:txBody>
      </p:sp>
      <p:sp>
        <p:nvSpPr>
          <p:cNvPr id="14" name="Chevron 13"/>
          <p:cNvSpPr/>
          <p:nvPr/>
        </p:nvSpPr>
        <p:spPr>
          <a:xfrm>
            <a:off x="8476488" y="2423160"/>
            <a:ext cx="182880" cy="411480"/>
          </a:xfrm>
          <a:prstGeom prst="chevron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240280"/>
            <a:ext cx="1737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540"/>
                </a:solidFill>
              </a:defRPr>
            </a:pPr>
            <a:r>
              <a:t>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What it proves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Evidence chain behind behavior changes.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Expected vs realized outcomes.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Impact of repeated decision patterns.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3152" cy="2331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How to use it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Post-trade review and weekly retrospectives.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Stakeholder explainability and audit support.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Policy tuning based on actual outcomes.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73152" cy="23317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Portfolio-level truth on return, drawdown,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Portfolio A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Return +12.4%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Max DD -4.1%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Stability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21945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Portfolio B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Return +8.7%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Max DD -2.9%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Stability Very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73152" cy="21945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Portfolio C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Return +15.1%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Max DD -7.3%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Stability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03120"/>
            <a:ext cx="73152" cy="21945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Interpretation workflow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Read period trend first, then connect moves back to training, committee decisions, and risk gates.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73152" cy="1280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Audit Trail (Runs)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Operational truth source for daily and intraday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94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Runs panel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Status, timing, as-of, and portfolio scope.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Step timeline with pass/fail/skip details.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Error diagnostics: SQLSTATE + query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26517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Incident playbook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- 1) Open failed run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- 2) Locate failing step and query id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- 3) Validate downstream impact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- 4) Confirm recovery on next 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73152" cy="2651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81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AI naturally fused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AI run summary speeds triage, but step-level diagnostics remain source of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83480"/>
            <a:ext cx="73152" cy="868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How AI Is Naturally Fused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AI improves speed and clarity while controls preserve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949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Where AI helps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Committee summaries and narrative context.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Parallel Worlds explanation and regret interpretation.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News reader summary and HOT prioritization.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Ask MIP route-aware operator coaching.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3749039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Where humans stay in control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Deterministic risk gates and thresholds.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Execution approvals and revalidation.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AI outputs are non-binding.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Runs + Ledger ensure accountability.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73152" cy="3749039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182880"/>
            <a:ext cx="1645920" cy="384048"/>
          </a:xfrm>
          <a:prstGeom prst="roundRect">
            <a:avLst/>
          </a:prstGeom>
          <a:solidFill>
            <a:srgbClr val="0D1540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540"/>
                </a:solidFill>
              </a:defRPr>
            </a:pPr>
            <a:r>
              <a:t>Recommended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Use this sequence tomorrow for product + training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540"/>
                </a:solidFill>
              </a:defRPr>
            </a:pPr>
            <a:r>
              <a:t>8-step run order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- 1) Home/Cockpit: freshness and overnight changes.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- 2) Training Status: evidence maturity and horizons.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- 3) Market Timeline: one symbol chain S -&gt; P -&gt; T.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- 4) Parallel Worlds: policy health and confidence.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- 5) News Intelligence: context + impact + HOT.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- 6) Live Link + Live Activity: controls and lifecycle.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- 7) AI Decisions + Symbol Tracker commentary.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- 8) Performance + Runs + Learning Ledger close.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35661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620256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MIP | Evidence-first training walkthrough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5603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DEEFF"/>
                </a:solidFill>
              </a:defRPr>
            </a:pPr>
            <a:r>
              <a:t>Deep dive options: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Committee logic and rejection patterns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Live workflow controls and readiness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Audit + learning trace from decision to outcome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