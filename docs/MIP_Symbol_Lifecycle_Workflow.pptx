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B44C2512-8607-9AEE-0979-6C7397B7AFC8}"/>
              </a:ext>
            </a:extLst>
          </p:cNvPr>
          <p:cNvSpPr/>
          <p:nvPr/>
        </p:nvSpPr>
        <p:spPr>
          <a:xfrm>
            <a:off x="4555018" y="3986095"/>
            <a:ext cx="45719" cy="132066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Symbol Lifecycle: Ingestion to 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B7A"/>
                </a:solidFill>
              </a:defRPr>
            </a:pPr>
            <a:r>
              <a:rPr dirty="0"/>
              <a:t>Complete workflow for a single symbol through the MIP pipeline, showing every gate and decision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3756" y="1971955"/>
            <a:ext cx="9582912" cy="237744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3756" y="2258568"/>
            <a:ext cx="16276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3069F0"/>
                </a:solidFill>
              </a:defRPr>
            </a:pPr>
            <a:r>
              <a:t>1. Data Ingestion</a:t>
            </a:r>
          </a:p>
          <a:p>
            <a:pPr>
              <a:spcBef>
                <a:spcPts val="100"/>
              </a:spcBef>
              <a:defRPr sz="750">
                <a:solidFill>
                  <a:srgbClr val="1F2937"/>
                </a:solidFill>
              </a:defRPr>
            </a:pPr>
            <a:r>
              <a:t>IBKR Gateway fetches daily bars (OHLCV) for all universe symbols. Merged into MARKET_BARS.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3756" y="2258568"/>
            <a:ext cx="54864" cy="123444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evron 9"/>
          <p:cNvSpPr/>
          <p:nvPr/>
        </p:nvSpPr>
        <p:spPr>
          <a:xfrm>
            <a:off x="2564540" y="2729483"/>
            <a:ext cx="146304" cy="27432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83996" y="2258568"/>
            <a:ext cx="16276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3069F0"/>
                </a:solidFill>
              </a:defRPr>
            </a:pPr>
            <a:r>
              <a:t>2. Pattern Detection</a:t>
            </a:r>
          </a:p>
          <a:p>
            <a:pPr>
              <a:spcBef>
                <a:spcPts val="100"/>
              </a:spcBef>
              <a:defRPr sz="750">
                <a:solidFill>
                  <a:srgbClr val="1F2937"/>
                </a:solidFill>
              </a:defRPr>
            </a:pPr>
            <a:r>
              <a:t>Detectors fire for each pattern type: Momentum, Mean-Reversion, Bearish Momentum.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3996" y="2258568"/>
            <a:ext cx="54864" cy="123444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evron 12"/>
          <p:cNvSpPr/>
          <p:nvPr/>
        </p:nvSpPr>
        <p:spPr>
          <a:xfrm>
            <a:off x="4484780" y="2729483"/>
            <a:ext cx="146304" cy="27432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04236" y="2258568"/>
            <a:ext cx="16276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3069F0"/>
                </a:solidFill>
              </a:defRPr>
            </a:pPr>
            <a:r>
              <a:t>3. Signal Scoring</a:t>
            </a:r>
          </a:p>
          <a:p>
            <a:pPr>
              <a:spcBef>
                <a:spcPts val="100"/>
              </a:spcBef>
              <a:defRPr sz="750">
                <a:solidFill>
                  <a:srgbClr val="1F2937"/>
                </a:solidFill>
              </a:defRPr>
            </a:pPr>
            <a:r>
              <a:t>Each signal scored and logged to RECOMMENDATION_LOG with pattern details and deviation metrics.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4236" y="2258568"/>
            <a:ext cx="54864" cy="123444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hevron 15"/>
          <p:cNvSpPr/>
          <p:nvPr/>
        </p:nvSpPr>
        <p:spPr>
          <a:xfrm>
            <a:off x="6405020" y="2729483"/>
            <a:ext cx="146304" cy="27432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24476" y="2258568"/>
            <a:ext cx="16276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3069F0"/>
                </a:solidFill>
              </a:defRPr>
            </a:pPr>
            <a:r>
              <a:t>4. Outcome Evaluation</a:t>
            </a:r>
          </a:p>
          <a:p>
            <a:pPr>
              <a:spcBef>
                <a:spcPts val="100"/>
              </a:spcBef>
              <a:defRPr sz="750">
                <a:solidFill>
                  <a:srgbClr val="1F2937"/>
                </a:solidFill>
              </a:defRPr>
            </a:pPr>
            <a:r>
              <a:t>Realized returns measured at H1, H3, H5, H10, H20 bars. Hit rates and avg returns computed.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4476" y="2258568"/>
            <a:ext cx="54864" cy="123444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8325260" y="2729483"/>
            <a:ext cx="146304" cy="27432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544716" y="2258568"/>
            <a:ext cx="190195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5. Trust Gating</a:t>
            </a:r>
          </a:p>
          <a:p>
            <a:pPr>
              <a:spcBef>
                <a:spcPts val="100"/>
              </a:spcBef>
              <a:defRPr sz="750">
                <a:solidFill>
                  <a:srgbClr val="1F2937"/>
                </a:solidFill>
              </a:defRPr>
            </a:pPr>
            <a:r>
              <a:t>Pattern/symbol passes if: hit rate &gt;= threshold, avg return &gt;= min, sample size sufficient. Trust label: TRUSTED / UNTRUSTED.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4716" y="2258568"/>
            <a:ext cx="54864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9371610" y="3539416"/>
            <a:ext cx="274320" cy="172360"/>
          </a:xfrm>
          <a:prstGeom prst="downArrow">
            <a:avLst/>
          </a:prstGeom>
          <a:solidFill>
            <a:srgbClr val="B7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783996" y="3730064"/>
            <a:ext cx="7673487" cy="237744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DECISIONS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4716" y="3995928"/>
            <a:ext cx="190195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6. Proposal Filter</a:t>
            </a:r>
          </a:p>
          <a:p>
            <a:pPr>
              <a:spcBef>
                <a:spcPts val="100"/>
              </a:spcBef>
              <a:defRPr sz="750">
                <a:solidFill>
                  <a:srgbClr val="1F2937"/>
                </a:solidFill>
              </a:defRPr>
            </a:pPr>
            <a:r>
              <a:t>Only MOMENTUM + MEAN_REV BULLISH pass. Bearish Momentum and Mean-Rev Bearish blocked from proposals.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44716" y="3995928"/>
            <a:ext cx="54864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hevron 25"/>
          <p:cNvSpPr/>
          <p:nvPr/>
        </p:nvSpPr>
        <p:spPr>
          <a:xfrm rot="10800000">
            <a:off x="8325260" y="4466844"/>
            <a:ext cx="146304" cy="27432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624476" y="3995928"/>
            <a:ext cx="16276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925F00"/>
                </a:solidFill>
              </a:defRPr>
            </a:pPr>
            <a:r>
              <a:t>7. Conflict Check</a:t>
            </a:r>
          </a:p>
          <a:p>
            <a:pPr>
              <a:spcBef>
                <a:spcPts val="100"/>
              </a:spcBef>
              <a:defRPr sz="750">
                <a:solidFill>
                  <a:srgbClr val="1F2937"/>
                </a:solidFill>
              </a:defRPr>
            </a:pPr>
            <a:r>
              <a:t>Query if Bearish Momentum or Mean-Rev Bearish fired for same symbol/TS. Warn committee.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4476" y="3995928"/>
            <a:ext cx="54864" cy="1234440"/>
          </a:xfrm>
          <a:prstGeom prst="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hevron 28"/>
          <p:cNvSpPr/>
          <p:nvPr/>
        </p:nvSpPr>
        <p:spPr>
          <a:xfrm rot="10800000">
            <a:off x="6405020" y="4466844"/>
            <a:ext cx="146304" cy="27432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704236" y="3995928"/>
            <a:ext cx="16276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6A1B9A"/>
                </a:solidFill>
              </a:defRPr>
            </a:pPr>
            <a:r>
              <a:t>8. Sim Committee</a:t>
            </a:r>
          </a:p>
          <a:p>
            <a:pPr>
              <a:spcBef>
                <a:spcPts val="100"/>
              </a:spcBef>
              <a:defRPr sz="750">
                <a:solidFill>
                  <a:srgbClr val="1F2937"/>
                </a:solidFill>
              </a:defRPr>
            </a:pPr>
            <a:r>
              <a:t>LLM evaluates: should_enter, size_factor, stop_loss_pct, target_return, hold_bars. Pattern-type-aware SL/TP guidance.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4236" y="3995928"/>
            <a:ext cx="54864" cy="12344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hevron 31"/>
          <p:cNvSpPr/>
          <p:nvPr/>
        </p:nvSpPr>
        <p:spPr>
          <a:xfrm rot="10800000">
            <a:off x="4484780" y="4466844"/>
            <a:ext cx="146304" cy="27432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63756" y="3712464"/>
            <a:ext cx="1627632" cy="23774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EXECUTION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83996" y="3995928"/>
            <a:ext cx="16276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6A1B9A"/>
                </a:solidFill>
              </a:defRPr>
            </a:pPr>
            <a:r>
              <a:rPr dirty="0"/>
              <a:t>9. Live Committee</a:t>
            </a:r>
          </a:p>
          <a:p>
            <a:pPr>
              <a:spcBef>
                <a:spcPts val="100"/>
              </a:spcBef>
              <a:defRPr sz="750">
                <a:solidFill>
                  <a:srgbClr val="1F2937"/>
                </a:solidFill>
              </a:defRPr>
            </a:pPr>
            <a:r>
              <a:rPr dirty="0"/>
              <a:t>6</a:t>
            </a:r>
            <a:r>
              <a:rPr lang="de-DE" dirty="0"/>
              <a:t> LLM </a:t>
            </a:r>
            <a:r>
              <a:rPr dirty="0"/>
              <a:t>agent roundtable with real-time pricing. Recalculates SL/TP based on current price. Final go/no-go.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3996" y="3995928"/>
            <a:ext cx="54864" cy="12344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hevron 35"/>
          <p:cNvSpPr/>
          <p:nvPr/>
        </p:nvSpPr>
        <p:spPr>
          <a:xfrm rot="10800000">
            <a:off x="2564540" y="4466844"/>
            <a:ext cx="146304" cy="27432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63756" y="3995928"/>
            <a:ext cx="16276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00796B"/>
                </a:solidFill>
              </a:defRPr>
            </a:pPr>
            <a:r>
              <a:t>10. Trade Execution</a:t>
            </a:r>
          </a:p>
          <a:p>
            <a:pPr>
              <a:spcBef>
                <a:spcPts val="100"/>
              </a:spcBef>
              <a:defRPr sz="750">
                <a:solidFill>
                  <a:srgbClr val="1F2937"/>
                </a:solidFill>
              </a:defRPr>
            </a:pPr>
            <a:r>
              <a:t>IBKR bracket order placed: parent + TP leg + SL leg. Position tracked with SL/TP stored.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3756" y="3995928"/>
            <a:ext cx="54864" cy="123444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53932" y="5663380"/>
            <a:ext cx="9603551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ONGOING: Exit Signal Monitoring</a:t>
            </a:r>
          </a:p>
          <a:p>
            <a:pPr>
              <a:spcBef>
                <a:spcPts val="0"/>
              </a:spcBef>
              <a:defRPr sz="800">
                <a:solidFill>
                  <a:srgbClr val="CBD5E1"/>
                </a:solidFill>
              </a:defRPr>
            </a:pPr>
            <a:r>
              <a:t>  Bearish Momentum + Mean-Rev Bearish signals surfaced on Live Activity for held positions</a:t>
            </a:r>
          </a:p>
          <a:p>
            <a:pPr>
              <a:spcBef>
                <a:spcPts val="0"/>
              </a:spcBef>
              <a:defRPr sz="800">
                <a:solidFill>
                  <a:srgbClr val="CBD5E1"/>
                </a:solidFill>
              </a:defRPr>
            </a:pPr>
            <a:r>
              <a:t>  Committee can trigger early exit based on deteriorating thesis</a:t>
            </a:r>
          </a:p>
          <a:p>
            <a:pPr>
              <a:spcBef>
                <a:spcPts val="0"/>
              </a:spcBef>
              <a:defRPr sz="800">
                <a:solidFill>
                  <a:srgbClr val="CBD5E1"/>
                </a:solidFill>
              </a:defRPr>
            </a:pPr>
            <a:r>
              <a:t>  Payoff/giveback heuristics + crystallize at episode profit target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3932" y="5673213"/>
            <a:ext cx="46282" cy="8686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| Ingestion -&gt; Evidence -&gt; Decision -&gt; Trade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DD6EEF-0188-1AAF-628A-1ACA0E3F931B}"/>
              </a:ext>
            </a:extLst>
          </p:cNvPr>
          <p:cNvSpPr txBox="1"/>
          <p:nvPr/>
        </p:nvSpPr>
        <p:spPr>
          <a:xfrm>
            <a:off x="4025098" y="5263700"/>
            <a:ext cx="11512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B7A"/>
                </a:solidFill>
              </a:defRPr>
            </a:pPr>
            <a:r>
              <a:rPr lang="de-DE" sz="1000" dirty="0"/>
              <a:t>Human in </a:t>
            </a:r>
            <a:r>
              <a:rPr lang="de-DE" sz="1000" dirty="0" err="1"/>
              <a:t>the</a:t>
            </a:r>
            <a:r>
              <a:rPr lang="de-DE" sz="1000" dirty="0"/>
              <a:t> loop</a:t>
            </a:r>
            <a:endParaRPr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327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Kenneth Jebjerg</cp:lastModifiedBy>
  <cp:revision>2</cp:revision>
  <dcterms:created xsi:type="dcterms:W3CDTF">2013-01-27T09:14:16Z</dcterms:created>
  <dcterms:modified xsi:type="dcterms:W3CDTF">2026-03-22T10:44:14Z</dcterms:modified>
  <cp:category/>
</cp:coreProperties>
</file>