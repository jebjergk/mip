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83" r:id="rId2"/>
    <p:sldId id="257" r:id="rId3"/>
    <p:sldId id="269" r:id="rId4"/>
    <p:sldId id="271" r:id="rId5"/>
    <p:sldId id="259" r:id="rId6"/>
    <p:sldId id="260" r:id="rId7"/>
    <p:sldId id="261" r:id="rId8"/>
    <p:sldId id="262" r:id="rId9"/>
    <p:sldId id="263" r:id="rId10"/>
    <p:sldId id="265" r:id="rId11"/>
    <p:sldId id="266" r:id="rId12"/>
    <p:sldId id="268" r:id="rId13"/>
    <p:sldId id="272" r:id="rId14"/>
    <p:sldId id="267" r:id="rId15"/>
    <p:sldId id="273" r:id="rId16"/>
    <p:sldId id="275" r:id="rId17"/>
    <p:sldId id="276" r:id="rId18"/>
    <p:sldId id="278" r:id="rId19"/>
    <p:sldId id="279" r:id="rId20"/>
    <p:sldId id="280" r:id="rId21"/>
    <p:sldId id="281" r:id="rId22"/>
    <p:sldId id="282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7" d="100"/>
          <a:sy n="97" d="100"/>
        </p:scale>
        <p:origin x="1074" y="30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nneth Jebjerg" userId="31b26a954995a5e4" providerId="LiveId" clId="{FB9E2242-EB45-4C40-9CD8-7B1EDA37FE0A}"/>
    <pc:docChg chg="undo custSel addSld delSld modSld sldOrd">
      <pc:chgData name="Kenneth Jebjerg" userId="31b26a954995a5e4" providerId="LiveId" clId="{FB9E2242-EB45-4C40-9CD8-7B1EDA37FE0A}" dt="2026-04-04T12:04:53.176" v="382" actId="20577"/>
      <pc:docMkLst>
        <pc:docMk/>
      </pc:docMkLst>
      <pc:sldChg chg="modSp mod">
        <pc:chgData name="Kenneth Jebjerg" userId="31b26a954995a5e4" providerId="LiveId" clId="{FB9E2242-EB45-4C40-9CD8-7B1EDA37FE0A}" dt="2026-03-20T08:54:53.765" v="79" actId="167"/>
        <pc:sldMkLst>
          <pc:docMk/>
          <pc:sldMk cId="0" sldId="257"/>
        </pc:sldMkLst>
        <pc:spChg chg="mod ord">
          <ac:chgData name="Kenneth Jebjerg" userId="31b26a954995a5e4" providerId="LiveId" clId="{FB9E2242-EB45-4C40-9CD8-7B1EDA37FE0A}" dt="2026-03-20T08:54:53.765" v="79" actId="167"/>
          <ac:spMkLst>
            <pc:docMk/>
            <pc:sldMk cId="0" sldId="257"/>
            <ac:spMk id="2" creationId="{00000000-0000-0000-0000-000000000000}"/>
          </ac:spMkLst>
        </pc:spChg>
      </pc:sldChg>
      <pc:sldChg chg="ord">
        <pc:chgData name="Kenneth Jebjerg" userId="31b26a954995a5e4" providerId="LiveId" clId="{FB9E2242-EB45-4C40-9CD8-7B1EDA37FE0A}" dt="2026-03-20T08:27:15.029" v="2"/>
        <pc:sldMkLst>
          <pc:docMk/>
          <pc:sldMk cId="0" sldId="265"/>
        </pc:sldMkLst>
      </pc:sldChg>
      <pc:sldChg chg="modSp mod ord">
        <pc:chgData name="Kenneth Jebjerg" userId="31b26a954995a5e4" providerId="LiveId" clId="{FB9E2242-EB45-4C40-9CD8-7B1EDA37FE0A}" dt="2026-03-20T08:30:57.517" v="5" actId="14100"/>
        <pc:sldMkLst>
          <pc:docMk/>
          <pc:sldMk cId="0" sldId="266"/>
        </pc:sldMkLst>
        <pc:spChg chg="mod">
          <ac:chgData name="Kenneth Jebjerg" userId="31b26a954995a5e4" providerId="LiveId" clId="{FB9E2242-EB45-4C40-9CD8-7B1EDA37FE0A}" dt="2026-03-20T08:30:57.517" v="5" actId="14100"/>
          <ac:spMkLst>
            <pc:docMk/>
            <pc:sldMk cId="0" sldId="266"/>
            <ac:spMk id="20" creationId="{00000000-0000-0000-0000-000000000000}"/>
          </ac:spMkLst>
        </pc:spChg>
      </pc:sldChg>
      <pc:sldChg chg="ord">
        <pc:chgData name="Kenneth Jebjerg" userId="31b26a954995a5e4" providerId="LiveId" clId="{FB9E2242-EB45-4C40-9CD8-7B1EDA37FE0A}" dt="2026-03-20T08:33:28.568" v="7"/>
        <pc:sldMkLst>
          <pc:docMk/>
          <pc:sldMk cId="0" sldId="267"/>
        </pc:sldMkLst>
      </pc:sldChg>
      <pc:sldChg chg="modSp mod ord">
        <pc:chgData name="Kenneth Jebjerg" userId="31b26a954995a5e4" providerId="LiveId" clId="{FB9E2242-EB45-4C40-9CD8-7B1EDA37FE0A}" dt="2026-03-20T08:46:47.615" v="31"/>
        <pc:sldMkLst>
          <pc:docMk/>
          <pc:sldMk cId="0" sldId="268"/>
        </pc:sldMkLst>
        <pc:spChg chg="mod">
          <ac:chgData name="Kenneth Jebjerg" userId="31b26a954995a5e4" providerId="LiveId" clId="{FB9E2242-EB45-4C40-9CD8-7B1EDA37FE0A}" dt="2026-03-20T08:37:52.859" v="12" actId="14100"/>
          <ac:spMkLst>
            <pc:docMk/>
            <pc:sldMk cId="0" sldId="268"/>
            <ac:spMk id="7" creationId="{00000000-0000-0000-0000-000000000000}"/>
          </ac:spMkLst>
        </pc:spChg>
        <pc:spChg chg="mod">
          <ac:chgData name="Kenneth Jebjerg" userId="31b26a954995a5e4" providerId="LiveId" clId="{FB9E2242-EB45-4C40-9CD8-7B1EDA37FE0A}" dt="2026-03-20T08:38:05.941" v="14" actId="14100"/>
          <ac:spMkLst>
            <pc:docMk/>
            <pc:sldMk cId="0" sldId="268"/>
            <ac:spMk id="10" creationId="{00000000-0000-0000-0000-000000000000}"/>
          </ac:spMkLst>
        </pc:spChg>
        <pc:spChg chg="mod">
          <ac:chgData name="Kenneth Jebjerg" userId="31b26a954995a5e4" providerId="LiveId" clId="{FB9E2242-EB45-4C40-9CD8-7B1EDA37FE0A}" dt="2026-03-20T08:37:49.243" v="11" actId="14100"/>
          <ac:spMkLst>
            <pc:docMk/>
            <pc:sldMk cId="0" sldId="268"/>
            <ac:spMk id="13" creationId="{00000000-0000-0000-0000-000000000000}"/>
          </ac:spMkLst>
        </pc:spChg>
        <pc:spChg chg="mod">
          <ac:chgData name="Kenneth Jebjerg" userId="31b26a954995a5e4" providerId="LiveId" clId="{FB9E2242-EB45-4C40-9CD8-7B1EDA37FE0A}" dt="2026-03-20T08:38:51.748" v="21" actId="14"/>
          <ac:spMkLst>
            <pc:docMk/>
            <pc:sldMk cId="0" sldId="268"/>
            <ac:spMk id="16" creationId="{00000000-0000-0000-0000-000000000000}"/>
          </ac:spMkLst>
        </pc:spChg>
        <pc:spChg chg="mod">
          <ac:chgData name="Kenneth Jebjerg" userId="31b26a954995a5e4" providerId="LiveId" clId="{FB9E2242-EB45-4C40-9CD8-7B1EDA37FE0A}" dt="2026-03-20T08:37:44.546" v="10" actId="14100"/>
          <ac:spMkLst>
            <pc:docMk/>
            <pc:sldMk cId="0" sldId="268"/>
            <ac:spMk id="19" creationId="{00000000-0000-0000-0000-000000000000}"/>
          </ac:spMkLst>
        </pc:spChg>
        <pc:spChg chg="mod">
          <ac:chgData name="Kenneth Jebjerg" userId="31b26a954995a5e4" providerId="LiveId" clId="{FB9E2242-EB45-4C40-9CD8-7B1EDA37FE0A}" dt="2026-03-20T08:39:31.196" v="22" actId="207"/>
          <ac:spMkLst>
            <pc:docMk/>
            <pc:sldMk cId="0" sldId="268"/>
            <ac:spMk id="22" creationId="{00000000-0000-0000-0000-000000000000}"/>
          </ac:spMkLst>
        </pc:spChg>
        <pc:spChg chg="mod">
          <ac:chgData name="Kenneth Jebjerg" userId="31b26a954995a5e4" providerId="LiveId" clId="{FB9E2242-EB45-4C40-9CD8-7B1EDA37FE0A}" dt="2026-03-20T08:37:34.495" v="9" actId="14100"/>
          <ac:spMkLst>
            <pc:docMk/>
            <pc:sldMk cId="0" sldId="268"/>
            <ac:spMk id="25" creationId="{00000000-0000-0000-0000-000000000000}"/>
          </ac:spMkLst>
        </pc:spChg>
        <pc:spChg chg="mod">
          <ac:chgData name="Kenneth Jebjerg" userId="31b26a954995a5e4" providerId="LiveId" clId="{FB9E2242-EB45-4C40-9CD8-7B1EDA37FE0A}" dt="2026-03-20T08:38:28.831" v="18" actId="14100"/>
          <ac:spMkLst>
            <pc:docMk/>
            <pc:sldMk cId="0" sldId="268"/>
            <ac:spMk id="28" creationId="{00000000-0000-0000-0000-000000000000}"/>
          </ac:spMkLst>
        </pc:spChg>
        <pc:spChg chg="mod">
          <ac:chgData name="Kenneth Jebjerg" userId="31b26a954995a5e4" providerId="LiveId" clId="{FB9E2242-EB45-4C40-9CD8-7B1EDA37FE0A}" dt="2026-03-20T08:37:58.602" v="13" actId="14100"/>
          <ac:spMkLst>
            <pc:docMk/>
            <pc:sldMk cId="0" sldId="268"/>
            <ac:spMk id="31" creationId="{00000000-0000-0000-0000-000000000000}"/>
          </ac:spMkLst>
        </pc:spChg>
        <pc:spChg chg="mod">
          <ac:chgData name="Kenneth Jebjerg" userId="31b26a954995a5e4" providerId="LiveId" clId="{FB9E2242-EB45-4C40-9CD8-7B1EDA37FE0A}" dt="2026-03-20T08:38:33.496" v="19" actId="14100"/>
          <ac:spMkLst>
            <pc:docMk/>
            <pc:sldMk cId="0" sldId="268"/>
            <ac:spMk id="34" creationId="{00000000-0000-0000-0000-000000000000}"/>
          </ac:spMkLst>
        </pc:spChg>
      </pc:sldChg>
      <pc:sldChg chg="modSp add mod">
        <pc:chgData name="Kenneth Jebjerg" userId="31b26a954995a5e4" providerId="LiveId" clId="{FB9E2242-EB45-4C40-9CD8-7B1EDA37FE0A}" dt="2026-03-20T09:09:08.630" v="130" actId="12"/>
        <pc:sldMkLst>
          <pc:docMk/>
          <pc:sldMk cId="1307380383" sldId="269"/>
        </pc:sldMkLst>
        <pc:spChg chg="mod">
          <ac:chgData name="Kenneth Jebjerg" userId="31b26a954995a5e4" providerId="LiveId" clId="{FB9E2242-EB45-4C40-9CD8-7B1EDA37FE0A}" dt="2026-03-20T09:08:19.980" v="100" actId="6549"/>
          <ac:spMkLst>
            <pc:docMk/>
            <pc:sldMk cId="1307380383" sldId="269"/>
            <ac:spMk id="18" creationId="{00000000-0000-0000-0000-000000000000}"/>
          </ac:spMkLst>
        </pc:spChg>
        <pc:spChg chg="mod">
          <ac:chgData name="Kenneth Jebjerg" userId="31b26a954995a5e4" providerId="LiveId" clId="{FB9E2242-EB45-4C40-9CD8-7B1EDA37FE0A}" dt="2026-03-20T09:08:45.227" v="115" actId="12"/>
          <ac:spMkLst>
            <pc:docMk/>
            <pc:sldMk cId="1307380383" sldId="269"/>
            <ac:spMk id="20" creationId="{00000000-0000-0000-0000-000000000000}"/>
          </ac:spMkLst>
        </pc:spChg>
        <pc:spChg chg="mod">
          <ac:chgData name="Kenneth Jebjerg" userId="31b26a954995a5e4" providerId="LiveId" clId="{FB9E2242-EB45-4C40-9CD8-7B1EDA37FE0A}" dt="2026-03-20T09:09:08.630" v="130" actId="12"/>
          <ac:spMkLst>
            <pc:docMk/>
            <pc:sldMk cId="1307380383" sldId="269"/>
            <ac:spMk id="22" creationId="{00000000-0000-0000-0000-000000000000}"/>
          </ac:spMkLst>
        </pc:spChg>
      </pc:sldChg>
      <pc:sldChg chg="add setBg">
        <pc:chgData name="Kenneth Jebjerg" userId="31b26a954995a5e4" providerId="LiveId" clId="{FB9E2242-EB45-4C40-9CD8-7B1EDA37FE0A}" dt="2026-03-20T08:37:03.007" v="8"/>
        <pc:sldMkLst>
          <pc:docMk/>
          <pc:sldMk cId="0" sldId="272"/>
        </pc:sldMkLst>
      </pc:sldChg>
      <pc:sldChg chg="add setBg">
        <pc:chgData name="Kenneth Jebjerg" userId="31b26a954995a5e4" providerId="LiveId" clId="{FB9E2242-EB45-4C40-9CD8-7B1EDA37FE0A}" dt="2026-03-20T08:40:24.973" v="23"/>
        <pc:sldMkLst>
          <pc:docMk/>
          <pc:sldMk cId="0" sldId="273"/>
        </pc:sldMkLst>
      </pc:sldChg>
      <pc:sldChg chg="add setBg">
        <pc:chgData name="Kenneth Jebjerg" userId="31b26a954995a5e4" providerId="LiveId" clId="{FB9E2242-EB45-4C40-9CD8-7B1EDA37FE0A}" dt="2026-03-20T08:41:31.425" v="26"/>
        <pc:sldMkLst>
          <pc:docMk/>
          <pc:sldMk cId="0" sldId="275"/>
        </pc:sldMkLst>
      </pc:sldChg>
      <pc:sldChg chg="add setBg">
        <pc:chgData name="Kenneth Jebjerg" userId="31b26a954995a5e4" providerId="LiveId" clId="{FB9E2242-EB45-4C40-9CD8-7B1EDA37FE0A}" dt="2026-03-20T08:41:49.130" v="28"/>
        <pc:sldMkLst>
          <pc:docMk/>
          <pc:sldMk cId="0" sldId="276"/>
        </pc:sldMkLst>
      </pc:sldChg>
      <pc:sldChg chg="add setBg">
        <pc:chgData name="Kenneth Jebjerg" userId="31b26a954995a5e4" providerId="LiveId" clId="{FB9E2242-EB45-4C40-9CD8-7B1EDA37FE0A}" dt="2026-03-20T08:47:53.026" v="33"/>
        <pc:sldMkLst>
          <pc:docMk/>
          <pc:sldMk cId="0" sldId="278"/>
        </pc:sldMkLst>
      </pc:sldChg>
      <pc:sldChg chg="modSp add mod setBg">
        <pc:chgData name="Kenneth Jebjerg" userId="31b26a954995a5e4" providerId="LiveId" clId="{FB9E2242-EB45-4C40-9CD8-7B1EDA37FE0A}" dt="2026-03-20T10:20:55.555" v="348" actId="6549"/>
        <pc:sldMkLst>
          <pc:docMk/>
          <pc:sldMk cId="0" sldId="279"/>
        </pc:sldMkLst>
        <pc:spChg chg="mod">
          <ac:chgData name="Kenneth Jebjerg" userId="31b26a954995a5e4" providerId="LiveId" clId="{FB9E2242-EB45-4C40-9CD8-7B1EDA37FE0A}" dt="2026-03-20T10:20:10.146" v="318" actId="6549"/>
          <ac:spMkLst>
            <pc:docMk/>
            <pc:sldMk cId="0" sldId="279"/>
            <ac:spMk id="7" creationId="{00000000-0000-0000-0000-000000000000}"/>
          </ac:spMkLst>
        </pc:spChg>
        <pc:spChg chg="mod">
          <ac:chgData name="Kenneth Jebjerg" userId="31b26a954995a5e4" providerId="LiveId" clId="{FB9E2242-EB45-4C40-9CD8-7B1EDA37FE0A}" dt="2026-03-20T10:20:26.740" v="328" actId="6549"/>
          <ac:spMkLst>
            <pc:docMk/>
            <pc:sldMk cId="0" sldId="279"/>
            <ac:spMk id="9" creationId="{00000000-0000-0000-0000-000000000000}"/>
          </ac:spMkLst>
        </pc:spChg>
        <pc:spChg chg="mod">
          <ac:chgData name="Kenneth Jebjerg" userId="31b26a954995a5e4" providerId="LiveId" clId="{FB9E2242-EB45-4C40-9CD8-7B1EDA37FE0A}" dt="2026-03-20T10:20:40.827" v="338" actId="6549"/>
          <ac:spMkLst>
            <pc:docMk/>
            <pc:sldMk cId="0" sldId="279"/>
            <ac:spMk id="11" creationId="{00000000-0000-0000-0000-000000000000}"/>
          </ac:spMkLst>
        </pc:spChg>
        <pc:spChg chg="mod">
          <ac:chgData name="Kenneth Jebjerg" userId="31b26a954995a5e4" providerId="LiveId" clId="{FB9E2242-EB45-4C40-9CD8-7B1EDA37FE0A}" dt="2026-03-20T10:20:55.555" v="348" actId="6549"/>
          <ac:spMkLst>
            <pc:docMk/>
            <pc:sldMk cId="0" sldId="279"/>
            <ac:spMk id="13" creationId="{00000000-0000-0000-0000-000000000000}"/>
          </ac:spMkLst>
        </pc:spChg>
      </pc:sldChg>
      <pc:sldChg chg="modSp add mod setBg">
        <pc:chgData name="Kenneth Jebjerg" userId="31b26a954995a5e4" providerId="LiveId" clId="{FB9E2242-EB45-4C40-9CD8-7B1EDA37FE0A}" dt="2026-03-20T10:18:07.888" v="308" actId="14100"/>
        <pc:sldMkLst>
          <pc:docMk/>
          <pc:sldMk cId="0" sldId="280"/>
        </pc:sldMkLst>
        <pc:spChg chg="mod">
          <ac:chgData name="Kenneth Jebjerg" userId="31b26a954995a5e4" providerId="LiveId" clId="{FB9E2242-EB45-4C40-9CD8-7B1EDA37FE0A}" dt="2026-03-20T10:17:24.396" v="265" actId="14100"/>
          <ac:spMkLst>
            <pc:docMk/>
            <pc:sldMk cId="0" sldId="280"/>
            <ac:spMk id="7" creationId="{00000000-0000-0000-0000-000000000000}"/>
          </ac:spMkLst>
        </pc:spChg>
        <pc:spChg chg="mod">
          <ac:chgData name="Kenneth Jebjerg" userId="31b26a954995a5e4" providerId="LiveId" clId="{FB9E2242-EB45-4C40-9CD8-7B1EDA37FE0A}" dt="2026-03-20T10:17:20.507" v="264" actId="14100"/>
          <ac:spMkLst>
            <pc:docMk/>
            <pc:sldMk cId="0" sldId="280"/>
            <ac:spMk id="9" creationId="{00000000-0000-0000-0000-000000000000}"/>
          </ac:spMkLst>
        </pc:spChg>
        <pc:spChg chg="mod">
          <ac:chgData name="Kenneth Jebjerg" userId="31b26a954995a5e4" providerId="LiveId" clId="{FB9E2242-EB45-4C40-9CD8-7B1EDA37FE0A}" dt="2026-03-20T10:17:30.847" v="266" actId="14100"/>
          <ac:spMkLst>
            <pc:docMk/>
            <pc:sldMk cId="0" sldId="280"/>
            <ac:spMk id="11" creationId="{00000000-0000-0000-0000-000000000000}"/>
          </ac:spMkLst>
        </pc:spChg>
        <pc:spChg chg="mod">
          <ac:chgData name="Kenneth Jebjerg" userId="31b26a954995a5e4" providerId="LiveId" clId="{FB9E2242-EB45-4C40-9CD8-7B1EDA37FE0A}" dt="2026-03-20T10:17:30.847" v="266" actId="14100"/>
          <ac:spMkLst>
            <pc:docMk/>
            <pc:sldMk cId="0" sldId="280"/>
            <ac:spMk id="13" creationId="{00000000-0000-0000-0000-000000000000}"/>
          </ac:spMkLst>
        </pc:spChg>
        <pc:spChg chg="mod">
          <ac:chgData name="Kenneth Jebjerg" userId="31b26a954995a5e4" providerId="LiveId" clId="{FB9E2242-EB45-4C40-9CD8-7B1EDA37FE0A}" dt="2026-03-20T10:17:43.094" v="305" actId="1038"/>
          <ac:spMkLst>
            <pc:docMk/>
            <pc:sldMk cId="0" sldId="280"/>
            <ac:spMk id="15" creationId="{00000000-0000-0000-0000-000000000000}"/>
          </ac:spMkLst>
        </pc:spChg>
        <pc:spChg chg="mod">
          <ac:chgData name="Kenneth Jebjerg" userId="31b26a954995a5e4" providerId="LiveId" clId="{FB9E2242-EB45-4C40-9CD8-7B1EDA37FE0A}" dt="2026-03-20T10:17:43.094" v="305" actId="1038"/>
          <ac:spMkLst>
            <pc:docMk/>
            <pc:sldMk cId="0" sldId="280"/>
            <ac:spMk id="16" creationId="{00000000-0000-0000-0000-000000000000}"/>
          </ac:spMkLst>
        </pc:spChg>
        <pc:spChg chg="mod">
          <ac:chgData name="Kenneth Jebjerg" userId="31b26a954995a5e4" providerId="LiveId" clId="{FB9E2242-EB45-4C40-9CD8-7B1EDA37FE0A}" dt="2026-03-20T10:17:43.094" v="305" actId="1038"/>
          <ac:spMkLst>
            <pc:docMk/>
            <pc:sldMk cId="0" sldId="280"/>
            <ac:spMk id="17" creationId="{00000000-0000-0000-0000-000000000000}"/>
          </ac:spMkLst>
        </pc:spChg>
        <pc:spChg chg="mod">
          <ac:chgData name="Kenneth Jebjerg" userId="31b26a954995a5e4" providerId="LiveId" clId="{FB9E2242-EB45-4C40-9CD8-7B1EDA37FE0A}" dt="2026-03-20T10:18:07.888" v="308" actId="14100"/>
          <ac:spMkLst>
            <pc:docMk/>
            <pc:sldMk cId="0" sldId="280"/>
            <ac:spMk id="18" creationId="{00000000-0000-0000-0000-000000000000}"/>
          </ac:spMkLst>
        </pc:spChg>
      </pc:sldChg>
      <pc:sldChg chg="modSp add mod setBg">
        <pc:chgData name="Kenneth Jebjerg" userId="31b26a954995a5e4" providerId="LiveId" clId="{FB9E2242-EB45-4C40-9CD8-7B1EDA37FE0A}" dt="2026-03-20T10:15:41.913" v="257" actId="14100"/>
        <pc:sldMkLst>
          <pc:docMk/>
          <pc:sldMk cId="0" sldId="281"/>
        </pc:sldMkLst>
        <pc:spChg chg="mod">
          <ac:chgData name="Kenneth Jebjerg" userId="31b26a954995a5e4" providerId="LiveId" clId="{FB9E2242-EB45-4C40-9CD8-7B1EDA37FE0A}" dt="2026-03-20T10:15:41.913" v="257" actId="14100"/>
          <ac:spMkLst>
            <pc:docMk/>
            <pc:sldMk cId="0" sldId="281"/>
            <ac:spMk id="7" creationId="{00000000-0000-0000-0000-000000000000}"/>
          </ac:spMkLst>
        </pc:spChg>
        <pc:spChg chg="mod">
          <ac:chgData name="Kenneth Jebjerg" userId="31b26a954995a5e4" providerId="LiveId" clId="{FB9E2242-EB45-4C40-9CD8-7B1EDA37FE0A}" dt="2026-03-20T10:15:05.435" v="193" actId="1035"/>
          <ac:spMkLst>
            <pc:docMk/>
            <pc:sldMk cId="0" sldId="281"/>
            <ac:spMk id="32" creationId="{00000000-0000-0000-0000-000000000000}"/>
          </ac:spMkLst>
        </pc:spChg>
        <pc:spChg chg="mod">
          <ac:chgData name="Kenneth Jebjerg" userId="31b26a954995a5e4" providerId="LiveId" clId="{FB9E2242-EB45-4C40-9CD8-7B1EDA37FE0A}" dt="2026-03-20T10:14:56.414" v="170" actId="1036"/>
          <ac:spMkLst>
            <pc:docMk/>
            <pc:sldMk cId="0" sldId="281"/>
            <ac:spMk id="33" creationId="{00000000-0000-0000-0000-000000000000}"/>
          </ac:spMkLst>
        </pc:spChg>
        <pc:spChg chg="mod">
          <ac:chgData name="Kenneth Jebjerg" userId="31b26a954995a5e4" providerId="LiveId" clId="{FB9E2242-EB45-4C40-9CD8-7B1EDA37FE0A}" dt="2026-03-20T10:14:51.674" v="156" actId="1036"/>
          <ac:spMkLst>
            <pc:docMk/>
            <pc:sldMk cId="0" sldId="281"/>
            <ac:spMk id="34" creationId="{00000000-0000-0000-0000-000000000000}"/>
          </ac:spMkLst>
        </pc:spChg>
        <pc:spChg chg="mod">
          <ac:chgData name="Kenneth Jebjerg" userId="31b26a954995a5e4" providerId="LiveId" clId="{FB9E2242-EB45-4C40-9CD8-7B1EDA37FE0A}" dt="2026-03-20T10:15:28.761" v="256" actId="1035"/>
          <ac:spMkLst>
            <pc:docMk/>
            <pc:sldMk cId="0" sldId="281"/>
            <ac:spMk id="35" creationId="{00000000-0000-0000-0000-000000000000}"/>
          </ac:spMkLst>
        </pc:spChg>
        <pc:spChg chg="mod">
          <ac:chgData name="Kenneth Jebjerg" userId="31b26a954995a5e4" providerId="LiveId" clId="{FB9E2242-EB45-4C40-9CD8-7B1EDA37FE0A}" dt="2026-03-20T10:15:28.761" v="256" actId="1035"/>
          <ac:spMkLst>
            <pc:docMk/>
            <pc:sldMk cId="0" sldId="281"/>
            <ac:spMk id="36" creationId="{00000000-0000-0000-0000-000000000000}"/>
          </ac:spMkLst>
        </pc:spChg>
        <pc:spChg chg="mod">
          <ac:chgData name="Kenneth Jebjerg" userId="31b26a954995a5e4" providerId="LiveId" clId="{FB9E2242-EB45-4C40-9CD8-7B1EDA37FE0A}" dt="2026-03-20T10:15:11.051" v="205" actId="1036"/>
          <ac:spMkLst>
            <pc:docMk/>
            <pc:sldMk cId="0" sldId="281"/>
            <ac:spMk id="37" creationId="{00000000-0000-0000-0000-000000000000}"/>
          </ac:spMkLst>
        </pc:spChg>
      </pc:sldChg>
      <pc:sldChg chg="modSp add mod setBg">
        <pc:chgData name="Kenneth Jebjerg" userId="31b26a954995a5e4" providerId="LiveId" clId="{FB9E2242-EB45-4C40-9CD8-7B1EDA37FE0A}" dt="2026-04-04T12:04:53.176" v="382" actId="20577"/>
        <pc:sldMkLst>
          <pc:docMk/>
          <pc:sldMk cId="0" sldId="282"/>
        </pc:sldMkLst>
        <pc:spChg chg="mod">
          <ac:chgData name="Kenneth Jebjerg" userId="31b26a954995a5e4" providerId="LiveId" clId="{FB9E2242-EB45-4C40-9CD8-7B1EDA37FE0A}" dt="2026-04-04T12:04:53.176" v="382" actId="20577"/>
          <ac:spMkLst>
            <pc:docMk/>
            <pc:sldMk cId="0" sldId="282"/>
            <ac:spMk id="67" creationId="{00000000-0000-0000-0000-000000000000}"/>
          </ac:spMkLst>
        </pc:spChg>
      </pc:sldChg>
      <pc:sldChg chg="addSp delSp modSp add del mod setBg">
        <pc:chgData name="Kenneth Jebjerg" userId="31b26a954995a5e4" providerId="LiveId" clId="{FB9E2242-EB45-4C40-9CD8-7B1EDA37FE0A}" dt="2026-03-20T09:03:30.604" v="85" actId="1076"/>
        <pc:sldMkLst>
          <pc:docMk/>
          <pc:sldMk cId="0" sldId="283"/>
        </pc:sldMkLst>
        <pc:spChg chg="add del">
          <ac:chgData name="Kenneth Jebjerg" userId="31b26a954995a5e4" providerId="LiveId" clId="{FB9E2242-EB45-4C40-9CD8-7B1EDA37FE0A}" dt="2026-03-20T08:51:39.038" v="43" actId="478"/>
          <ac:spMkLst>
            <pc:docMk/>
            <pc:sldMk cId="0" sldId="283"/>
            <ac:spMk id="3" creationId="{00000000-0000-0000-0000-000000000000}"/>
          </ac:spMkLst>
        </pc:spChg>
        <pc:spChg chg="mod">
          <ac:chgData name="Kenneth Jebjerg" userId="31b26a954995a5e4" providerId="LiveId" clId="{FB9E2242-EB45-4C40-9CD8-7B1EDA37FE0A}" dt="2026-03-20T09:03:30.604" v="85" actId="1076"/>
          <ac:spMkLst>
            <pc:docMk/>
            <pc:sldMk cId="0" sldId="283"/>
            <ac:spMk id="1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3F5B02-391E-4F5F-BD0B-5889F5D3F792}" type="datetimeFigureOut">
              <a:rPr lang="LID4096" smtClean="0"/>
              <a:t>04/04/2026</a:t>
            </a:fld>
            <a:endParaRPr lang="LID4096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349CFE-6462-4655-8857-F2824C78A6CC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8487042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095847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5847" y="0"/>
            <a:ext cx="6095847" cy="6858000"/>
          </a:xfrm>
          <a:prstGeom prst="rect">
            <a:avLst/>
          </a:prstGeom>
          <a:solidFill>
            <a:srgbClr val="1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22960" y="914400"/>
            <a:ext cx="137160" cy="4754880"/>
          </a:xfrm>
          <a:prstGeom prst="rect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88720" y="1097280"/>
            <a:ext cx="6858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rPr dirty="0"/>
              <a:t>Market Intelligence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1031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94A3B8"/>
                </a:solidFill>
              </a:defRPr>
            </a:pPr>
            <a:r>
              <a:t>Where Market Research Meets Intelligent Execution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1188720" y="2834640"/>
            <a:ext cx="2743200" cy="36576"/>
          </a:xfrm>
          <a:prstGeom prst="rect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88720" y="3108960"/>
            <a:ext cx="5943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BD5E1"/>
                </a:solidFill>
              </a:defRPr>
            </a:pPr>
            <a:r>
              <a:t>MIP is a Snowflake-native platform that fuses AI-driven</a:t>
            </a:r>
          </a:p>
          <a:p>
            <a:pPr>
              <a:spcBef>
                <a:spcPts val="400"/>
              </a:spcBef>
              <a:defRPr sz="1600">
                <a:solidFill>
                  <a:srgbClr val="CBD5E1"/>
                </a:solidFill>
              </a:defRPr>
            </a:pPr>
            <a:r>
              <a:t>market research with live broker-linked trading.</a:t>
            </a:r>
          </a:p>
          <a:p>
            <a:pPr>
              <a:spcBef>
                <a:spcPts val="400"/>
              </a:spcBef>
              <a:defRPr sz="1600">
                <a:solidFill>
                  <a:srgbClr val="CBD5E1"/>
                </a:solidFill>
              </a:defRPr>
            </a:pPr>
            <a:endParaRPr/>
          </a:p>
          <a:p>
            <a:pPr>
              <a:spcBef>
                <a:spcPts val="400"/>
              </a:spcBef>
              <a:defRPr sz="1600">
                <a:solidFill>
                  <a:srgbClr val="CBD5E1"/>
                </a:solidFill>
              </a:defRPr>
            </a:pPr>
            <a:r>
              <a:t>Every trade is backed by evidence. Every decision is auditable.</a:t>
            </a:r>
          </a:p>
          <a:p>
            <a:pPr>
              <a:spcBef>
                <a:spcPts val="400"/>
              </a:spcBef>
              <a:defRPr sz="1600">
                <a:solidFill>
                  <a:srgbClr val="CBD5E1"/>
                </a:solidFill>
              </a:defRPr>
            </a:pPr>
            <a:r>
              <a:t>Every outcome feeds the next cycle of learning.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88720" y="5577840"/>
            <a:ext cx="1737360" cy="310896"/>
          </a:xfrm>
          <a:prstGeom prst="roundRect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RESEARCH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5577840"/>
            <a:ext cx="1737360" cy="310896"/>
          </a:xfrm>
          <a:prstGeom prst="round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DECISIONS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12080" y="5577840"/>
            <a:ext cx="1737360" cy="310896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EXECUTION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23760" y="5577840"/>
            <a:ext cx="1737360" cy="310896"/>
          </a:xfrm>
          <a:prstGeom prst="round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LEARNING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59774" y="1850431"/>
            <a:ext cx="3657600" cy="3157138"/>
          </a:xfrm>
          <a:prstGeom prst="roundRect">
            <a:avLst/>
          </a:prstGeom>
          <a:solidFill>
            <a:srgbClr val="142037"/>
          </a:solidFill>
          <a:ln>
            <a:solidFill>
              <a:srgbClr val="28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800" b="1">
                <a:solidFill>
                  <a:srgbClr val="E2E8F0"/>
                </a:solidFill>
              </a:defRPr>
            </a:pPr>
            <a:r>
              <a:rPr dirty="0"/>
              <a:t>Platform Highlights</a:t>
            </a:r>
          </a:p>
          <a:p>
            <a:pPr marL="171450" indent="-171450">
              <a:spcBef>
                <a:spcPts val="600"/>
              </a:spcBef>
              <a:buClr>
                <a:srgbClr val="0070C0"/>
              </a:buClr>
              <a:buFont typeface="Arial" panose="020B0604020202020204" pitchFamily="34" charset="0"/>
              <a:buChar char="•"/>
              <a:defRPr sz="1200">
                <a:solidFill>
                  <a:srgbClr val="B4C3D7"/>
                </a:solidFill>
              </a:defRPr>
            </a:pPr>
            <a:r>
              <a:rPr dirty="0"/>
              <a:t>AI committee reviews every trade proposal</a:t>
            </a:r>
          </a:p>
          <a:p>
            <a:pPr marL="171450" indent="-171450">
              <a:spcBef>
                <a:spcPts val="600"/>
              </a:spcBef>
              <a:buClr>
                <a:srgbClr val="0070C0"/>
              </a:buClr>
              <a:buFont typeface="Arial" panose="020B0604020202020204" pitchFamily="34" charset="0"/>
              <a:buChar char="•"/>
              <a:defRPr sz="1200">
                <a:solidFill>
                  <a:srgbClr val="B4C3D7"/>
                </a:solidFill>
              </a:defRPr>
            </a:pPr>
            <a:r>
              <a:rPr dirty="0"/>
              <a:t>Pattern-based signal detection across FX + equities</a:t>
            </a:r>
          </a:p>
          <a:p>
            <a:pPr marL="171450" indent="-171450">
              <a:spcBef>
                <a:spcPts val="600"/>
              </a:spcBef>
              <a:buClr>
                <a:srgbClr val="0070C0"/>
              </a:buClr>
              <a:buFont typeface="Arial" panose="020B0604020202020204" pitchFamily="34" charset="0"/>
              <a:buChar char="•"/>
              <a:defRPr sz="1200">
                <a:solidFill>
                  <a:srgbClr val="B4C3D7"/>
                </a:solidFill>
              </a:defRPr>
            </a:pPr>
            <a:r>
              <a:rPr dirty="0"/>
              <a:t>Parallel worlds test policy quality before risk</a:t>
            </a:r>
          </a:p>
          <a:p>
            <a:pPr marL="171450" indent="-171450">
              <a:spcBef>
                <a:spcPts val="600"/>
              </a:spcBef>
              <a:buClr>
                <a:srgbClr val="0070C0"/>
              </a:buClr>
              <a:buFont typeface="Arial" panose="020B0604020202020204" pitchFamily="34" charset="0"/>
              <a:buChar char="•"/>
              <a:defRPr sz="1200">
                <a:solidFill>
                  <a:srgbClr val="B4C3D7"/>
                </a:solidFill>
              </a:defRPr>
            </a:pPr>
            <a:r>
              <a:rPr dirty="0"/>
              <a:t>Live IBKR link with real-time position sync</a:t>
            </a:r>
          </a:p>
          <a:p>
            <a:pPr marL="171450" indent="-171450">
              <a:spcBef>
                <a:spcPts val="600"/>
              </a:spcBef>
              <a:buClr>
                <a:srgbClr val="0070C0"/>
              </a:buClr>
              <a:buFont typeface="Arial" panose="020B0604020202020204" pitchFamily="34" charset="0"/>
              <a:buChar char="•"/>
              <a:defRPr sz="1200">
                <a:solidFill>
                  <a:srgbClr val="B4C3D7"/>
                </a:solidFill>
              </a:defRPr>
            </a:pPr>
            <a:r>
              <a:rPr dirty="0"/>
              <a:t>News intelligence with bounded influence</a:t>
            </a:r>
          </a:p>
          <a:p>
            <a:pPr marL="171450" indent="-171450">
              <a:spcBef>
                <a:spcPts val="600"/>
              </a:spcBef>
              <a:buClr>
                <a:srgbClr val="0070C0"/>
              </a:buClr>
              <a:buFont typeface="Arial" panose="020B0604020202020204" pitchFamily="34" charset="0"/>
              <a:buChar char="•"/>
              <a:defRPr sz="1200">
                <a:solidFill>
                  <a:srgbClr val="B4C3D7"/>
                </a:solidFill>
              </a:defRPr>
            </a:pPr>
            <a:r>
              <a:rPr dirty="0"/>
              <a:t>Full audit trail from signal to settlement</a:t>
            </a:r>
          </a:p>
          <a:p>
            <a:pPr marL="171450" indent="-171450">
              <a:spcBef>
                <a:spcPts val="600"/>
              </a:spcBef>
              <a:buClr>
                <a:srgbClr val="0070C0"/>
              </a:buClr>
              <a:buFont typeface="Arial" panose="020B0604020202020204" pitchFamily="34" charset="0"/>
              <a:buChar char="•"/>
              <a:defRPr sz="1200">
                <a:solidFill>
                  <a:srgbClr val="B4C3D7"/>
                </a:solidFill>
              </a:defRPr>
            </a:pPr>
            <a:r>
              <a:rPr dirty="0"/>
              <a:t>Learning ledger closes the feedback loop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685800"/>
            <a:ext cx="12191695" cy="54864"/>
          </a:xfrm>
          <a:prstGeom prst="rect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875520" y="128016"/>
            <a:ext cx="2103120" cy="384048"/>
          </a:xfrm>
          <a:prstGeom prst="roundRect">
            <a:avLst/>
          </a:prstGeom>
          <a:solidFill>
            <a:srgbClr val="243047"/>
          </a:solidFill>
          <a:ln>
            <a:solidFill>
              <a:srgbClr val="306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1E9F6"/>
                </a:solidFill>
              </a:defRPr>
            </a:pPr>
            <a: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32688"/>
            <a:ext cx="8686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F172A"/>
                </a:solidFill>
              </a:defRPr>
            </a:pPr>
            <a:r>
              <a:t>The Big Picture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7276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5F6B7A"/>
                </a:solidFill>
              </a:defRPr>
            </a:pPr>
            <a:r>
              <a:t>MIP runs a continuous loop: observe the market, learn from it, decide, act, and learn from the outcome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920240"/>
            <a:ext cx="123444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F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34155"/>
                </a:solidFill>
              </a:defRPr>
            </a:pPr>
            <a:r>
              <a:t>Ingest</a:t>
            </a:r>
          </a:p>
        </p:txBody>
      </p:sp>
      <p:sp>
        <p:nvSpPr>
          <p:cNvPr id="8" name="Chevron 7"/>
          <p:cNvSpPr/>
          <p:nvPr/>
        </p:nvSpPr>
        <p:spPr>
          <a:xfrm>
            <a:off x="1618488" y="2103120"/>
            <a:ext cx="164592" cy="411480"/>
          </a:xfrm>
          <a:prstGeom prst="chevron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764792" y="1920240"/>
            <a:ext cx="123444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F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34155"/>
                </a:solidFill>
              </a:defRPr>
            </a:pPr>
            <a:r>
              <a:t>Detect</a:t>
            </a:r>
          </a:p>
        </p:txBody>
      </p:sp>
      <p:sp>
        <p:nvSpPr>
          <p:cNvPr id="10" name="Chevron 9"/>
          <p:cNvSpPr/>
          <p:nvPr/>
        </p:nvSpPr>
        <p:spPr>
          <a:xfrm>
            <a:off x="3017520" y="2103120"/>
            <a:ext cx="164592" cy="411480"/>
          </a:xfrm>
          <a:prstGeom prst="chevron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163824" y="1920240"/>
            <a:ext cx="123444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F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34155"/>
                </a:solidFill>
              </a:defRPr>
            </a:pPr>
            <a:r>
              <a:t>Evaluate</a:t>
            </a:r>
          </a:p>
        </p:txBody>
      </p:sp>
      <p:sp>
        <p:nvSpPr>
          <p:cNvPr id="12" name="Chevron 11"/>
          <p:cNvSpPr/>
          <p:nvPr/>
        </p:nvSpPr>
        <p:spPr>
          <a:xfrm>
            <a:off x="4416552" y="2103120"/>
            <a:ext cx="164592" cy="411480"/>
          </a:xfrm>
          <a:prstGeom prst="chevron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562856" y="1920240"/>
            <a:ext cx="123444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F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34155"/>
                </a:solidFill>
              </a:defRPr>
            </a:pPr>
            <a:r>
              <a:t>Train</a:t>
            </a:r>
          </a:p>
        </p:txBody>
      </p:sp>
      <p:sp>
        <p:nvSpPr>
          <p:cNvPr id="14" name="Chevron 13"/>
          <p:cNvSpPr/>
          <p:nvPr/>
        </p:nvSpPr>
        <p:spPr>
          <a:xfrm>
            <a:off x="5815583" y="2103120"/>
            <a:ext cx="164592" cy="411480"/>
          </a:xfrm>
          <a:prstGeom prst="chevron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961888" y="1920240"/>
            <a:ext cx="123444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F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34155"/>
                </a:solidFill>
              </a:defRPr>
            </a:pPr>
            <a:r>
              <a:t>Propose</a:t>
            </a:r>
          </a:p>
        </p:txBody>
      </p:sp>
      <p:sp>
        <p:nvSpPr>
          <p:cNvPr id="16" name="Chevron 15"/>
          <p:cNvSpPr/>
          <p:nvPr/>
        </p:nvSpPr>
        <p:spPr>
          <a:xfrm>
            <a:off x="7214616" y="2103120"/>
            <a:ext cx="164592" cy="411480"/>
          </a:xfrm>
          <a:prstGeom prst="chevron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360920" y="1920240"/>
            <a:ext cx="123444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F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34155"/>
                </a:solidFill>
              </a:defRPr>
            </a:pPr>
            <a:r>
              <a:t>Gate</a:t>
            </a:r>
          </a:p>
        </p:txBody>
      </p:sp>
      <p:sp>
        <p:nvSpPr>
          <p:cNvPr id="18" name="Chevron 17"/>
          <p:cNvSpPr/>
          <p:nvPr/>
        </p:nvSpPr>
        <p:spPr>
          <a:xfrm>
            <a:off x="8613648" y="2103120"/>
            <a:ext cx="164592" cy="411480"/>
          </a:xfrm>
          <a:prstGeom prst="chevron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759952" y="1920240"/>
            <a:ext cx="123444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F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34155"/>
                </a:solidFill>
              </a:defRPr>
            </a:pPr>
            <a:r>
              <a:t>Execute</a:t>
            </a:r>
          </a:p>
        </p:txBody>
      </p:sp>
      <p:sp>
        <p:nvSpPr>
          <p:cNvPr id="20" name="Chevron 19"/>
          <p:cNvSpPr/>
          <p:nvPr/>
        </p:nvSpPr>
        <p:spPr>
          <a:xfrm>
            <a:off x="10012680" y="2103120"/>
            <a:ext cx="164592" cy="411480"/>
          </a:xfrm>
          <a:prstGeom prst="chevron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0158984" y="1920240"/>
            <a:ext cx="123444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F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34155"/>
                </a:solidFill>
              </a:defRPr>
            </a:pPr>
            <a:r>
              <a:t>Learn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3017520"/>
            <a:ext cx="5394960" cy="2926080"/>
          </a:xfrm>
          <a:prstGeom prst="roundRect">
            <a:avLst/>
          </a:prstGeom>
          <a:solidFill>
            <a:srgbClr val="E3ECFD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800" b="1">
                <a:solidFill>
                  <a:srgbClr val="3069F0"/>
                </a:solidFill>
              </a:defRPr>
            </a:pPr>
            <a:r>
              <a:rPr dirty="0"/>
              <a:t>🔬  Research Loop (runs daily)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rPr dirty="0"/>
              <a:t>1. Ingest OHLCV bars from </a:t>
            </a:r>
            <a:r>
              <a:rPr dirty="0" err="1"/>
              <a:t>AlphaVantage</a:t>
            </a:r>
            <a:r>
              <a:rPr dirty="0"/>
              <a:t> / IBKR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rPr dirty="0"/>
              <a:t>2. Detect patterns (momentum, ORB, mean reversion, pullbacks)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rPr dirty="0"/>
              <a:t>3. Evaluate: did past signals hit or miss after 1, 3, 5, 10, 20 days?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rPr dirty="0"/>
              <a:t>4. Train: update maturity scores and trust labels per symbol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rPr dirty="0"/>
              <a:t>5. The system gets smarter every day it runs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3017520"/>
            <a:ext cx="5394960" cy="2926080"/>
          </a:xfrm>
          <a:prstGeom prst="roundRect">
            <a:avLst/>
          </a:prstGeom>
          <a:solidFill>
            <a:srgbClr val="E6F5EA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800" b="1">
                <a:solidFill>
                  <a:srgbClr val="2E7D32"/>
                </a:solidFill>
              </a:defRPr>
            </a:pPr>
            <a:r>
              <a:t>🎯  Decision Loop (runs daily)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6. Propose: pick the best signals for each portfolio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7. Gate: trust gate, risk gate, capacity gate, freshness gate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8. Committee: AI reviews each proposal (can block)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9. Execute: place in simulation or live via IBKR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10. Learn: record outcome, feed it back into training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6035040"/>
            <a:ext cx="10881360" cy="457200"/>
          </a:xfrm>
          <a:prstGeom prst="roundRect">
            <a:avLst/>
          </a:prstGeom>
          <a:solidFill>
            <a:srgbClr val="F0F3FA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300" i="1">
                <a:solidFill>
                  <a:srgbClr val="334155"/>
                </a:solidFill>
              </a:defRPr>
            </a:pPr>
            <a:r>
              <a:t>🔄  Like a chef who tastes every dish (evaluate), adjusts the recipe (train), and only serves when quality passes inspection (gate).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48640" y="6601968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7B8D"/>
                </a:solidFill>
              </a:defRPr>
            </a:pPr>
            <a:r>
              <a:t>MIP Behind the Scenes  |  How the engine actually works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5800"/>
            <a:ext cx="12191695" cy="54864"/>
          </a:xfrm>
          <a:prstGeom prst="rect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875520" y="128016"/>
            <a:ext cx="2103120" cy="384048"/>
          </a:xfrm>
          <a:prstGeom prst="roundRect">
            <a:avLst/>
          </a:prstGeom>
          <a:solidFill>
            <a:srgbClr val="243047"/>
          </a:solidFill>
          <a:ln>
            <a:solidFill>
              <a:srgbClr val="306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1E9F6"/>
                </a:solidFill>
              </a:defRPr>
            </a:pPr>
            <a:r>
              <a:t>FEATURE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32688"/>
            <a:ext cx="8686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F172A"/>
                </a:solidFill>
              </a:defRPr>
            </a:pPr>
            <a:r>
              <a:t>Ask MIP — Your Intelligent Platform Assistant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72768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F6B7A"/>
                </a:solidFill>
              </a:defRPr>
            </a:pPr>
            <a:r>
              <a:t>Route-aware, docs-grounded AI assistant — always one click away on every page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920240"/>
            <a:ext cx="1627632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F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34155"/>
                </a:solidFill>
              </a:defRPr>
            </a:pPr>
            <a:r>
              <a:t>User Question</a:t>
            </a:r>
          </a:p>
        </p:txBody>
      </p:sp>
      <p:sp>
        <p:nvSpPr>
          <p:cNvPr id="8" name="Chevron 7"/>
          <p:cNvSpPr/>
          <p:nvPr/>
        </p:nvSpPr>
        <p:spPr>
          <a:xfrm>
            <a:off x="2011680" y="2103120"/>
            <a:ext cx="164592" cy="411480"/>
          </a:xfrm>
          <a:prstGeom prst="chevron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267712" y="1920240"/>
            <a:ext cx="1627632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F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34155"/>
                </a:solidFill>
              </a:defRPr>
            </a:pPr>
            <a:r>
              <a:t>Route Context</a:t>
            </a:r>
          </a:p>
        </p:txBody>
      </p:sp>
      <p:sp>
        <p:nvSpPr>
          <p:cNvPr id="10" name="Chevron 9"/>
          <p:cNvSpPr/>
          <p:nvPr/>
        </p:nvSpPr>
        <p:spPr>
          <a:xfrm>
            <a:off x="3913631" y="2103120"/>
            <a:ext cx="164592" cy="411480"/>
          </a:xfrm>
          <a:prstGeom prst="chevron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169664" y="1920240"/>
            <a:ext cx="1627632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F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34155"/>
                </a:solidFill>
              </a:defRPr>
            </a:pPr>
            <a:r>
              <a:t>Doc Retrieval</a:t>
            </a:r>
          </a:p>
        </p:txBody>
      </p:sp>
      <p:sp>
        <p:nvSpPr>
          <p:cNvPr id="12" name="Chevron 11"/>
          <p:cNvSpPr/>
          <p:nvPr/>
        </p:nvSpPr>
        <p:spPr>
          <a:xfrm>
            <a:off x="5815584" y="2103120"/>
            <a:ext cx="164592" cy="411480"/>
          </a:xfrm>
          <a:prstGeom prst="chevron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071616" y="1920240"/>
            <a:ext cx="1627632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F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34155"/>
                </a:solidFill>
              </a:defRPr>
            </a:pPr>
            <a:r>
              <a:t>Glossary Match</a:t>
            </a:r>
          </a:p>
        </p:txBody>
      </p:sp>
      <p:sp>
        <p:nvSpPr>
          <p:cNvPr id="14" name="Chevron 13"/>
          <p:cNvSpPr/>
          <p:nvPr/>
        </p:nvSpPr>
        <p:spPr>
          <a:xfrm>
            <a:off x="7717536" y="2103120"/>
            <a:ext cx="164592" cy="411480"/>
          </a:xfrm>
          <a:prstGeom prst="chevron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973568" y="1920240"/>
            <a:ext cx="1627632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F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34155"/>
                </a:solidFill>
              </a:defRPr>
            </a:pPr>
            <a:r>
              <a:t>Cortex LLM</a:t>
            </a:r>
          </a:p>
        </p:txBody>
      </p:sp>
      <p:sp>
        <p:nvSpPr>
          <p:cNvPr id="16" name="Chevron 15"/>
          <p:cNvSpPr/>
          <p:nvPr/>
        </p:nvSpPr>
        <p:spPr>
          <a:xfrm>
            <a:off x="9619488" y="2103120"/>
            <a:ext cx="164592" cy="411480"/>
          </a:xfrm>
          <a:prstGeom prst="chevron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9875520" y="1920240"/>
            <a:ext cx="1627632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F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34155"/>
                </a:solidFill>
              </a:defRPr>
            </a:pPr>
            <a:r>
              <a:t>Answer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2971800"/>
            <a:ext cx="356616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334155"/>
                </a:solidFill>
              </a:defRPr>
            </a:pPr>
            <a:r>
              <a:rPr dirty="0"/>
              <a:t>How It Works</a:t>
            </a:r>
          </a:p>
          <a:p>
            <a:pPr marL="171450" indent="-171450">
              <a:spcBef>
                <a:spcPts val="400"/>
              </a:spcBef>
              <a:buFont typeface="Arial" panose="020B0604020202020204" pitchFamily="34" charset="0"/>
              <a:buChar char="•"/>
              <a:defRPr sz="1200">
                <a:solidFill>
                  <a:srgbClr val="1F2937"/>
                </a:solidFill>
              </a:defRPr>
            </a:pPr>
            <a:r>
              <a:rPr dirty="0"/>
              <a:t>Floating button on every page (❓)</a:t>
            </a:r>
          </a:p>
          <a:p>
            <a:pPr marL="171450" indent="-171450">
              <a:spcBef>
                <a:spcPts val="400"/>
              </a:spcBef>
              <a:buFont typeface="Arial" panose="020B0604020202020204" pitchFamily="34" charset="0"/>
              <a:buChar char="•"/>
              <a:defRPr sz="1200">
                <a:solidFill>
                  <a:srgbClr val="1F2937"/>
                </a:solidFill>
              </a:defRPr>
            </a:pPr>
            <a:r>
              <a:rPr dirty="0"/>
              <a:t>Panel slides open from the right</a:t>
            </a:r>
          </a:p>
          <a:p>
            <a:pPr marL="171450" indent="-171450">
              <a:spcBef>
                <a:spcPts val="400"/>
              </a:spcBef>
              <a:buFont typeface="Arial" panose="020B0604020202020204" pitchFamily="34" charset="0"/>
              <a:buChar char="•"/>
              <a:defRPr sz="1200">
                <a:solidFill>
                  <a:srgbClr val="1F2937"/>
                </a:solidFill>
              </a:defRPr>
            </a:pPr>
            <a:r>
              <a:rPr dirty="0"/>
              <a:t>User types a question in natural language</a:t>
            </a:r>
          </a:p>
          <a:p>
            <a:pPr marL="171450" indent="-171450">
              <a:spcBef>
                <a:spcPts val="400"/>
              </a:spcBef>
              <a:buFont typeface="Arial" panose="020B0604020202020204" pitchFamily="34" charset="0"/>
              <a:buChar char="•"/>
              <a:defRPr sz="1200">
                <a:solidFill>
                  <a:srgbClr val="1F2937"/>
                </a:solidFill>
              </a:defRPr>
            </a:pPr>
            <a:r>
              <a:rPr dirty="0"/>
              <a:t>System detects current route + page context</a:t>
            </a:r>
          </a:p>
          <a:p>
            <a:pPr marL="171450" indent="-171450">
              <a:spcBef>
                <a:spcPts val="400"/>
              </a:spcBef>
              <a:buFont typeface="Arial" panose="020B0604020202020204" pitchFamily="34" charset="0"/>
              <a:buChar char="•"/>
              <a:defRPr sz="1200">
                <a:solidFill>
                  <a:srgbClr val="1F2937"/>
                </a:solidFill>
              </a:defRPr>
            </a:pPr>
            <a:r>
              <a:rPr dirty="0"/>
              <a:t>Retrieves relevant docs + glossary matches</a:t>
            </a:r>
          </a:p>
          <a:p>
            <a:pPr marL="171450" indent="-171450">
              <a:spcBef>
                <a:spcPts val="400"/>
              </a:spcBef>
              <a:buFont typeface="Arial" panose="020B0604020202020204" pitchFamily="34" charset="0"/>
              <a:buChar char="•"/>
              <a:defRPr sz="1200">
                <a:solidFill>
                  <a:srgbClr val="1F2937"/>
                </a:solidFill>
              </a:defRPr>
            </a:pPr>
            <a:r>
              <a:rPr dirty="0"/>
              <a:t>Calls Snowflake Cortex (Claude 3.5 Sonnet)</a:t>
            </a:r>
          </a:p>
          <a:p>
            <a:pPr marL="171450" indent="-171450">
              <a:spcBef>
                <a:spcPts val="400"/>
              </a:spcBef>
              <a:buFont typeface="Arial" panose="020B0604020202020204" pitchFamily="34" charset="0"/>
              <a:buChar char="•"/>
              <a:defRPr sz="1200">
                <a:solidFill>
                  <a:srgbClr val="1F2937"/>
                </a:solidFill>
              </a:defRPr>
            </a:pPr>
            <a:r>
              <a:rPr dirty="0"/>
              <a:t>Returns structured answer with provenance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2971800"/>
            <a:ext cx="73152" cy="2926080"/>
          </a:xfrm>
          <a:prstGeom prst="rect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4343400" y="2971800"/>
            <a:ext cx="365760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334155"/>
                </a:solidFill>
              </a:defRPr>
            </a:pPr>
            <a:r>
              <a:rPr dirty="0"/>
              <a:t>Route-Aware Intelligence</a:t>
            </a:r>
          </a:p>
          <a:p>
            <a:pPr marL="171450" indent="-171450">
              <a:spcBef>
                <a:spcPts val="400"/>
              </a:spcBef>
              <a:buFont typeface="Arial" panose="020B0604020202020204" pitchFamily="34" charset="0"/>
              <a:buChar char="•"/>
              <a:defRPr sz="1200">
                <a:solidFill>
                  <a:srgbClr val="1F2937"/>
                </a:solidFill>
              </a:defRPr>
            </a:pPr>
            <a:r>
              <a:rPr dirty="0"/>
              <a:t>Knows which page you're viewing</a:t>
            </a:r>
          </a:p>
          <a:p>
            <a:pPr marL="171450" indent="-171450">
              <a:spcBef>
                <a:spcPts val="400"/>
              </a:spcBef>
              <a:buFont typeface="Arial" panose="020B0604020202020204" pitchFamily="34" charset="0"/>
              <a:buChar char="•"/>
              <a:defRPr sz="1200">
                <a:solidFill>
                  <a:srgbClr val="1F2937"/>
                </a:solidFill>
              </a:defRPr>
            </a:pPr>
            <a:r>
              <a:rPr dirty="0"/>
              <a:t>Injects page-specific guide content as context</a:t>
            </a:r>
          </a:p>
          <a:p>
            <a:pPr marL="171450" indent="-171450">
              <a:spcBef>
                <a:spcPts val="400"/>
              </a:spcBef>
              <a:buFont typeface="Arial" panose="020B0604020202020204" pitchFamily="34" charset="0"/>
              <a:buChar char="•"/>
              <a:defRPr sz="1200">
                <a:solidFill>
                  <a:srgbClr val="1F2937"/>
                </a:solidFill>
              </a:defRPr>
            </a:pPr>
            <a:r>
              <a:rPr dirty="0"/>
              <a:t>Frames answers relative to visible UI elements</a:t>
            </a:r>
          </a:p>
          <a:p>
            <a:pPr marL="171450" indent="-171450">
              <a:spcBef>
                <a:spcPts val="400"/>
              </a:spcBef>
              <a:buFont typeface="Arial" panose="020B0604020202020204" pitchFamily="34" charset="0"/>
              <a:buChar char="•"/>
              <a:defRPr sz="1200">
                <a:solidFill>
                  <a:srgbClr val="1F2937"/>
                </a:solidFill>
              </a:defRPr>
            </a:pPr>
            <a:r>
              <a:rPr dirty="0"/>
              <a:t>24 route-to-guide mappings for precise context</a:t>
            </a:r>
          </a:p>
          <a:p>
            <a:pPr marL="171450" indent="-171450">
              <a:spcBef>
                <a:spcPts val="400"/>
              </a:spcBef>
              <a:buFont typeface="Arial" panose="020B0604020202020204" pitchFamily="34" charset="0"/>
              <a:buChar char="•"/>
              <a:defRPr sz="1200">
                <a:solidFill>
                  <a:srgbClr val="1F2937"/>
                </a:solidFill>
              </a:defRPr>
            </a:pPr>
            <a:r>
              <a:rPr dirty="0"/>
              <a:t>Score boosting for current-page documentation</a:t>
            </a:r>
          </a:p>
          <a:p>
            <a:pPr marL="171450" indent="-171450">
              <a:spcBef>
                <a:spcPts val="400"/>
              </a:spcBef>
              <a:buFont typeface="Arial" panose="020B0604020202020204" pitchFamily="34" charset="0"/>
              <a:buChar char="•"/>
              <a:defRPr sz="1200">
                <a:solidFill>
                  <a:srgbClr val="1F2937"/>
                </a:solidFill>
              </a:defRPr>
            </a:pPr>
            <a:r>
              <a:rPr dirty="0"/>
              <a:t>Page hint block in system prompt (first 1200 chars)</a:t>
            </a:r>
          </a:p>
          <a:p>
            <a:pPr marL="171450" indent="-171450">
              <a:spcBef>
                <a:spcPts val="400"/>
              </a:spcBef>
              <a:buFont typeface="Arial" panose="020B0604020202020204" pitchFamily="34" charset="0"/>
              <a:buChar char="•"/>
              <a:defRPr sz="1200">
                <a:solidFill>
                  <a:srgbClr val="1F2937"/>
                </a:solidFill>
              </a:defRPr>
            </a:pPr>
            <a:r>
              <a:rPr dirty="0"/>
              <a:t>General finance knowledge when MIP docs don't cover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43400" y="2971800"/>
            <a:ext cx="73152" cy="292608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138160" y="2971800"/>
            <a:ext cx="342900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334155"/>
                </a:solidFill>
              </a:defRPr>
            </a:pPr>
            <a:r>
              <a:rPr dirty="0"/>
              <a:t>Quality &amp; Trust</a:t>
            </a:r>
          </a:p>
          <a:p>
            <a:pPr marL="171450" indent="-171450">
              <a:spcBef>
                <a:spcPts val="400"/>
              </a:spcBef>
              <a:buFont typeface="Arial" panose="020B0604020202020204" pitchFamily="34" charset="0"/>
              <a:buChar char="•"/>
              <a:defRPr sz="1200">
                <a:solidFill>
                  <a:srgbClr val="1F2937"/>
                </a:solidFill>
              </a:defRPr>
            </a:pPr>
            <a:r>
              <a:rPr dirty="0"/>
              <a:t>Provenance badges: DOC, GLOSSARY, INFERENCE</a:t>
            </a:r>
          </a:p>
          <a:p>
            <a:pPr marL="171450" indent="-171450">
              <a:spcBef>
                <a:spcPts val="400"/>
              </a:spcBef>
              <a:buFont typeface="Arial" panose="020B0604020202020204" pitchFamily="34" charset="0"/>
              <a:buChar char="•"/>
              <a:defRPr sz="1200">
                <a:solidFill>
                  <a:srgbClr val="1F2937"/>
                </a:solidFill>
              </a:defRPr>
            </a:pPr>
            <a:r>
              <a:rPr dirty="0"/>
              <a:t>Confidence scoring (docs 50%, glossary 35%)</a:t>
            </a:r>
          </a:p>
          <a:p>
            <a:pPr marL="171450" indent="-171450">
              <a:spcBef>
                <a:spcPts val="400"/>
              </a:spcBef>
              <a:buFont typeface="Arial" panose="020B0604020202020204" pitchFamily="34" charset="0"/>
              <a:buChar char="•"/>
              <a:defRPr sz="1200">
                <a:solidFill>
                  <a:srgbClr val="1F2937"/>
                </a:solidFill>
              </a:defRPr>
            </a:pPr>
            <a:r>
              <a:rPr dirty="0"/>
              <a:t>"Did you mean" suggestions when unsure</a:t>
            </a:r>
          </a:p>
          <a:p>
            <a:pPr marL="171450" indent="-171450">
              <a:spcBef>
                <a:spcPts val="400"/>
              </a:spcBef>
              <a:buFont typeface="Arial" panose="020B0604020202020204" pitchFamily="34" charset="0"/>
              <a:buChar char="•"/>
              <a:defRPr sz="1200">
                <a:solidFill>
                  <a:srgbClr val="1F2937"/>
                </a:solidFill>
              </a:defRPr>
            </a:pPr>
            <a:r>
              <a:rPr dirty="0"/>
              <a:t>Unknown terms logged for glossary review</a:t>
            </a:r>
          </a:p>
          <a:p>
            <a:pPr marL="171450" indent="-171450">
              <a:spcBef>
                <a:spcPts val="400"/>
              </a:spcBef>
              <a:buFont typeface="Arial" panose="020B0604020202020204" pitchFamily="34" charset="0"/>
              <a:buChar char="•"/>
              <a:defRPr sz="1200">
                <a:solidFill>
                  <a:srgbClr val="1F2937"/>
                </a:solidFill>
              </a:defRPr>
            </a:pPr>
            <a:r>
              <a:rPr dirty="0"/>
              <a:t>Telemetry: every query tracked for coverage</a:t>
            </a:r>
          </a:p>
          <a:p>
            <a:pPr marL="171450" indent="-171450">
              <a:spcBef>
                <a:spcPts val="400"/>
              </a:spcBef>
              <a:buFont typeface="Arial" panose="020B0604020202020204" pitchFamily="34" charset="0"/>
              <a:buChar char="•"/>
              <a:defRPr sz="1200">
                <a:solidFill>
                  <a:srgbClr val="1F2937"/>
                </a:solidFill>
              </a:defRPr>
            </a:pPr>
            <a:r>
              <a:rPr dirty="0"/>
              <a:t>Never invents live values or thresholds</a:t>
            </a:r>
          </a:p>
          <a:p>
            <a:pPr marL="171450" indent="-171450">
              <a:spcBef>
                <a:spcPts val="400"/>
              </a:spcBef>
              <a:buFont typeface="Arial" panose="020B0604020202020204" pitchFamily="34" charset="0"/>
              <a:buChar char="•"/>
              <a:defRPr sz="1200">
                <a:solidFill>
                  <a:srgbClr val="1F2937"/>
                </a:solidFill>
              </a:defRPr>
            </a:pPr>
            <a:r>
              <a:rPr dirty="0"/>
              <a:t>90-second timeout, last 10 messages as context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38160" y="2971800"/>
            <a:ext cx="73152" cy="29260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40080" y="5989320"/>
            <a:ext cx="2103120" cy="310896"/>
          </a:xfrm>
          <a:prstGeom prst="roundRect">
            <a:avLst/>
          </a:prstGeom>
          <a:solidFill>
            <a:srgbClr val="3949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CLAUDE 3.5 SONNET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834640" y="5989320"/>
            <a:ext cx="2286000" cy="310896"/>
          </a:xfrm>
          <a:prstGeom prst="roundRect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24 GUIDE FILES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212080" y="5989320"/>
            <a:ext cx="2103120" cy="310896"/>
          </a:xfrm>
          <a:prstGeom prst="round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GLOSSARY TABLE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06640" y="5989320"/>
            <a:ext cx="2011680" cy="310896"/>
          </a:xfrm>
          <a:prstGeom prst="round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TELEMETRY LOG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509760" y="5989320"/>
            <a:ext cx="2011680" cy="310896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FALLBACK SAFE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6035040"/>
            <a:ext cx="10881360" cy="457200"/>
          </a:xfrm>
          <a:prstGeom prst="roundRect">
            <a:avLst/>
          </a:prstGeom>
          <a:solidFill>
            <a:srgbClr val="F0F3FA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300" i="1">
                <a:solidFill>
                  <a:srgbClr val="334155"/>
                </a:solidFill>
              </a:defRPr>
            </a:pPr>
            <a:r>
              <a:t>🧭  Like a knowledgeable colleague sitting next to you: they know the platform, see your screen, and answer questions grounded in facts — not guesses.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48640" y="6601968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7B8D"/>
                </a:solidFill>
              </a:defRPr>
            </a:pPr>
            <a:r>
              <a:t>MIP  |  Market Intelligence Platform  |  Evidence  &gt;  Decision  &gt;  Execution</a:t>
            </a:r>
          </a:p>
        </p:txBody>
      </p:sp>
    </p:spTree>
    <p:extLst>
      <p:ext uri="{BB962C8B-B14F-4D97-AF65-F5344CB8AC3E}">
        <p14:creationId xmlns:p14="http://schemas.microsoft.com/office/powerpoint/2010/main" val="13073803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5800"/>
            <a:ext cx="12191695" cy="54864"/>
          </a:xfrm>
          <a:prstGeom prst="rect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875520" y="128016"/>
            <a:ext cx="2103120" cy="384048"/>
          </a:xfrm>
          <a:prstGeom prst="roundRect">
            <a:avLst/>
          </a:prstGeom>
          <a:solidFill>
            <a:srgbClr val="243047"/>
          </a:solidFill>
          <a:ln>
            <a:solidFill>
              <a:srgbClr val="306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1E9F6"/>
                </a:solidFill>
              </a:defRPr>
            </a:pPr>
            <a:r>
              <a:t>RESEARCH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32688"/>
            <a:ext cx="8686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F172A"/>
                </a:solidFill>
              </a:defRPr>
            </a:pPr>
            <a:r>
              <a:t>Training Status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72768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F6B7A"/>
                </a:solidFill>
              </a:defRPr>
            </a:pPr>
            <a:r>
              <a:t>Evidence quality is measured before any trade is considered — maturity gates keep the system honest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65960"/>
            <a:ext cx="25603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800" b="1">
                <a:solidFill>
                  <a:srgbClr val="3069F0"/>
                </a:solidFill>
              </a:defRPr>
            </a:pPr>
            <a:r>
              <a:t>0-100</a:t>
            </a:r>
          </a:p>
          <a:p>
            <a:pPr algn="ctr">
              <a:spcBef>
                <a:spcPts val="200"/>
              </a:spcBef>
              <a:defRPr sz="1100">
                <a:solidFill>
                  <a:srgbClr val="5F6B7A"/>
                </a:solidFill>
              </a:defRPr>
            </a:pPr>
            <a:r>
              <a:t>Maturity Score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1965960"/>
            <a:ext cx="25603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800" b="1">
                <a:solidFill>
                  <a:srgbClr val="6A1B9A"/>
                </a:solidFill>
              </a:defRPr>
            </a:pPr>
            <a:r>
              <a:t>H1-H20</a:t>
            </a:r>
          </a:p>
          <a:p>
            <a:pPr algn="ctr">
              <a:spcBef>
                <a:spcPts val="200"/>
              </a:spcBef>
              <a:defRPr sz="1100">
                <a:solidFill>
                  <a:srgbClr val="5F6B7A"/>
                </a:solidFill>
              </a:defRPr>
            </a:pPr>
            <a:r>
              <a:t>5 Horizons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1965960"/>
            <a:ext cx="25603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800" b="1">
                <a:solidFill>
                  <a:srgbClr val="2E7D32"/>
                </a:solidFill>
              </a:defRPr>
            </a:pPr>
            <a:r>
              <a:t>86%</a:t>
            </a:r>
          </a:p>
          <a:p>
            <a:pPr algn="ctr">
              <a:spcBef>
                <a:spcPts val="200"/>
              </a:spcBef>
              <a:defRPr sz="1100">
                <a:solidFill>
                  <a:srgbClr val="5F6B7A"/>
                </a:solidFill>
              </a:defRPr>
            </a:pPr>
            <a:r>
              <a:t>Coverage Target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95360" y="1965960"/>
            <a:ext cx="29260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800" b="1">
                <a:solidFill>
                  <a:srgbClr val="00796B"/>
                </a:solidFill>
              </a:defRPr>
            </a:pPr>
            <a:r>
              <a:t>PER SYMBOL</a:t>
            </a:r>
          </a:p>
          <a:p>
            <a:pPr algn="ctr">
              <a:spcBef>
                <a:spcPts val="200"/>
              </a:spcBef>
              <a:defRPr sz="1100">
                <a:solidFill>
                  <a:srgbClr val="5F6B7A"/>
                </a:solidFill>
              </a:defRPr>
            </a:pPr>
            <a:r>
              <a:t>Granularity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383280"/>
            <a:ext cx="2103120" cy="310896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INSUFFICIENT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34640" y="3383280"/>
            <a:ext cx="2103120" cy="310896"/>
          </a:xfrm>
          <a:prstGeom prst="roundRect">
            <a:avLst/>
          </a:prstGeom>
          <a:solidFill>
            <a:srgbClr val="925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WARMING UP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0" y="3383280"/>
            <a:ext cx="2103120" cy="310896"/>
          </a:xfrm>
          <a:prstGeom prst="roundRect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LEARNING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23760" y="3383280"/>
            <a:ext cx="2103120" cy="310896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CONFIDENT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931920"/>
            <a:ext cx="54864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334155"/>
                </a:solidFill>
              </a:defRPr>
            </a:pPr>
            <a:r>
              <a:t>How Training Works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Each symbol + pattern combination is independently trained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Maturity = sample size + coverage + horizon depth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Trust labels gate whether the system can propose trades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LOW_EVIDENCE symbols are quarantined from execution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The system learns continuously — maturity rises over time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931920"/>
            <a:ext cx="73152" cy="2011680"/>
          </a:xfrm>
          <a:prstGeom prst="rect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263640" y="3931920"/>
            <a:ext cx="52578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334155"/>
                </a:solidFill>
              </a:defRPr>
            </a:pPr>
            <a:r>
              <a:t>What You See in the UI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Symbol grid with maturity scores and trust labels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Horizon returns: Avg H1, H3, H5, H10, H20 per pattern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Coverage % — how much of the symbol's history is trained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Sample size — number of observations backing the score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AI summary translates stats into plain-language guidance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3931920"/>
            <a:ext cx="73152" cy="201168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40080" y="6035040"/>
            <a:ext cx="10881360" cy="457200"/>
          </a:xfrm>
          <a:prstGeom prst="roundRect">
            <a:avLst/>
          </a:prstGeom>
          <a:solidFill>
            <a:srgbClr val="F0F3FA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300" i="1">
                <a:solidFill>
                  <a:srgbClr val="334155"/>
                </a:solidFill>
              </a:defRPr>
            </a:pPr>
            <a:r>
              <a:t>🎓  Like a medical residency: doctors don't operate until they've logged enough supervised hours. MIP's patterns don't trade until trained.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6601968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7B8D"/>
                </a:solidFill>
              </a:defRPr>
            </a:pPr>
            <a:r>
              <a:t>MIP  |  Market Intelligence Platform  |  Evidence  &gt;  Decision  &gt;  Execution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5800"/>
            <a:ext cx="12191695" cy="54864"/>
          </a:xfrm>
          <a:prstGeom prst="rect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875520" y="128016"/>
            <a:ext cx="2103120" cy="384048"/>
          </a:xfrm>
          <a:prstGeom prst="roundRect">
            <a:avLst/>
          </a:prstGeom>
          <a:solidFill>
            <a:srgbClr val="243047"/>
          </a:solidFill>
          <a:ln>
            <a:solidFill>
              <a:srgbClr val="306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1E9F6"/>
                </a:solidFill>
              </a:defRPr>
            </a:pPr>
            <a:r>
              <a:t>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32688"/>
            <a:ext cx="8686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F172A"/>
                </a:solidFill>
              </a:defRPr>
            </a:pPr>
            <a:r>
              <a:t>Horizons: Looking Into the Future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7276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5F6B7A"/>
                </a:solidFill>
              </a:defRPr>
            </a:pPr>
            <a:r>
              <a:t>After a signal fires, MIP checks what happened next — at 5 different time distances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65960"/>
            <a:ext cx="20116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600" b="1">
                <a:solidFill>
                  <a:srgbClr val="3069F0"/>
                </a:solidFill>
              </a:defRPr>
            </a:pPr>
            <a:r>
              <a:rPr dirty="0"/>
              <a:t>H1</a:t>
            </a:r>
          </a:p>
          <a:p>
            <a:pPr algn="ctr">
              <a:spcBef>
                <a:spcPts val="200"/>
              </a:spcBef>
              <a:defRPr sz="1000">
                <a:solidFill>
                  <a:srgbClr val="5F6B7A"/>
                </a:solidFill>
              </a:defRPr>
            </a:pPr>
            <a:r>
              <a:rPr dirty="0"/>
              <a:t>1 Day Ahead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88920" y="1965960"/>
            <a:ext cx="20116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600" b="1">
                <a:solidFill>
                  <a:srgbClr val="00796B"/>
                </a:solidFill>
              </a:defRPr>
            </a:pPr>
            <a:r>
              <a:rPr dirty="0"/>
              <a:t>H3</a:t>
            </a:r>
          </a:p>
          <a:p>
            <a:pPr algn="ctr">
              <a:spcBef>
                <a:spcPts val="200"/>
              </a:spcBef>
              <a:defRPr sz="1000">
                <a:solidFill>
                  <a:srgbClr val="5F6B7A"/>
                </a:solidFill>
              </a:defRPr>
            </a:pPr>
            <a:r>
              <a:rPr dirty="0"/>
              <a:t>3 Days Ahead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37760" y="1965960"/>
            <a:ext cx="20116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600" b="1">
                <a:solidFill>
                  <a:srgbClr val="2E7D32"/>
                </a:solidFill>
              </a:defRPr>
            </a:pPr>
            <a:r>
              <a:rPr dirty="0"/>
              <a:t>H5</a:t>
            </a:r>
          </a:p>
          <a:p>
            <a:pPr algn="ctr">
              <a:spcBef>
                <a:spcPts val="200"/>
              </a:spcBef>
              <a:defRPr sz="1000">
                <a:solidFill>
                  <a:srgbClr val="5F6B7A"/>
                </a:solidFill>
              </a:defRPr>
            </a:pPr>
            <a:r>
              <a:rPr dirty="0"/>
              <a:t>5 Days Ahead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86600" y="1965960"/>
            <a:ext cx="20116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600" b="1">
                <a:solidFill>
                  <a:srgbClr val="6A1B9A"/>
                </a:solidFill>
              </a:defRPr>
            </a:pPr>
            <a:r>
              <a:rPr dirty="0"/>
              <a:t>H10</a:t>
            </a:r>
          </a:p>
          <a:p>
            <a:pPr algn="ctr">
              <a:spcBef>
                <a:spcPts val="200"/>
              </a:spcBef>
              <a:defRPr sz="1000">
                <a:solidFill>
                  <a:srgbClr val="5F6B7A"/>
                </a:solidFill>
              </a:defRPr>
            </a:pPr>
            <a:r>
              <a:rPr dirty="0"/>
              <a:t>10 Days Ahead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235440" y="1965960"/>
            <a:ext cx="22860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600" b="1">
                <a:solidFill>
                  <a:srgbClr val="3949AB"/>
                </a:solidFill>
              </a:defRPr>
            </a:pPr>
            <a:r>
              <a:rPr dirty="0"/>
              <a:t>H20</a:t>
            </a:r>
          </a:p>
          <a:p>
            <a:pPr algn="ctr">
              <a:spcBef>
                <a:spcPts val="200"/>
              </a:spcBef>
              <a:defRPr sz="1000">
                <a:solidFill>
                  <a:srgbClr val="5F6B7A"/>
                </a:solidFill>
              </a:defRPr>
            </a:pPr>
            <a:r>
              <a:rPr dirty="0"/>
              <a:t>20 Days Ahead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291840"/>
            <a:ext cx="5394960" cy="731520"/>
          </a:xfrm>
          <a:prstGeom prst="roundRect">
            <a:avLst/>
          </a:prstGeom>
          <a:solidFill>
            <a:srgbClr val="F0F3FF"/>
          </a:solidFill>
          <a:ln>
            <a:solidFill>
              <a:srgbClr val="306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400" b="1">
                <a:solidFill>
                  <a:srgbClr val="3069F0"/>
                </a:solidFill>
              </a:defRPr>
            </a:pPr>
            <a:r>
              <a:t>Realized Return = (Future Price − Signal Price) / Signal Price</a:t>
            </a:r>
          </a:p>
          <a:p>
            <a:pPr>
              <a:spcBef>
                <a:spcPts val="400"/>
              </a:spcBef>
              <a:defRPr sz="1100">
                <a:solidFill>
                  <a:srgbClr val="1F2937"/>
                </a:solidFill>
              </a:defRPr>
            </a:pPr>
            <a:r>
              <a:t>If price was $100 at signal and $103 after 5 days: H5 return = +3.0%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251960"/>
            <a:ext cx="53949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334155"/>
                </a:solidFill>
              </a:defRPr>
            </a:pPr>
            <a:r>
              <a:t>HIT, MISS, or NEUTRAL?</a:t>
            </a:r>
          </a:p>
          <a:p>
            <a:pPr>
              <a:spcBef>
                <a:spcPts val="400"/>
              </a:spcBef>
              <a:defRPr sz="1100">
                <a:solidFill>
                  <a:srgbClr val="1F2937"/>
                </a:solidFill>
              </a:defRPr>
            </a:pPr>
            <a:r>
              <a:t>  HIT:  return ≥ +0.2%  (the signal was right — price went up)</a:t>
            </a:r>
          </a:p>
          <a:p>
            <a:pPr>
              <a:spcBef>
                <a:spcPts val="400"/>
              </a:spcBef>
              <a:defRPr sz="1100">
                <a:solidFill>
                  <a:srgbClr val="1F2937"/>
                </a:solidFill>
              </a:defRPr>
            </a:pPr>
            <a:r>
              <a:t>  MISS:  return ≤ -0.2%  (the signal was wrong — price dropped)</a:t>
            </a:r>
          </a:p>
          <a:p>
            <a:pPr>
              <a:spcBef>
                <a:spcPts val="400"/>
              </a:spcBef>
              <a:defRPr sz="1100">
                <a:solidFill>
                  <a:srgbClr val="1F2937"/>
                </a:solidFill>
              </a:defRPr>
            </a:pPr>
            <a:r>
              <a:t>  NEUTRAL:  in between  (inconclusive — nothing happened)</a:t>
            </a:r>
          </a:p>
          <a:p>
            <a:pPr>
              <a:spcBef>
                <a:spcPts val="400"/>
              </a:spcBef>
              <a:defRPr sz="1100">
                <a:solidFill>
                  <a:srgbClr val="1F2937"/>
                </a:solidFill>
              </a:defRPr>
            </a:pPr>
            <a:r>
              <a:t>  These labels are counted to build the HIT RATE per pattern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251960"/>
            <a:ext cx="73152" cy="17373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172200" y="3291840"/>
            <a:ext cx="5394960" cy="269748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334155"/>
                </a:solidFill>
              </a:defRPr>
            </a:pPr>
            <a:r>
              <a:t>Why 5 Horizons?</a:t>
            </a:r>
          </a:p>
          <a:p>
            <a:pPr>
              <a:spcBef>
                <a:spcPts val="400"/>
              </a:spcBef>
              <a:defRPr sz="1100">
                <a:solidFill>
                  <a:srgbClr val="1F2937"/>
                </a:solidFill>
              </a:defRPr>
            </a:pPr>
            <a:r>
              <a:t>  A pattern might work over 1 day but fail over 20</a:t>
            </a:r>
          </a:p>
          <a:p>
            <a:pPr>
              <a:spcBef>
                <a:spcPts val="400"/>
              </a:spcBef>
              <a:defRPr sz="1100">
                <a:solidFill>
                  <a:srgbClr val="1F2937"/>
                </a:solidFill>
              </a:defRPr>
            </a:pPr>
            <a:r>
              <a:t>  Or it might be meaningless short-term but powerful long-term</a:t>
            </a:r>
          </a:p>
          <a:p>
            <a:pPr>
              <a:spcBef>
                <a:spcPts val="400"/>
              </a:spcBef>
              <a:defRPr sz="1100">
                <a:solidFill>
                  <a:srgbClr val="1F2937"/>
                </a:solidFill>
              </a:defRPr>
            </a:pPr>
            <a:r>
              <a:t>  By measuring at 5 distances, MIP finds the sweet spot</a:t>
            </a:r>
          </a:p>
          <a:p>
            <a:pPr>
              <a:spcBef>
                <a:spcPts val="400"/>
              </a:spcBef>
              <a:defRPr sz="1100">
                <a:solidFill>
                  <a:srgbClr val="1F2937"/>
                </a:solidFill>
              </a:defRPr>
            </a:pPr>
            <a:r>
              <a:t>  Training builds a profile: "Pattern X works best at H5 for EUR/USD"</a:t>
            </a:r>
          </a:p>
          <a:p>
            <a:pPr>
              <a:spcBef>
                <a:spcPts val="400"/>
              </a:spcBef>
              <a:defRPr sz="1100">
                <a:solidFill>
                  <a:srgbClr val="1F2937"/>
                </a:solidFill>
              </a:defRPr>
            </a:pPr>
            <a:r>
              <a:t>  The system doesn't guess — it measures and remembers</a:t>
            </a:r>
          </a:p>
          <a:p>
            <a:pPr>
              <a:spcBef>
                <a:spcPts val="400"/>
              </a:spcBef>
              <a:defRPr sz="1100">
                <a:solidFill>
                  <a:srgbClr val="1F2937"/>
                </a:solidFill>
              </a:defRPr>
            </a:pPr>
            <a:r>
              <a:t>  </a:t>
            </a:r>
          </a:p>
          <a:p>
            <a:pPr>
              <a:spcBef>
                <a:spcPts val="400"/>
              </a:spcBef>
              <a:defRPr sz="1100">
                <a:solidFill>
                  <a:srgbClr val="1F2937"/>
                </a:solidFill>
              </a:defRPr>
            </a:pPr>
            <a:r>
              <a:t>  Intraday uses different horizons:</a:t>
            </a:r>
          </a:p>
          <a:p>
            <a:pPr>
              <a:spcBef>
                <a:spcPts val="400"/>
              </a:spcBef>
              <a:defRPr sz="1100">
                <a:solidFill>
                  <a:srgbClr val="1F2937"/>
                </a:solidFill>
              </a:defRPr>
            </a:pPr>
            <a:r>
              <a:t>    H1 = 1 bar (15 min), H4 = 1 hour, H8 = 2 hours, EOD = end of day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3291840"/>
            <a:ext cx="73152" cy="269748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40080" y="6035040"/>
            <a:ext cx="10881360" cy="457200"/>
          </a:xfrm>
          <a:prstGeom prst="roundRect">
            <a:avLst/>
          </a:prstGeom>
          <a:solidFill>
            <a:srgbClr val="F0F3FA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300" i="1">
                <a:solidFill>
                  <a:srgbClr val="334155"/>
                </a:solidFill>
              </a:defRPr>
            </a:pPr>
            <a:r>
              <a:t>🌡️  Like a weather forecast: predicting tomorrow is different from predicting next week. MIP measures accuracy at each distance to know which forecasts to trust.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8640" y="6601968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7B8D"/>
                </a:solidFill>
              </a:defRPr>
            </a:pPr>
            <a:r>
              <a:t>MIP Behind the Scenes  |  How the engine actually works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5800"/>
            <a:ext cx="12191695" cy="54864"/>
          </a:xfrm>
          <a:prstGeom prst="rect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875520" y="128016"/>
            <a:ext cx="2103120" cy="384048"/>
          </a:xfrm>
          <a:prstGeom prst="roundRect">
            <a:avLst/>
          </a:prstGeom>
          <a:solidFill>
            <a:srgbClr val="243047"/>
          </a:solidFill>
          <a:ln>
            <a:solidFill>
              <a:srgbClr val="306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1E9F6"/>
                </a:solidFill>
              </a:defRPr>
            </a:pPr>
            <a:r>
              <a:t>TRAINING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32688"/>
            <a:ext cx="8686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F172A"/>
                </a:solidFill>
              </a:defRPr>
            </a:pPr>
            <a:r>
              <a:t>The Training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7276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5F6B7A"/>
                </a:solidFill>
              </a:defRPr>
            </a:pPr>
            <a:r>
              <a:t>How MIP measures whether a pattern has earned enough evidence to be trusted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20240"/>
            <a:ext cx="10881360" cy="777240"/>
          </a:xfrm>
          <a:prstGeom prst="roundRect">
            <a:avLst/>
          </a:prstGeom>
          <a:solidFill>
            <a:srgbClr val="F0F3FF"/>
          </a:solidFill>
          <a:ln>
            <a:solidFill>
              <a:srgbClr val="306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400" b="1">
                <a:solidFill>
                  <a:srgbClr val="3069F0"/>
                </a:solidFill>
              </a:defRPr>
            </a:pPr>
            <a:r>
              <a:t>Maturity Score = Sample Score (max 30) + Coverage Score (max 40) + Horizon Score (max 30)  =  0 to 100</a:t>
            </a:r>
          </a:p>
          <a:p>
            <a:pPr>
              <a:spcBef>
                <a:spcPts val="400"/>
              </a:spcBef>
              <a:defRPr sz="1100">
                <a:solidFill>
                  <a:srgbClr val="1F2937"/>
                </a:solidFill>
              </a:defRPr>
            </a:pPr>
            <a:r>
              <a:t>Each component is measured independently and capped. A pattern must excel in all three to reach CONFIDENT status.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26080"/>
            <a:ext cx="34747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600" b="1">
                <a:solidFill>
                  <a:srgbClr val="3069F0"/>
                </a:solidFill>
              </a:defRPr>
            </a:pPr>
            <a:r>
              <a:t>30 pts</a:t>
            </a:r>
          </a:p>
          <a:p>
            <a:pPr algn="ctr">
              <a:spcBef>
                <a:spcPts val="200"/>
              </a:spcBef>
              <a:defRPr sz="1000">
                <a:solidFill>
                  <a:srgbClr val="5F6B7A"/>
                </a:solidFill>
              </a:defRPr>
            </a:pPr>
            <a:r>
              <a:t>Sample Size</a:t>
            </a:r>
            <a:br/>
            <a:r>
              <a:t>Do we have enough signals?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2926080"/>
            <a:ext cx="34747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600" b="1">
                <a:solidFill>
                  <a:srgbClr val="2E7D32"/>
                </a:solidFill>
              </a:defRPr>
            </a:pPr>
            <a:r>
              <a:t>40 pts</a:t>
            </a:r>
          </a:p>
          <a:p>
            <a:pPr algn="ctr">
              <a:spcBef>
                <a:spcPts val="200"/>
              </a:spcBef>
              <a:defRPr sz="1000">
                <a:solidFill>
                  <a:srgbClr val="5F6B7A"/>
                </a:solidFill>
              </a:defRPr>
            </a:pPr>
            <a:r>
              <a:t>Coverage</a:t>
            </a:r>
            <a:br/>
            <a:r>
              <a:t>What % of outcomes evaluated?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2946628"/>
            <a:ext cx="3749039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600" b="1">
                <a:solidFill>
                  <a:srgbClr val="6A1B9A"/>
                </a:solidFill>
              </a:defRPr>
            </a:pPr>
            <a:r>
              <a:t>30 pts</a:t>
            </a:r>
          </a:p>
          <a:p>
            <a:pPr algn="ctr">
              <a:spcBef>
                <a:spcPts val="200"/>
              </a:spcBef>
              <a:defRPr sz="1000">
                <a:solidFill>
                  <a:srgbClr val="5F6B7A"/>
                </a:solidFill>
              </a:defRPr>
            </a:pPr>
            <a:r>
              <a:t>Horizon Depth</a:t>
            </a:r>
            <a:br/>
            <a:r>
              <a:t>How many of 5 horizons tested?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572000"/>
            <a:ext cx="2286000" cy="310896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&lt; 25 INSUFFICIENT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17520" y="4572000"/>
            <a:ext cx="2286000" cy="310896"/>
          </a:xfrm>
          <a:prstGeom prst="roundRect">
            <a:avLst/>
          </a:prstGeom>
          <a:solidFill>
            <a:srgbClr val="925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25-49 WARMING UP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94960" y="4572000"/>
            <a:ext cx="2286000" cy="310896"/>
          </a:xfrm>
          <a:prstGeom prst="roundRect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50-74 LEARNING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0" y="4572000"/>
            <a:ext cx="2286000" cy="310896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≥ 75 CONFIDENT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5120640"/>
            <a:ext cx="108813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334155"/>
                </a:solidFill>
              </a:defRPr>
            </a:pPr>
            <a:r>
              <a:t>What This Means in Practice</a:t>
            </a:r>
          </a:p>
          <a:p>
            <a:pPr>
              <a:spcBef>
                <a:spcPts val="400"/>
              </a:spcBef>
              <a:defRPr sz="1100">
                <a:solidFill>
                  <a:srgbClr val="1F2937"/>
                </a:solidFill>
              </a:defRPr>
            </a:pPr>
            <a:r>
              <a:t>  A pattern with 10 signals, 50% coverage, and 2 horizons tested would score about 35 — WARMING UP. Not allowed to trade yet.</a:t>
            </a:r>
          </a:p>
          <a:p>
            <a:pPr>
              <a:spcBef>
                <a:spcPts val="400"/>
              </a:spcBef>
              <a:defRPr sz="1100">
                <a:solidFill>
                  <a:srgbClr val="1F2937"/>
                </a:solidFill>
              </a:defRPr>
            </a:pPr>
            <a:r>
              <a:t>  A pattern with 40+ signals, 90% coverage, and all 5 horizons would score 90+ — CONFIDENT. Ready for proposals.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120640"/>
            <a:ext cx="73152" cy="822960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40080" y="6035040"/>
            <a:ext cx="10881360" cy="457200"/>
          </a:xfrm>
          <a:prstGeom prst="roundRect">
            <a:avLst/>
          </a:prstGeom>
          <a:solidFill>
            <a:srgbClr val="F0F3FA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300" i="1">
                <a:solidFill>
                  <a:srgbClr val="334155"/>
                </a:solidFill>
              </a:defRPr>
            </a:pPr>
            <a:r>
              <a:t>🎓  Like a student's transcript: sample size is how many exams taken, coverage is how many subjects, horizons is depth of knowledge. All three matter for graduation.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8640" y="6601968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7B8D"/>
                </a:solidFill>
              </a:defRPr>
            </a:pPr>
            <a:r>
              <a:t>MIP Behind the Scenes  |  How the engine actually works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5800"/>
            <a:ext cx="12191695" cy="54864"/>
          </a:xfrm>
          <a:prstGeom prst="rect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875520" y="128016"/>
            <a:ext cx="2103120" cy="384048"/>
          </a:xfrm>
          <a:prstGeom prst="roundRect">
            <a:avLst/>
          </a:prstGeom>
          <a:solidFill>
            <a:srgbClr val="243047"/>
          </a:solidFill>
          <a:ln>
            <a:solidFill>
              <a:srgbClr val="306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1E9F6"/>
                </a:solidFill>
              </a:defRPr>
            </a:pPr>
            <a:r>
              <a:t>TRUST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32688"/>
            <a:ext cx="8686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F172A"/>
                </a:solidFill>
              </a:defRPr>
            </a:pPr>
            <a:r>
              <a:t>The Trust Gate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7276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5F6B7A"/>
                </a:solidFill>
              </a:defRPr>
            </a:pPr>
            <a:r>
              <a:t>Maturity alone isn't enough — the pattern must also prove it actually makes money recently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20240"/>
            <a:ext cx="54864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334155"/>
                </a:solidFill>
              </a:defRPr>
            </a:pPr>
            <a:r>
              <a:rPr dirty="0"/>
              <a:t>Pattern-Level Trust (Global)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rPr dirty="0"/>
              <a:t>  ≥ 30 evaluated outcomes AND ≥ 80% coverage rate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rPr dirty="0"/>
              <a:t>  Average return &gt; 0 (historically profitable)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rPr dirty="0"/>
              <a:t>  Recent 90 days: ≥ 10 signals, ≥ 50% hit rate, positive avg return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rPr dirty="0"/>
              <a:t>  Only patterns meeting ALL criteria earn TRUSTED status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920240"/>
            <a:ext cx="73152" cy="18288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263640" y="19202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334155"/>
                </a:solidFill>
              </a:defRPr>
            </a:pPr>
            <a:r>
              <a:rPr dirty="0"/>
              <a:t>Symbol-Level Trust (Local)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rPr dirty="0"/>
              <a:t>  ≥ 8 recent signals for this specific symbol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rPr dirty="0"/>
              <a:t>  Recent hit rate ≥ 50% for this symbol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rPr dirty="0"/>
              <a:t>  Recent average return ≥ 0% for this symbol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rPr dirty="0"/>
              <a:t>  Even a globally trusted pattern fails if it doesn't work for THIS symbol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920240"/>
            <a:ext cx="73152" cy="182880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40080" y="3977639"/>
            <a:ext cx="1828800" cy="310896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TRUSTED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60320" y="3977639"/>
            <a:ext cx="1554480" cy="310896"/>
          </a:xfrm>
          <a:prstGeom prst="roundRect">
            <a:avLst/>
          </a:prstGeom>
          <a:solidFill>
            <a:srgbClr val="925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WATCH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0" y="3977639"/>
            <a:ext cx="2011680" cy="310896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UNTRUSTED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3977639"/>
            <a:ext cx="2286000" cy="310896"/>
          </a:xfrm>
          <a:prstGeom prst="roundRect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LOW EVIDENCE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26280"/>
            <a:ext cx="53949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334155"/>
                </a:solidFill>
              </a:defRPr>
            </a:pPr>
            <a:r>
              <a:t>What Happens If Trust Fails?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If a pattern is not TRUSTED: no proposals are generated for it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If a symbol's local trust is not TRUSTED: BUY proposals are blocked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The system keeps learning — trust can be earned over time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Trust can also be LOST if recent performance deteriorates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526280"/>
            <a:ext cx="73152" cy="141732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172200" y="4526280"/>
            <a:ext cx="53949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334155"/>
                </a:solidFill>
              </a:defRPr>
            </a:pPr>
            <a:r>
              <a:t>Why Two Layers of Trust?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Global trust: "This pattern works in general across many symbols"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Local trust: "This pattern works specifically for EUR/USD"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A pattern could work for stocks but not for FX pairs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Double-checking prevents false confidence from aggregation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2200" y="4526280"/>
            <a:ext cx="73152" cy="1417320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40080" y="6035040"/>
            <a:ext cx="10881360" cy="457200"/>
          </a:xfrm>
          <a:prstGeom prst="roundRect">
            <a:avLst/>
          </a:prstGeom>
          <a:solidFill>
            <a:srgbClr val="F0F3FA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300" i="1">
                <a:solidFill>
                  <a:srgbClr val="334155"/>
                </a:solidFill>
              </a:defRPr>
            </a:pPr>
            <a:r>
              <a:t>🏦  Like a bank loan: your overall credit score matters (global), but so does your history with THIS specific bank (local). Both must pass.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6601968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7B8D"/>
                </a:solidFill>
              </a:defRPr>
            </a:pPr>
            <a:r>
              <a:t>MIP Behind the Scenes  |  How the engine actually works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5800"/>
            <a:ext cx="12191695" cy="54864"/>
          </a:xfrm>
          <a:prstGeom prst="rect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875520" y="128016"/>
            <a:ext cx="2103120" cy="384048"/>
          </a:xfrm>
          <a:prstGeom prst="roundRect">
            <a:avLst/>
          </a:prstGeom>
          <a:solidFill>
            <a:srgbClr val="243047"/>
          </a:solidFill>
          <a:ln>
            <a:solidFill>
              <a:srgbClr val="306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1E9F6"/>
                </a:solidFill>
              </a:defRPr>
            </a:pPr>
            <a:r>
              <a:t>GATES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32688"/>
            <a:ext cx="8686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F172A"/>
                </a:solidFill>
              </a:defRPr>
            </a:pPr>
            <a:r>
              <a:t>The Committee Room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7276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5F6B7A"/>
                </a:solidFill>
              </a:defRPr>
            </a:pPr>
            <a:r>
              <a:t>Every trade proposal must survive a gauntlet of 5 independent checks before it can execute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20240"/>
            <a:ext cx="1088136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400" b="1">
                <a:solidFill>
                  <a:srgbClr val="2E7D32"/>
                </a:solidFill>
              </a:defRPr>
            </a:pPr>
            <a:r>
              <a:t>  1. Trust Gate</a:t>
            </a:r>
          </a:p>
          <a:p>
            <a:pPr>
              <a:spcBef>
                <a:spcPts val="100"/>
              </a:spcBef>
              <a:defRPr sz="1100">
                <a:solidFill>
                  <a:srgbClr val="1F2937"/>
                </a:solidFill>
              </a:defRPr>
            </a:pPr>
            <a:r>
              <a:t>      Is the pattern trusted for this symbol?</a:t>
            </a:r>
          </a:p>
          <a:p>
            <a:pPr>
              <a:spcBef>
                <a:spcPts val="100"/>
              </a:spcBef>
              <a:defRPr sz="1100">
                <a:solidFill>
                  <a:srgbClr val="1F2937"/>
                </a:solidFill>
              </a:defRPr>
            </a:pPr>
            <a:r>
              <a:t>      BUY blocked if symbol trust ≠ TRUSTED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920240"/>
            <a:ext cx="73152" cy="74980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424160" y="2103120"/>
            <a:ext cx="914400" cy="347472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GATE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761488"/>
            <a:ext cx="1088136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400" b="1">
                <a:solidFill>
                  <a:srgbClr val="C62828"/>
                </a:solidFill>
              </a:defRPr>
            </a:pPr>
            <a:r>
              <a:t>  2. Risk Gate</a:t>
            </a:r>
          </a:p>
          <a:p>
            <a:pPr>
              <a:spcBef>
                <a:spcPts val="100"/>
              </a:spcBef>
              <a:defRPr sz="1100">
                <a:solidFill>
                  <a:srgbClr val="1F2937"/>
                </a:solidFill>
              </a:defRPr>
            </a:pPr>
            <a:r>
              <a:t>      Is the portfolio in drawdown-stop mode?</a:t>
            </a:r>
          </a:p>
          <a:p>
            <a:pPr>
              <a:spcBef>
                <a:spcPts val="100"/>
              </a:spcBef>
              <a:defRPr sz="1100">
                <a:solidFill>
                  <a:srgbClr val="1F2937"/>
                </a:solidFill>
              </a:defRPr>
            </a:pPr>
            <a:r>
              <a:t>      Blocked if drawdown ≥ stop threshold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761488"/>
            <a:ext cx="73152" cy="749808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424160" y="2944368"/>
            <a:ext cx="914400" cy="347472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GATE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602736"/>
            <a:ext cx="1088136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400" b="1">
                <a:solidFill>
                  <a:srgbClr val="925F00"/>
                </a:solidFill>
              </a:defRPr>
            </a:pPr>
            <a:r>
              <a:t>  3. Capacity Gate</a:t>
            </a:r>
          </a:p>
          <a:p>
            <a:pPr>
              <a:spcBef>
                <a:spcPts val="100"/>
              </a:spcBef>
              <a:defRPr sz="1100">
                <a:solidFill>
                  <a:srgbClr val="1F2937"/>
                </a:solidFill>
              </a:defRPr>
            </a:pPr>
            <a:r>
              <a:t>      Are there slots available?</a:t>
            </a:r>
          </a:p>
          <a:p>
            <a:pPr>
              <a:spcBef>
                <a:spcPts val="100"/>
              </a:spcBef>
              <a:defRPr sz="1100">
                <a:solidFill>
                  <a:srgbClr val="1F2937"/>
                </a:solidFill>
              </a:defRPr>
            </a:pPr>
            <a:r>
              <a:t>      Blocked if positions ≥ max allowed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602736"/>
            <a:ext cx="73152" cy="749808"/>
          </a:xfrm>
          <a:prstGeom prst="rect">
            <a:avLst/>
          </a:prstGeom>
          <a:solidFill>
            <a:srgbClr val="925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424160" y="3785615"/>
            <a:ext cx="914400" cy="347472"/>
          </a:xfrm>
          <a:prstGeom prst="roundRect">
            <a:avLst/>
          </a:prstGeom>
          <a:solidFill>
            <a:srgbClr val="925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GATE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443984"/>
            <a:ext cx="1088136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400" b="1">
                <a:solidFill>
                  <a:srgbClr val="3069F0"/>
                </a:solidFill>
              </a:defRPr>
            </a:pPr>
            <a:r>
              <a:t>  4. Freshness Gate</a:t>
            </a:r>
          </a:p>
          <a:p>
            <a:pPr>
              <a:spcBef>
                <a:spcPts val="100"/>
              </a:spcBef>
              <a:defRPr sz="1100">
                <a:solidFill>
                  <a:srgbClr val="1F2937"/>
                </a:solidFill>
              </a:defRPr>
            </a:pPr>
            <a:r>
              <a:t>      Is market data fresh?</a:t>
            </a:r>
          </a:p>
          <a:p>
            <a:pPr>
              <a:spcBef>
                <a:spcPts val="100"/>
              </a:spcBef>
              <a:defRPr sz="1100">
                <a:solidFill>
                  <a:srgbClr val="1F2937"/>
                </a:solidFill>
              </a:defRPr>
            </a:pPr>
            <a:r>
              <a:t>      Blocked if daily bars are stale (&gt;30 hrs old)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443984"/>
            <a:ext cx="73152" cy="749808"/>
          </a:xfrm>
          <a:prstGeom prst="rect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0424160" y="4626864"/>
            <a:ext cx="914400" cy="347472"/>
          </a:xfrm>
          <a:prstGeom prst="roundRect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GATE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5285232"/>
            <a:ext cx="1088136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400" b="1">
                <a:solidFill>
                  <a:srgbClr val="6A1B9A"/>
                </a:solidFill>
              </a:defRPr>
            </a:pPr>
            <a:r>
              <a:t>  5. AI Committee</a:t>
            </a:r>
          </a:p>
          <a:p>
            <a:pPr>
              <a:spcBef>
                <a:spcPts val="100"/>
              </a:spcBef>
              <a:defRPr sz="1100">
                <a:solidFill>
                  <a:srgbClr val="1F2937"/>
                </a:solidFill>
              </a:defRPr>
            </a:pPr>
            <a:r>
              <a:t>      Does the AI agree?</a:t>
            </a:r>
          </a:p>
          <a:p>
            <a:pPr>
              <a:spcBef>
                <a:spcPts val="100"/>
              </a:spcBef>
              <a:defRPr sz="1100">
                <a:solidFill>
                  <a:srgbClr val="1F2937"/>
                </a:solidFill>
              </a:defRPr>
            </a:pPr>
            <a:r>
              <a:t>      Claude reviews and can block the trade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5285232"/>
            <a:ext cx="73152" cy="749808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0424160" y="5468112"/>
            <a:ext cx="914400" cy="347472"/>
          </a:xfrm>
          <a:prstGeom prst="round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GATE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6035040"/>
            <a:ext cx="10881360" cy="457200"/>
          </a:xfrm>
          <a:prstGeom prst="roundRect">
            <a:avLst/>
          </a:prstGeom>
          <a:solidFill>
            <a:srgbClr val="F0F3FA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300" i="1">
                <a:solidFill>
                  <a:srgbClr val="334155"/>
                </a:solidFill>
              </a:defRPr>
            </a:pPr>
            <a:r>
              <a:t>🚧  Like airport security: ID check (trust), bag scan (risk), seat availability (capacity), boarding pass time (freshness), and a final officer review (AI).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48640" y="6601968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7B8D"/>
                </a:solidFill>
              </a:defRPr>
            </a:pPr>
            <a:r>
              <a:t>MIP Behind the Scenes  |  How the engine actually works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5800"/>
            <a:ext cx="12191695" cy="54864"/>
          </a:xfrm>
          <a:prstGeom prst="rect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875520" y="128016"/>
            <a:ext cx="2103120" cy="384048"/>
          </a:xfrm>
          <a:prstGeom prst="roundRect">
            <a:avLst/>
          </a:prstGeom>
          <a:solidFill>
            <a:srgbClr val="243047"/>
          </a:solidFill>
          <a:ln>
            <a:solidFill>
              <a:srgbClr val="306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1E9F6"/>
                </a:solidFill>
              </a:defRPr>
            </a:pPr>
            <a:r>
              <a:t>MECHANICS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32688"/>
            <a:ext cx="8686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F172A"/>
                </a:solidFill>
              </a:defRPr>
            </a:pPr>
            <a:r>
              <a:t>Position Sizing &amp; Costs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7276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5F6B7A"/>
                </a:solidFill>
              </a:defRPr>
            </a:pPr>
            <a:r>
              <a:t>How MIP decides HOW MUCH to buy, and what the real cost of a trade looks like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20240"/>
            <a:ext cx="5394960" cy="777240"/>
          </a:xfrm>
          <a:prstGeom prst="roundRect">
            <a:avLst/>
          </a:prstGeom>
          <a:solidFill>
            <a:srgbClr val="F0F3FF"/>
          </a:solidFill>
          <a:ln>
            <a:solidFill>
              <a:srgbClr val="306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400" b="1">
                <a:solidFill>
                  <a:srgbClr val="3069F0"/>
                </a:solidFill>
              </a:defRPr>
            </a:pPr>
            <a:r>
              <a:t>Target Value = Cash × Max Position %</a:t>
            </a:r>
          </a:p>
          <a:p>
            <a:pPr>
              <a:spcBef>
                <a:spcPts val="400"/>
              </a:spcBef>
              <a:defRPr sz="1100">
                <a:solidFill>
                  <a:srgbClr val="1F2937"/>
                </a:solidFill>
              </a:defRPr>
            </a:pPr>
            <a:r>
              <a:t>Example: $100,000 cash × 5% = $5,000 per position. Never bet more than 5% on one trade.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920240"/>
            <a:ext cx="5394960" cy="777240"/>
          </a:xfrm>
          <a:prstGeom prst="roundRect">
            <a:avLst/>
          </a:prstGeom>
          <a:solidFill>
            <a:srgbClr val="F0F3FF"/>
          </a:solidFill>
          <a:ln>
            <a:solidFill>
              <a:srgbClr val="306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400" b="1">
                <a:solidFill>
                  <a:srgbClr val="3069F0"/>
                </a:solidFill>
              </a:defRPr>
            </a:pPr>
            <a:r>
              <a:t>Quantity = Target Value / Entry Price</a:t>
            </a:r>
          </a:p>
          <a:p>
            <a:pPr>
              <a:spcBef>
                <a:spcPts val="400"/>
              </a:spcBef>
              <a:defRPr sz="1100">
                <a:solidFill>
                  <a:srgbClr val="1F2937"/>
                </a:solidFill>
              </a:defRPr>
            </a:pPr>
            <a:r>
              <a:t>Example: $5,000 / $150 per share = 33 shares. Rounded to whole shares.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926080"/>
            <a:ext cx="36576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334155"/>
                </a:solidFill>
              </a:defRPr>
            </a:pPr>
            <a:r>
              <a:t>Entry Price Adjustment</a:t>
            </a:r>
          </a:p>
          <a:p>
            <a:pPr>
              <a:spcBef>
                <a:spcPts val="400"/>
              </a:spcBef>
              <a:defRPr sz="1100">
                <a:solidFill>
                  <a:srgbClr val="1F2937"/>
                </a:solidFill>
              </a:defRPr>
            </a:pPr>
            <a:r>
              <a:t>  You don't get the exact close price</a:t>
            </a:r>
          </a:p>
          <a:p>
            <a:pPr>
              <a:spcBef>
                <a:spcPts val="400"/>
              </a:spcBef>
              <a:defRPr sz="1100">
                <a:solidFill>
                  <a:srgbClr val="1F2937"/>
                </a:solidFill>
              </a:defRPr>
            </a:pPr>
            <a:r>
              <a:t>  Slippage: market moves while order fills</a:t>
            </a:r>
          </a:p>
          <a:p>
            <a:pPr>
              <a:spcBef>
                <a:spcPts val="400"/>
              </a:spcBef>
              <a:defRPr sz="1100">
                <a:solidFill>
                  <a:srgbClr val="1F2937"/>
                </a:solidFill>
              </a:defRPr>
            </a:pPr>
            <a:r>
              <a:t>  Spread: difference between bid and ask</a:t>
            </a:r>
          </a:p>
          <a:p>
            <a:pPr>
              <a:spcBef>
                <a:spcPts val="400"/>
              </a:spcBef>
              <a:defRPr sz="1100">
                <a:solidFill>
                  <a:srgbClr val="1F2937"/>
                </a:solidFill>
              </a:defRPr>
            </a:pPr>
            <a:r>
              <a:t>  Buy Price = Close × (1 + slippage + spread/2)</a:t>
            </a:r>
          </a:p>
          <a:p>
            <a:pPr>
              <a:spcBef>
                <a:spcPts val="400"/>
              </a:spcBef>
              <a:defRPr sz="1100">
                <a:solidFill>
                  <a:srgbClr val="1F2937"/>
                </a:solidFill>
              </a:defRPr>
            </a:pPr>
            <a:r>
              <a:t>  Sell Price = Close × (1 − slippage − spread/2)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926080"/>
            <a:ext cx="73152" cy="1828800"/>
          </a:xfrm>
          <a:prstGeom prst="rect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434840" y="2926080"/>
            <a:ext cx="36576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334155"/>
                </a:solidFill>
              </a:defRPr>
            </a:pPr>
            <a:r>
              <a:t>Trading Fees</a:t>
            </a:r>
          </a:p>
          <a:p>
            <a:pPr>
              <a:spcBef>
                <a:spcPts val="400"/>
              </a:spcBef>
              <a:defRPr sz="1100">
                <a:solidFill>
                  <a:srgbClr val="1F2937"/>
                </a:solidFill>
              </a:defRPr>
            </a:pPr>
            <a:r>
              <a:t>  Fee = max(Minimum Fee, Notional × Fee Rate)</a:t>
            </a:r>
          </a:p>
          <a:p>
            <a:pPr>
              <a:spcBef>
                <a:spcPts val="400"/>
              </a:spcBef>
              <a:defRPr sz="1100">
                <a:solidFill>
                  <a:srgbClr val="1F2937"/>
                </a:solidFill>
              </a:defRPr>
            </a:pPr>
            <a:r>
              <a:t>  Example: max($1, $5,000 × 0.001) = $5</a:t>
            </a:r>
          </a:p>
          <a:p>
            <a:pPr>
              <a:spcBef>
                <a:spcPts val="400"/>
              </a:spcBef>
              <a:defRPr sz="1100">
                <a:solidFill>
                  <a:srgbClr val="1F2937"/>
                </a:solidFill>
              </a:defRPr>
            </a:pPr>
            <a:r>
              <a:t>  Fees are subtracted from P&amp;L on both entry and exit</a:t>
            </a:r>
          </a:p>
          <a:p>
            <a:pPr>
              <a:spcBef>
                <a:spcPts val="400"/>
              </a:spcBef>
              <a:defRPr sz="1100">
                <a:solidFill>
                  <a:srgbClr val="1F2937"/>
                </a:solidFill>
              </a:defRPr>
            </a:pPr>
            <a:r>
              <a:t>  Total cost: buy fee + sell fee + slippage + spread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34840" y="2926080"/>
            <a:ext cx="73152" cy="1828800"/>
          </a:xfrm>
          <a:prstGeom prst="rect">
            <a:avLst/>
          </a:prstGeom>
          <a:solidFill>
            <a:srgbClr val="925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229600" y="2926080"/>
            <a:ext cx="33375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334155"/>
                </a:solidFill>
              </a:defRPr>
            </a:pPr>
            <a:r>
              <a:t>Committee Can Scale</a:t>
            </a:r>
          </a:p>
          <a:p>
            <a:pPr>
              <a:spcBef>
                <a:spcPts val="400"/>
              </a:spcBef>
              <a:defRPr sz="1100">
                <a:solidFill>
                  <a:srgbClr val="1F2937"/>
                </a:solidFill>
              </a:defRPr>
            </a:pPr>
            <a:r>
              <a:t>  AI committee can reduce size via SIZE_FACTOR (0–1)</a:t>
            </a:r>
          </a:p>
          <a:p>
            <a:pPr>
              <a:spcBef>
                <a:spcPts val="400"/>
              </a:spcBef>
              <a:defRPr sz="1100">
                <a:solidFill>
                  <a:srgbClr val="1F2937"/>
                </a:solidFill>
              </a:defRPr>
            </a:pPr>
            <a:r>
              <a:t>  If SIZE_FACTOR = 0.5: position halved</a:t>
            </a:r>
          </a:p>
          <a:p>
            <a:pPr>
              <a:spcBef>
                <a:spcPts val="400"/>
              </a:spcBef>
              <a:defRPr sz="1100">
                <a:solidFill>
                  <a:srgbClr val="1F2937"/>
                </a:solidFill>
              </a:defRPr>
            </a:pPr>
            <a:r>
              <a:t>  Lower conviction = smaller bet</a:t>
            </a:r>
          </a:p>
          <a:p>
            <a:pPr>
              <a:spcBef>
                <a:spcPts val="400"/>
              </a:spcBef>
              <a:defRPr sz="1100">
                <a:solidFill>
                  <a:srgbClr val="1F2937"/>
                </a:solidFill>
              </a:defRPr>
            </a:pPr>
            <a:r>
              <a:t>  Committee can also block entirely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2926080"/>
            <a:ext cx="73152" cy="182880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40080" y="4983480"/>
            <a:ext cx="108813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334155"/>
                </a:solidFill>
              </a:defRPr>
            </a:pPr>
            <a:r>
              <a:t>Market Type Quota</a:t>
            </a:r>
          </a:p>
          <a:p>
            <a:pPr>
              <a:spcBef>
                <a:spcPts val="400"/>
              </a:spcBef>
              <a:defRPr sz="1100">
                <a:solidFill>
                  <a:srgbClr val="1F2937"/>
                </a:solidFill>
              </a:defRPr>
            </a:pPr>
            <a:r>
              <a:t>  MIP splits available slots: 60% for stocks, 40% for FX. This prevents over-concentration in one asset class.</a:t>
            </a:r>
          </a:p>
          <a:p>
            <a:pPr>
              <a:spcBef>
                <a:spcPts val="400"/>
              </a:spcBef>
              <a:defRPr sz="1100">
                <a:solidFill>
                  <a:srgbClr val="1F2937"/>
                </a:solidFill>
              </a:defRPr>
            </a:pPr>
            <a:r>
              <a:t>  If there are 10 open slots: up to 6 go to stocks, up to 4 go to FX. Unused slots backfill from the other pool.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983480"/>
            <a:ext cx="73152" cy="960120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40080" y="6035040"/>
            <a:ext cx="10881360" cy="457200"/>
          </a:xfrm>
          <a:prstGeom prst="roundRect">
            <a:avLst/>
          </a:prstGeom>
          <a:solidFill>
            <a:srgbClr val="F0F3FA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300" i="1">
                <a:solidFill>
                  <a:srgbClr val="334155"/>
                </a:solidFill>
              </a:defRPr>
            </a:pPr>
            <a:r>
              <a:t>🎰  Like a poker player who never puts more than 5% of their chips on one hand — and adjusts the bet based on how confident they are in their cards.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8640" y="6601968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7B8D"/>
                </a:solidFill>
              </a:defRPr>
            </a:pPr>
            <a:r>
              <a:t>MIP Behind the Scenes  |  How the engine actually works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5800"/>
            <a:ext cx="12191695" cy="54864"/>
          </a:xfrm>
          <a:prstGeom prst="rect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875520" y="128016"/>
            <a:ext cx="2103120" cy="384048"/>
          </a:xfrm>
          <a:prstGeom prst="roundRect">
            <a:avLst/>
          </a:prstGeom>
          <a:solidFill>
            <a:srgbClr val="243047"/>
          </a:solidFill>
          <a:ln>
            <a:solidFill>
              <a:srgbClr val="306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1E9F6"/>
                </a:solidFill>
              </a:defRPr>
            </a:pPr>
            <a:r>
              <a:t>NEWS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32688"/>
            <a:ext cx="8686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F172A"/>
                </a:solidFill>
              </a:defRPr>
            </a:pPr>
            <a:r>
              <a:t>News Intelligence: The Math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7276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5F6B7A"/>
                </a:solidFill>
              </a:defRPr>
            </a:pPr>
            <a:r>
              <a:t>How MIP converts raw headlines into a quantified, bounded influence score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20240"/>
            <a:ext cx="5394960" cy="777240"/>
          </a:xfrm>
          <a:prstGeom prst="roundRect">
            <a:avLst/>
          </a:prstGeom>
          <a:solidFill>
            <a:srgbClr val="F0F3FF"/>
          </a:solidFill>
          <a:ln>
            <a:solidFill>
              <a:srgbClr val="306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400" b="1">
                <a:solidFill>
                  <a:srgbClr val="3069F0"/>
                </a:solidFill>
              </a:defRPr>
            </a:pPr>
            <a:r>
              <a:t>Z-Score = (Today's News Count − 7-Day Average) / 7-Day StdDev</a:t>
            </a:r>
          </a:p>
          <a:p>
            <a:pPr>
              <a:spcBef>
                <a:spcPts val="400"/>
              </a:spcBef>
              <a:defRPr sz="1100">
                <a:solidFill>
                  <a:srgbClr val="1F2937"/>
                </a:solidFill>
              </a:defRPr>
            </a:pPr>
            <a:r>
              <a:t>Measures how unusual today's news volume is compared to the recent norm. Z ≥ 1.5 = HOT.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920240"/>
            <a:ext cx="5394960" cy="777240"/>
          </a:xfrm>
          <a:prstGeom prst="roundRect">
            <a:avLst/>
          </a:prstGeom>
          <a:solidFill>
            <a:srgbClr val="F0F3FF"/>
          </a:solidFill>
          <a:ln>
            <a:solidFill>
              <a:srgbClr val="306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400" b="1">
                <a:solidFill>
                  <a:srgbClr val="3069F0"/>
                </a:solidFill>
              </a:defRPr>
            </a:pPr>
            <a:r>
              <a:t>Novelty Score = 1 − (Duplicate Count / Total Count)</a:t>
            </a:r>
          </a:p>
          <a:p>
            <a:pPr>
              <a:spcBef>
                <a:spcPts val="400"/>
              </a:spcBef>
              <a:defRPr sz="1100">
                <a:solidFill>
                  <a:srgbClr val="1F2937"/>
                </a:solidFill>
              </a:defRPr>
            </a:pPr>
            <a:r>
              <a:t>How much of today's news is genuinely new vs. recycled. High novelty = more attention-worthy.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926080"/>
            <a:ext cx="36576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334155"/>
                </a:solidFill>
              </a:defRPr>
            </a:pPr>
            <a:r>
              <a:t>Burst Detection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Track 7-day rolling average and std deviation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Today's count significantly above average = burst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Z ≥ 1.5 → HOT badge (unusual activity)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Z &lt; 1.5 → NORMAL badge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No news at all → NONE badge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926080"/>
            <a:ext cx="73152" cy="192024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434840" y="2926080"/>
            <a:ext cx="36576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334155"/>
                </a:solidFill>
              </a:defRPr>
            </a:pPr>
            <a:r>
              <a:t>Uncertainty Detection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Scans headlines for both bullish AND bearish keywords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If BOTH directions appear: UNCERTAINTY = true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Mixed signals mean the market is confused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Uncertainty flag adds caution to proposals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34840" y="2926080"/>
            <a:ext cx="73152" cy="1920240"/>
          </a:xfrm>
          <a:prstGeom prst="rect">
            <a:avLst/>
          </a:prstGeom>
          <a:solidFill>
            <a:srgbClr val="925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229600" y="2926080"/>
            <a:ext cx="333756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334155"/>
                </a:solidFill>
              </a:defRPr>
            </a:pPr>
            <a:r>
              <a:t>Bounded Influence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News score adjustment capped at ±20%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Currently diagnostic only — committee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sees the data but ranking is unchanged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No trade is ever placed purely on news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2926080"/>
            <a:ext cx="73152" cy="1920240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40080" y="5074920"/>
            <a:ext cx="108813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334155"/>
                </a:solidFill>
              </a:defRPr>
            </a:pPr>
            <a:r>
              <a:t>The Key Principle: News Informs, Never Overrides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News can make the committee more cautious or more confident, but it cannot bypass trust gates, risk gates, or capacity limits.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The influence is mathematically bounded (±20% cap) to prevent a single headline from distorting the entire system.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074920"/>
            <a:ext cx="73152" cy="86868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40080" y="6035040"/>
            <a:ext cx="10881360" cy="457200"/>
          </a:xfrm>
          <a:prstGeom prst="roundRect">
            <a:avLst/>
          </a:prstGeom>
          <a:solidFill>
            <a:srgbClr val="F0F3FA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300" i="1">
                <a:solidFill>
                  <a:srgbClr val="334155"/>
                </a:solidFill>
              </a:defRPr>
            </a:pPr>
            <a:r>
              <a:t>📰  Like a judge reading the morning paper: it may inform their thinking, but the verdict is based on evidence presented in court — not on headlines.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8640" y="6601968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7B8D"/>
                </a:solidFill>
              </a:defRPr>
            </a:pPr>
            <a:r>
              <a:t>MIP Behind the Scenes  |  How the engine actually works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5800"/>
            <a:ext cx="12191695" cy="54864"/>
          </a:xfrm>
          <a:prstGeom prst="rect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875520" y="128016"/>
            <a:ext cx="2103120" cy="384048"/>
          </a:xfrm>
          <a:prstGeom prst="roundRect">
            <a:avLst/>
          </a:prstGeom>
          <a:solidFill>
            <a:srgbClr val="243047"/>
          </a:solidFill>
          <a:ln>
            <a:solidFill>
              <a:srgbClr val="306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1E9F6"/>
                </a:solidFill>
              </a:defRPr>
            </a:pPr>
            <a:r>
              <a:t>COUNTERFACTUAL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32688"/>
            <a:ext cx="8686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F172A"/>
                </a:solidFill>
              </a:defRPr>
            </a:pPr>
            <a:r>
              <a:t>Parallel Worlds: The What-If Machine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7276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5F6B7A"/>
                </a:solidFill>
              </a:defRPr>
            </a:pPr>
            <a:r>
              <a:t>MIP asks: 'What would have happened if we'd used a different strategy?' — and calculates the answer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20240"/>
            <a:ext cx="36576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334155"/>
                </a:solidFill>
              </a:defRPr>
            </a:pPr>
            <a:r>
              <a:t>💵  BASELINE</a:t>
            </a:r>
          </a:p>
          <a:p>
            <a:pPr>
              <a:spcBef>
                <a:spcPts val="400"/>
              </a:spcBef>
              <a:defRPr sz="1100">
                <a:solidFill>
                  <a:srgbClr val="1F2937"/>
                </a:solidFill>
              </a:defRPr>
            </a:pPr>
            <a:r>
              <a:t>  What if we did nothing and stayed in cash?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920240"/>
            <a:ext cx="73152" cy="1234440"/>
          </a:xfrm>
          <a:prstGeom prst="rect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480560" y="1920240"/>
            <a:ext cx="36576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334155"/>
                </a:solidFill>
              </a:defRPr>
            </a:pPr>
            <a:r>
              <a:t>📏  SIZING</a:t>
            </a:r>
          </a:p>
          <a:p>
            <a:pPr>
              <a:spcBef>
                <a:spcPts val="400"/>
              </a:spcBef>
              <a:defRPr sz="1100">
                <a:solidFill>
                  <a:srgbClr val="1F2937"/>
                </a:solidFill>
              </a:defRPr>
            </a:pPr>
            <a:r>
              <a:t>  What if each position was 2× or 0.5× the size?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60" y="1920240"/>
            <a:ext cx="73152" cy="1234440"/>
          </a:xfrm>
          <a:prstGeom prst="rect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321040" y="1920240"/>
            <a:ext cx="36576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334155"/>
                </a:solidFill>
              </a:defRPr>
            </a:pPr>
            <a:r>
              <a:t>⏱️  TIMING</a:t>
            </a:r>
          </a:p>
          <a:p>
            <a:pPr>
              <a:spcBef>
                <a:spcPts val="400"/>
              </a:spcBef>
              <a:defRPr sz="1100">
                <a:solidFill>
                  <a:srgbClr val="1F2937"/>
                </a:solidFill>
              </a:defRPr>
            </a:pPr>
            <a:r>
              <a:t>  What if we waited 1–5 bars before entering?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21040" y="1920240"/>
            <a:ext cx="73152" cy="1234440"/>
          </a:xfrm>
          <a:prstGeom prst="rect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40080" y="3337560"/>
            <a:ext cx="36576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334155"/>
                </a:solidFill>
              </a:defRPr>
            </a:pPr>
            <a:r>
              <a:t>🔍  THRESHOLD</a:t>
            </a:r>
          </a:p>
          <a:p>
            <a:pPr>
              <a:spcBef>
                <a:spcPts val="400"/>
              </a:spcBef>
              <a:defRPr sz="1100">
                <a:solidFill>
                  <a:srgbClr val="1F2937"/>
                </a:solidFill>
              </a:defRPr>
            </a:pPr>
            <a:r>
              <a:t>  What if we used stricter/looser signal filters?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337560"/>
            <a:ext cx="73152" cy="123444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480560" y="3337560"/>
            <a:ext cx="36576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334155"/>
                </a:solidFill>
              </a:defRPr>
            </a:pPr>
            <a:r>
              <a:t>📅  HORIZON</a:t>
            </a:r>
          </a:p>
          <a:p>
            <a:pPr>
              <a:spcBef>
                <a:spcPts val="400"/>
              </a:spcBef>
              <a:defRPr sz="1100">
                <a:solidFill>
                  <a:srgbClr val="1F2937"/>
                </a:solidFill>
              </a:defRPr>
            </a:pPr>
            <a:r>
              <a:t>  What if we held positions longer or shorter?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3337560"/>
            <a:ext cx="73152" cy="123444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321040" y="3337560"/>
            <a:ext cx="36576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334155"/>
                </a:solidFill>
              </a:defRPr>
            </a:pPr>
            <a:r>
              <a:rPr dirty="0"/>
              <a:t>🏃  EARLY EXIT</a:t>
            </a:r>
          </a:p>
          <a:p>
            <a:pPr>
              <a:spcBef>
                <a:spcPts val="400"/>
              </a:spcBef>
              <a:defRPr sz="1100">
                <a:solidFill>
                  <a:srgbClr val="1F2937"/>
                </a:solidFill>
              </a:defRPr>
            </a:pPr>
            <a:r>
              <a:rPr dirty="0"/>
              <a:t>  What if we took profits earlier at a multiplier?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321040" y="3337560"/>
            <a:ext cx="73152" cy="123444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40080" y="4937760"/>
            <a:ext cx="5394960" cy="640080"/>
          </a:xfrm>
          <a:prstGeom prst="roundRect">
            <a:avLst/>
          </a:prstGeom>
          <a:solidFill>
            <a:srgbClr val="F0F3FF"/>
          </a:solidFill>
          <a:ln>
            <a:solidFill>
              <a:srgbClr val="306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400" b="1">
                <a:solidFill>
                  <a:srgbClr val="3069F0"/>
                </a:solidFill>
              </a:defRPr>
            </a:pPr>
            <a:r>
              <a:t>Regret = Best Alternative Return − Actual Return</a:t>
            </a:r>
          </a:p>
          <a:p>
            <a:pPr>
              <a:spcBef>
                <a:spcPts val="400"/>
              </a:spcBef>
              <a:defRPr sz="1100">
                <a:solidFill>
                  <a:srgbClr val="1F2937"/>
                </a:solidFill>
              </a:defRPr>
            </a:pPr>
            <a:r>
              <a:t>If cash returned +2% and you returned +5%, regret = −3% (no regret!)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937760"/>
            <a:ext cx="580644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334155"/>
                </a:solidFill>
              </a:defRPr>
            </a:pPr>
            <a:r>
              <a:rPr dirty="0"/>
              <a:t>Policy Health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rPr dirty="0"/>
              <a:t>  If actual outperforms all alternatives → HEALTHY.  If one alternative consistently wins → investigate.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2200" y="4937760"/>
            <a:ext cx="73152" cy="6400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40080" y="6035040"/>
            <a:ext cx="10881360" cy="457200"/>
          </a:xfrm>
          <a:prstGeom prst="roundRect">
            <a:avLst/>
          </a:prstGeom>
          <a:solidFill>
            <a:srgbClr val="F0F3FA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300" i="1">
                <a:solidFill>
                  <a:srgbClr val="334155"/>
                </a:solidFill>
              </a:defRPr>
            </a:pPr>
            <a:r>
              <a:t>🌍  Like testing alternate routes on Google Maps AFTER your trip: 'Would the highway have been faster?' MIP answers this for every trading day.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48640" y="6601968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7B8D"/>
                </a:solidFill>
              </a:defRPr>
            </a:pPr>
            <a:r>
              <a:t>MIP Behind the Scenes  |  How the engine actually works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5800"/>
            <a:ext cx="12191695" cy="54864"/>
          </a:xfrm>
          <a:prstGeom prst="rect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875520" y="128016"/>
            <a:ext cx="2103120" cy="384048"/>
          </a:xfrm>
          <a:prstGeom prst="roundRect">
            <a:avLst/>
          </a:prstGeom>
          <a:solidFill>
            <a:srgbClr val="243047"/>
          </a:solidFill>
          <a:ln>
            <a:solidFill>
              <a:srgbClr val="306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1E9F6"/>
                </a:solidFill>
              </a:defRPr>
            </a:pPr>
            <a:r>
              <a:t>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32688"/>
            <a:ext cx="8686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F172A"/>
                </a:solidFill>
              </a:defRPr>
            </a:pPr>
            <a:r>
              <a:t>The Daily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7276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5F6B7A"/>
                </a:solidFill>
              </a:defRPr>
            </a:pPr>
            <a:r>
              <a:t>Every weekday at 5 PM ET, MIP runs a 10-step automated pipeline — here's what happens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17316" y="1920240"/>
            <a:ext cx="4846323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300" b="1">
                <a:solidFill>
                  <a:srgbClr val="334155"/>
                </a:solidFill>
              </a:defRPr>
            </a:pPr>
            <a:r>
              <a:rPr dirty="0"/>
              <a:t>       Ingest Market Data</a:t>
            </a:r>
          </a:p>
          <a:p>
            <a:pPr>
              <a:spcBef>
                <a:spcPts val="100"/>
              </a:spcBef>
              <a:defRPr sz="1000">
                <a:solidFill>
                  <a:srgbClr val="5F6B7A"/>
                </a:solidFill>
              </a:defRPr>
            </a:pPr>
            <a:r>
              <a:rPr dirty="0"/>
              <a:t>          Pull latest OHLCV bars from </a:t>
            </a:r>
            <a:r>
              <a:rPr dirty="0" err="1"/>
              <a:t>AlphaVantage</a:t>
            </a:r>
            <a:r>
              <a:rPr dirty="0"/>
              <a:t> / IBKR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920240"/>
            <a:ext cx="73152" cy="685800"/>
          </a:xfrm>
          <a:prstGeom prst="rect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22959" y="2057400"/>
            <a:ext cx="411480" cy="411480"/>
          </a:xfrm>
          <a:prstGeom prst="ellipse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23760" y="1920240"/>
            <a:ext cx="484632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300" b="1">
                <a:solidFill>
                  <a:srgbClr val="334155"/>
                </a:solidFill>
              </a:defRPr>
            </a:pPr>
            <a:r>
              <a:rPr dirty="0"/>
              <a:t>       Generate Signals</a:t>
            </a:r>
          </a:p>
          <a:p>
            <a:pPr>
              <a:spcBef>
                <a:spcPts val="100"/>
              </a:spcBef>
              <a:defRPr sz="1000">
                <a:solidFill>
                  <a:srgbClr val="5F6B7A"/>
                </a:solidFill>
              </a:defRPr>
            </a:pPr>
            <a:r>
              <a:rPr dirty="0"/>
              <a:t>          Run pattern detection on fresh bars → fire new signals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46520" y="1920240"/>
            <a:ext cx="73152" cy="685800"/>
          </a:xfrm>
          <a:prstGeom prst="rect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629400" y="2057400"/>
            <a:ext cx="411480" cy="411480"/>
          </a:xfrm>
          <a:prstGeom prst="ellipse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417318" y="2724912"/>
            <a:ext cx="4846322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300" b="1">
                <a:solidFill>
                  <a:srgbClr val="334155"/>
                </a:solidFill>
              </a:defRPr>
            </a:pPr>
            <a:r>
              <a:rPr dirty="0"/>
              <a:t>       Evaluate Outcomes</a:t>
            </a:r>
          </a:p>
          <a:p>
            <a:pPr>
              <a:spcBef>
                <a:spcPts val="100"/>
              </a:spcBef>
              <a:defRPr sz="1000">
                <a:solidFill>
                  <a:srgbClr val="5F6B7A"/>
                </a:solidFill>
              </a:defRPr>
            </a:pPr>
            <a:r>
              <a:rPr dirty="0"/>
              <a:t>          Check if yesterday's signals hit, missed, or were neutral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724912"/>
            <a:ext cx="73152" cy="685800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22959" y="2862072"/>
            <a:ext cx="411480" cy="411480"/>
          </a:xfrm>
          <a:prstGeom prst="ellipse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23760" y="2724912"/>
            <a:ext cx="484632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300" b="1">
                <a:solidFill>
                  <a:srgbClr val="334155"/>
                </a:solidFill>
              </a:defRPr>
            </a:pPr>
            <a:r>
              <a:rPr dirty="0"/>
              <a:t>       Run </a:t>
            </a:r>
            <a:r>
              <a:rPr dirty="0" err="1"/>
              <a:t>Backtests</a:t>
            </a:r>
            <a:endParaRPr dirty="0"/>
          </a:p>
          <a:p>
            <a:pPr>
              <a:spcBef>
                <a:spcPts val="100"/>
              </a:spcBef>
              <a:defRPr sz="1000">
                <a:solidFill>
                  <a:srgbClr val="5F6B7A"/>
                </a:solidFill>
              </a:defRPr>
            </a:pPr>
            <a:r>
              <a:rPr dirty="0"/>
              <a:t>          Update hit rates, avg returns, and pattern scores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46520" y="2724912"/>
            <a:ext cx="73152" cy="685800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629400" y="2862072"/>
            <a:ext cx="411480" cy="411480"/>
          </a:xfrm>
          <a:prstGeom prst="ellipse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417318" y="3529584"/>
            <a:ext cx="4846322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300" b="1">
                <a:solidFill>
                  <a:srgbClr val="334155"/>
                </a:solidFill>
              </a:defRPr>
            </a:pPr>
            <a:r>
              <a:rPr dirty="0"/>
              <a:t>       Train Patterns</a:t>
            </a:r>
          </a:p>
          <a:p>
            <a:pPr>
              <a:spcBef>
                <a:spcPts val="100"/>
              </a:spcBef>
              <a:defRPr sz="1000">
                <a:solidFill>
                  <a:srgbClr val="5F6B7A"/>
                </a:solidFill>
              </a:defRPr>
            </a:pPr>
            <a:r>
              <a:rPr dirty="0"/>
              <a:t>          Recalculate maturity, trust labels, activate/deactivate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529584"/>
            <a:ext cx="73152" cy="685800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22959" y="3666744"/>
            <a:ext cx="411480" cy="411480"/>
          </a:xfrm>
          <a:prstGeom prst="ellipse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23760" y="3529584"/>
            <a:ext cx="484632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300" b="1">
                <a:solidFill>
                  <a:srgbClr val="334155"/>
                </a:solidFill>
              </a:defRPr>
            </a:pPr>
            <a:r>
              <a:rPr dirty="0">
                <a:solidFill>
                  <a:schemeClr val="bg2">
                    <a:lumMod val="75000"/>
                  </a:schemeClr>
                </a:solidFill>
              </a:rPr>
              <a:t>       Run Simulation</a:t>
            </a:r>
          </a:p>
          <a:p>
            <a:pPr>
              <a:spcBef>
                <a:spcPts val="100"/>
              </a:spcBef>
              <a:defRPr sz="1000">
                <a:solidFill>
                  <a:srgbClr val="5F6B7A"/>
                </a:solidFill>
              </a:defRPr>
            </a:pPr>
            <a:r>
              <a:rPr dirty="0">
                <a:solidFill>
                  <a:schemeClr val="bg2">
                    <a:lumMod val="75000"/>
                  </a:schemeClr>
                </a:solidFill>
              </a:rPr>
              <a:t>          Simulate portfolio: open/close positions, track equity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46520" y="3529584"/>
            <a:ext cx="73152" cy="6858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629400" y="3666744"/>
            <a:ext cx="411480" cy="41148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17318" y="4334256"/>
            <a:ext cx="4846322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300" b="1">
                <a:solidFill>
                  <a:srgbClr val="334155"/>
                </a:solidFill>
              </a:defRPr>
            </a:pPr>
            <a:r>
              <a:rPr dirty="0"/>
              <a:t>       Propose Trades</a:t>
            </a:r>
          </a:p>
          <a:p>
            <a:pPr>
              <a:spcBef>
                <a:spcPts val="100"/>
              </a:spcBef>
              <a:defRPr sz="1000">
                <a:solidFill>
                  <a:srgbClr val="5F6B7A"/>
                </a:solidFill>
              </a:defRPr>
            </a:pPr>
            <a:r>
              <a:rPr dirty="0"/>
              <a:t>          Select best trusted signals → create proposals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4334256"/>
            <a:ext cx="73152" cy="68580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822959" y="4471416"/>
            <a:ext cx="411480" cy="411480"/>
          </a:xfrm>
          <a:prstGeom prst="ellipse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223760" y="4334256"/>
            <a:ext cx="484632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300" b="1">
                <a:solidFill>
                  <a:srgbClr val="334155"/>
                </a:solidFill>
              </a:defRPr>
            </a:pPr>
            <a:r>
              <a:rPr dirty="0"/>
              <a:t>       Validate &amp; Execute</a:t>
            </a:r>
          </a:p>
          <a:p>
            <a:pPr>
              <a:spcBef>
                <a:spcPts val="100"/>
              </a:spcBef>
              <a:defRPr sz="1000">
                <a:solidFill>
                  <a:srgbClr val="5F6B7A"/>
                </a:solidFill>
              </a:defRPr>
            </a:pPr>
            <a:r>
              <a:rPr dirty="0"/>
              <a:t>          Run through all gates + committee → execute approved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46520" y="4334256"/>
            <a:ext cx="73152" cy="68580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6629400" y="4471416"/>
            <a:ext cx="411480" cy="411480"/>
          </a:xfrm>
          <a:prstGeom prst="ellipse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417316" y="5138928"/>
            <a:ext cx="4846324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300" b="1">
                <a:solidFill>
                  <a:srgbClr val="334155"/>
                </a:solidFill>
              </a:defRPr>
            </a:pPr>
            <a:r>
              <a:t>       Generate Briefs</a:t>
            </a:r>
          </a:p>
          <a:p>
            <a:pPr>
              <a:spcBef>
                <a:spcPts val="100"/>
              </a:spcBef>
              <a:defRPr sz="1000">
                <a:solidFill>
                  <a:srgbClr val="5F6B7A"/>
                </a:solidFill>
              </a:defRPr>
            </a:pPr>
            <a:r>
              <a:t>          AI creates daily digest + training narratives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" y="5138928"/>
            <a:ext cx="73152" cy="685800"/>
          </a:xfrm>
          <a:prstGeom prst="rect">
            <a:avLst/>
          </a:prstGeom>
          <a:solidFill>
            <a:srgbClr val="3949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822959" y="5276088"/>
            <a:ext cx="411480" cy="411480"/>
          </a:xfrm>
          <a:prstGeom prst="ellipse">
            <a:avLst/>
          </a:prstGeom>
          <a:solidFill>
            <a:srgbClr val="3949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9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223760" y="5138928"/>
            <a:ext cx="484632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300" b="1">
                <a:solidFill>
                  <a:srgbClr val="334155"/>
                </a:solidFill>
              </a:defRPr>
            </a:pPr>
            <a:r>
              <a:rPr dirty="0"/>
              <a:t>       Parallel Worlds</a:t>
            </a:r>
          </a:p>
          <a:p>
            <a:pPr>
              <a:spcBef>
                <a:spcPts val="100"/>
              </a:spcBef>
              <a:defRPr sz="1000">
                <a:solidFill>
                  <a:srgbClr val="5F6B7A"/>
                </a:solidFill>
              </a:defRPr>
            </a:pPr>
            <a:r>
              <a:rPr dirty="0"/>
              <a:t>          Run counterfactual scenarios + regret analysis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46520" y="5138928"/>
            <a:ext cx="73152" cy="685800"/>
          </a:xfrm>
          <a:prstGeom prst="rect">
            <a:avLst/>
          </a:prstGeom>
          <a:solidFill>
            <a:srgbClr val="3949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6629400" y="5276088"/>
            <a:ext cx="411480" cy="411480"/>
          </a:xfrm>
          <a:prstGeom prst="ellipse">
            <a:avLst/>
          </a:prstGeom>
          <a:solidFill>
            <a:srgbClr val="3949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6035040"/>
            <a:ext cx="10881360" cy="457200"/>
          </a:xfrm>
          <a:prstGeom prst="roundRect">
            <a:avLst/>
          </a:prstGeom>
          <a:solidFill>
            <a:srgbClr val="F0F3FA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300" i="1">
                <a:solidFill>
                  <a:srgbClr val="334155"/>
                </a:solidFill>
              </a:defRPr>
            </a:pPr>
            <a:r>
              <a:t>🏭  Like a factory assembly line that runs every evening: raw materials in, quality checks at every station, finished product out. Every step is logged.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48640" y="6601968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7B8D"/>
                </a:solidFill>
              </a:defRPr>
            </a:pPr>
            <a:r>
              <a:t>MIP Behind the Scenes  |  How the engine actually works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5800"/>
            <a:ext cx="12191695" cy="54864"/>
          </a:xfrm>
          <a:prstGeom prst="rect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875520" y="128016"/>
            <a:ext cx="2103120" cy="384048"/>
          </a:xfrm>
          <a:prstGeom prst="roundRect">
            <a:avLst/>
          </a:prstGeom>
          <a:solidFill>
            <a:srgbClr val="243047"/>
          </a:solidFill>
          <a:ln>
            <a:solidFill>
              <a:srgbClr val="306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1E9F6"/>
                </a:solidFill>
              </a:defRPr>
            </a:pPr>
            <a:r>
              <a:t>TRADING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32688"/>
            <a:ext cx="8686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F172A"/>
                </a:solidFill>
              </a:defRPr>
            </a:pPr>
            <a:r>
              <a:t>Live Portfolio Link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72768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F6B7A"/>
                </a:solidFill>
              </a:defRPr>
            </a:pPr>
            <a:r>
              <a:t>The control plane — binding MIP's intelligence engine to real broker execution via Interactive Brokers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1965960"/>
            <a:ext cx="29260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F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34155"/>
                </a:solidFill>
              </a:defRPr>
            </a:pPr>
            <a:r>
              <a:t>Source Portfolio</a:t>
            </a:r>
          </a:p>
        </p:txBody>
      </p:sp>
      <p:sp>
        <p:nvSpPr>
          <p:cNvPr id="8" name="Chevron 7"/>
          <p:cNvSpPr/>
          <p:nvPr/>
        </p:nvSpPr>
        <p:spPr>
          <a:xfrm>
            <a:off x="4041648" y="2148840"/>
            <a:ext cx="164592" cy="411480"/>
          </a:xfrm>
          <a:prstGeom prst="chevron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572000" y="1965960"/>
            <a:ext cx="29260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F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34155"/>
                </a:solidFill>
              </a:defRPr>
            </a:pPr>
            <a:r>
              <a:t>MIP Live Config</a:t>
            </a:r>
          </a:p>
        </p:txBody>
      </p:sp>
      <p:sp>
        <p:nvSpPr>
          <p:cNvPr id="10" name="Chevron 9"/>
          <p:cNvSpPr/>
          <p:nvPr/>
        </p:nvSpPr>
        <p:spPr>
          <a:xfrm>
            <a:off x="7516367" y="2148840"/>
            <a:ext cx="164592" cy="411480"/>
          </a:xfrm>
          <a:prstGeom prst="chevron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046720" y="1965960"/>
            <a:ext cx="29260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F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34155"/>
                </a:solidFill>
              </a:defRPr>
            </a:pPr>
            <a:r>
              <a:t>IBKR Account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23360" y="2926080"/>
            <a:ext cx="1828800" cy="310896"/>
          </a:xfrm>
          <a:prstGeom prst="roundRect">
            <a:avLst/>
          </a:prstGeom>
          <a:solidFill>
            <a:srgbClr val="925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Activation Guard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2926080"/>
            <a:ext cx="2103120" cy="310896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Execution Readiness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474720"/>
            <a:ext cx="365760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334155"/>
                </a:solidFill>
              </a:defRPr>
            </a:pPr>
            <a:r>
              <a:t>Configuration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Adapter mode: PAPER or LIVE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Max positions and exposure limits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Cash buffer percentage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Quote freshness thresholds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Cooldown bars between trades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474720"/>
            <a:ext cx="73152" cy="2468880"/>
          </a:xfrm>
          <a:prstGeom prst="rect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434840" y="3474720"/>
            <a:ext cx="365760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334155"/>
                </a:solidFill>
              </a:defRPr>
            </a:pPr>
            <a:r>
              <a:t>Risk Brakes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Drawdown stop threshold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Bust percentage limit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Validity window enforcement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Snapshot freshness gates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Position-level safeguards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34840" y="3474720"/>
            <a:ext cx="73152" cy="246888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229600" y="3474720"/>
            <a:ext cx="333756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334155"/>
                </a:solidFill>
              </a:defRPr>
            </a:pPr>
            <a:r>
              <a:t>Governance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Save writes config — no orders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Execution requires validation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Committee must approve first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Full audit of every state change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Human override at every step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3474720"/>
            <a:ext cx="73152" cy="24688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40080" y="6035040"/>
            <a:ext cx="10881360" cy="457200"/>
          </a:xfrm>
          <a:prstGeom prst="roundRect">
            <a:avLst/>
          </a:prstGeom>
          <a:solidFill>
            <a:srgbClr val="F0F3FA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300" i="1">
                <a:solidFill>
                  <a:srgbClr val="334155"/>
                </a:solidFill>
              </a:defRPr>
            </a:pPr>
            <a:r>
              <a:t>🏛️  Like air traffic control: MIP clears each flight (trade) only when conditions, fuel (capital), and weather (market) all pass safety checks.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8640" y="6601968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7B8D"/>
                </a:solidFill>
              </a:defRPr>
            </a:pPr>
            <a:r>
              <a:t>MIP  |  Market Intelligence Platform  |  Evidence  &gt;  Decision  &gt;  Execution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5800"/>
            <a:ext cx="12191695" cy="54864"/>
          </a:xfrm>
          <a:prstGeom prst="rect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875520" y="128016"/>
            <a:ext cx="2103120" cy="384048"/>
          </a:xfrm>
          <a:prstGeom prst="roundRect">
            <a:avLst/>
          </a:prstGeom>
          <a:solidFill>
            <a:srgbClr val="243047"/>
          </a:solidFill>
          <a:ln>
            <a:solidFill>
              <a:srgbClr val="306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1E9F6"/>
                </a:solidFill>
              </a:defRPr>
            </a:pPr>
            <a:r>
              <a:t>EXECUTION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32688"/>
            <a:ext cx="8686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F172A"/>
                </a:solidFill>
              </a:defRPr>
            </a:pPr>
            <a:r>
              <a:t>The Live Bridge to IBKR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7276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5F6B7A"/>
                </a:solidFill>
              </a:defRPr>
            </a:pPr>
            <a:r>
              <a:t>How an approved trade travels from MIP's brain to Interactive Brokers' execution engine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1920240"/>
            <a:ext cx="169164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F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34155"/>
                </a:solidFill>
              </a:defRPr>
            </a:pPr>
            <a:r>
              <a:t>Validated</a:t>
            </a:r>
          </a:p>
        </p:txBody>
      </p:sp>
      <p:sp>
        <p:nvSpPr>
          <p:cNvPr id="8" name="Chevron 7"/>
          <p:cNvSpPr/>
          <p:nvPr/>
        </p:nvSpPr>
        <p:spPr>
          <a:xfrm>
            <a:off x="2029968" y="2103120"/>
            <a:ext cx="164592" cy="411480"/>
          </a:xfrm>
          <a:prstGeom prst="chevron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240280" y="1920240"/>
            <a:ext cx="169164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F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34155"/>
                </a:solidFill>
              </a:defRPr>
            </a:pPr>
            <a:r>
              <a:t>Committee</a:t>
            </a:r>
          </a:p>
        </p:txBody>
      </p:sp>
      <p:sp>
        <p:nvSpPr>
          <p:cNvPr id="10" name="Chevron 9"/>
          <p:cNvSpPr/>
          <p:nvPr/>
        </p:nvSpPr>
        <p:spPr>
          <a:xfrm>
            <a:off x="3950208" y="2103120"/>
            <a:ext cx="164592" cy="411480"/>
          </a:xfrm>
          <a:prstGeom prst="chevron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160520" y="1920240"/>
            <a:ext cx="169164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F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34155"/>
                </a:solidFill>
              </a:defRPr>
            </a:pPr>
            <a:r>
              <a:t>PM Accept</a:t>
            </a:r>
          </a:p>
        </p:txBody>
      </p:sp>
      <p:sp>
        <p:nvSpPr>
          <p:cNvPr id="12" name="Chevron 11"/>
          <p:cNvSpPr/>
          <p:nvPr/>
        </p:nvSpPr>
        <p:spPr>
          <a:xfrm>
            <a:off x="5870448" y="2103120"/>
            <a:ext cx="164592" cy="411480"/>
          </a:xfrm>
          <a:prstGeom prst="chevron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080760" y="1920240"/>
            <a:ext cx="169164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F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34155"/>
                </a:solidFill>
              </a:defRPr>
            </a:pPr>
            <a:r>
              <a:t>Compliance</a:t>
            </a:r>
          </a:p>
        </p:txBody>
      </p:sp>
      <p:sp>
        <p:nvSpPr>
          <p:cNvPr id="14" name="Chevron 13"/>
          <p:cNvSpPr/>
          <p:nvPr/>
        </p:nvSpPr>
        <p:spPr>
          <a:xfrm>
            <a:off x="7790688" y="2103120"/>
            <a:ext cx="164592" cy="411480"/>
          </a:xfrm>
          <a:prstGeom prst="chevron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001000" y="1920240"/>
            <a:ext cx="169164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F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34155"/>
                </a:solidFill>
              </a:defRPr>
            </a:pPr>
            <a:r>
              <a:t>Revalidate</a:t>
            </a:r>
          </a:p>
        </p:txBody>
      </p:sp>
      <p:sp>
        <p:nvSpPr>
          <p:cNvPr id="16" name="Chevron 15"/>
          <p:cNvSpPr/>
          <p:nvPr/>
        </p:nvSpPr>
        <p:spPr>
          <a:xfrm>
            <a:off x="9710928" y="2103120"/>
            <a:ext cx="164592" cy="411480"/>
          </a:xfrm>
          <a:prstGeom prst="chevron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9921240" y="1920240"/>
            <a:ext cx="169164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F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34155"/>
                </a:solidFill>
              </a:defRPr>
            </a:pPr>
            <a:r>
              <a:t>Execute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017520"/>
            <a:ext cx="36576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334155"/>
                </a:solidFill>
              </a:defRPr>
            </a:pPr>
            <a:r>
              <a:t>Pre-Flight Checks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Price guard: current price vs. signal price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Exposure check: would this exceed limits?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Market open: is the exchange actually trading?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Symbol halt: is this stock suspended?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017520"/>
            <a:ext cx="73152" cy="1554480"/>
          </a:xfrm>
          <a:prstGeom prst="rect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4434840" y="3017520"/>
            <a:ext cx="36576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334155"/>
                </a:solidFill>
              </a:defRPr>
            </a:pPr>
            <a:r>
              <a:t>Revalidation (just before execution)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Fresh 1-minute bar required (not stale)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Price deviation check: has price moved too far?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Exposure recalculated with current NAV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Must pass ALL checks again — market moves fast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34840" y="3017520"/>
            <a:ext cx="73152" cy="1554480"/>
          </a:xfrm>
          <a:prstGeom prst="rect">
            <a:avLst/>
          </a:prstGeom>
          <a:solidFill>
            <a:srgbClr val="925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229600" y="3017520"/>
            <a:ext cx="333756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334155"/>
                </a:solidFill>
              </a:defRPr>
            </a:pPr>
            <a:r>
              <a:t>Order Structure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Parent: Market or Limit order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Child 1: Take-profit (limit order)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Child 2: Stop-loss (stop order)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Bracket order: all three linked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0" y="3017520"/>
            <a:ext cx="73152" cy="15544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40080" y="4800600"/>
            <a:ext cx="53949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334155"/>
                </a:solidFill>
              </a:defRPr>
            </a:pPr>
            <a:r>
              <a:t>Broker Snapshot Sync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MIP pulls from IBKR: NAV, cash, positions, open orders, executions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Written to BROKER_SNAPSHOTS table every sync cycle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Drift detection: does MIP's view match the broker's reality?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4800600"/>
            <a:ext cx="73152" cy="1143000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172200" y="4800600"/>
            <a:ext cx="53949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334155"/>
                </a:solidFill>
              </a:defRPr>
            </a:pPr>
            <a:r>
              <a:t>Risk Brakes (Live)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Drawdown stop: if portfolio drops ≥ threshold from peak → block entries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Remains blocked until all positions are flat (closed)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Only then can the system resume trading — automatic cooldown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72200" y="4800600"/>
            <a:ext cx="73152" cy="11430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640080" y="6035040"/>
            <a:ext cx="10881360" cy="457200"/>
          </a:xfrm>
          <a:prstGeom prst="roundRect">
            <a:avLst/>
          </a:prstGeom>
          <a:solidFill>
            <a:srgbClr val="F0F3FA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300" i="1">
                <a:solidFill>
                  <a:srgbClr val="334155"/>
                </a:solidFill>
              </a:defRPr>
            </a:pPr>
            <a:r>
              <a:t>🚀  Like a rocket launch: pre-flight checks, countdown hold points, a final 'go' from mission control, and real-time telemetry monitoring once airborne.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48640" y="6601968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7B8D"/>
                </a:solidFill>
              </a:defRPr>
            </a:pPr>
            <a:r>
              <a:t>MIP Behind the Scenes  |  How the engine actually works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5800"/>
            <a:ext cx="12191695" cy="54864"/>
          </a:xfrm>
          <a:prstGeom prst="rect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875520" y="128016"/>
            <a:ext cx="2103120" cy="384048"/>
          </a:xfrm>
          <a:prstGeom prst="roundRect">
            <a:avLst/>
          </a:prstGeom>
          <a:solidFill>
            <a:srgbClr val="243047"/>
          </a:solidFill>
          <a:ln>
            <a:solidFill>
              <a:srgbClr val="306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1E9F6"/>
                </a:solidFill>
              </a:defRPr>
            </a:pPr>
            <a:r>
              <a:t>DECISIONS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32688"/>
            <a:ext cx="8686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F172A"/>
                </a:solidFill>
              </a:defRPr>
            </a:pPr>
            <a:r>
              <a:t>AI Agent Decisions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72768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F6B7A"/>
                </a:solidFill>
              </a:defRPr>
            </a:pPr>
            <a:r>
              <a:t>The committee courtroom — every trade proposal faces a structured verdict with reason codes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65960"/>
            <a:ext cx="539496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334155"/>
                </a:solidFill>
              </a:defRPr>
            </a:pPr>
            <a:r>
              <a:t>APPROVED Example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Verdict:  APPROVE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Confidence:  HIGH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Trust gate:  PASSED — maturity 82, coverage 91%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Risk gate:  PASSED — within position limits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Freshness:  PASSED — quote age 3 min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Committee summary generated for audit trail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965960"/>
            <a:ext cx="73152" cy="2103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172200" y="1965960"/>
            <a:ext cx="539496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334155"/>
                </a:solidFill>
              </a:defRPr>
            </a:pPr>
            <a:r>
              <a:t>REJECTED Example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Verdict:  REJECT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Confidence:  MEDIUM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Trust gate:  FAILED — maturity only 34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Capacity gate:  BLOCKED — max positions reached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Stale quote risk flagged (15 min age)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Reason codes preserved for learning ledger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1965960"/>
            <a:ext cx="73152" cy="210312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94360" y="4343400"/>
            <a:ext cx="196596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F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34155"/>
                </a:solidFill>
              </a:defRPr>
            </a:pPr>
            <a:r>
              <a:t>PROPOSED</a:t>
            </a:r>
          </a:p>
        </p:txBody>
      </p:sp>
      <p:sp>
        <p:nvSpPr>
          <p:cNvPr id="12" name="Chevron 11"/>
          <p:cNvSpPr/>
          <p:nvPr/>
        </p:nvSpPr>
        <p:spPr>
          <a:xfrm>
            <a:off x="2578608" y="4526280"/>
            <a:ext cx="164592" cy="411480"/>
          </a:xfrm>
          <a:prstGeom prst="chevron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2852927" y="4343400"/>
            <a:ext cx="196596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F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34155"/>
                </a:solidFill>
              </a:defRPr>
            </a:pPr>
            <a:r>
              <a:t>TRUST GATE</a:t>
            </a:r>
          </a:p>
        </p:txBody>
      </p:sp>
      <p:sp>
        <p:nvSpPr>
          <p:cNvPr id="14" name="Chevron 13"/>
          <p:cNvSpPr/>
          <p:nvPr/>
        </p:nvSpPr>
        <p:spPr>
          <a:xfrm>
            <a:off x="4837175" y="4526280"/>
            <a:ext cx="164592" cy="411480"/>
          </a:xfrm>
          <a:prstGeom prst="chevron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111496" y="4343400"/>
            <a:ext cx="196596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F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34155"/>
                </a:solidFill>
              </a:defRPr>
            </a:pPr>
            <a:r>
              <a:t>RISK GATE</a:t>
            </a:r>
          </a:p>
        </p:txBody>
      </p:sp>
      <p:sp>
        <p:nvSpPr>
          <p:cNvPr id="16" name="Chevron 15"/>
          <p:cNvSpPr/>
          <p:nvPr/>
        </p:nvSpPr>
        <p:spPr>
          <a:xfrm>
            <a:off x="7095744" y="4526280"/>
            <a:ext cx="164592" cy="411480"/>
          </a:xfrm>
          <a:prstGeom prst="chevron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370063" y="4343400"/>
            <a:ext cx="196596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F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34155"/>
                </a:solidFill>
              </a:defRPr>
            </a:pPr>
            <a:r>
              <a:t>COMMITTEE</a:t>
            </a:r>
          </a:p>
        </p:txBody>
      </p:sp>
      <p:sp>
        <p:nvSpPr>
          <p:cNvPr id="18" name="Chevron 17"/>
          <p:cNvSpPr/>
          <p:nvPr/>
        </p:nvSpPr>
        <p:spPr>
          <a:xfrm>
            <a:off x="9354311" y="4526280"/>
            <a:ext cx="164592" cy="411480"/>
          </a:xfrm>
          <a:prstGeom prst="chevron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9628632" y="4343400"/>
            <a:ext cx="196596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F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34155"/>
                </a:solidFill>
              </a:defRPr>
            </a:pPr>
            <a:r>
              <a:t>VERDICT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349240"/>
            <a:ext cx="1088136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334155"/>
                </a:solidFill>
              </a:defRPr>
            </a:pPr>
            <a:r>
              <a:t>Deterministic Accountability</a:t>
            </a:r>
          </a:p>
          <a:p>
            <a:pPr>
              <a:spcBef>
                <a:spcPts val="400"/>
              </a:spcBef>
              <a:defRPr sz="1300">
                <a:solidFill>
                  <a:srgbClr val="1F2937"/>
                </a:solidFill>
              </a:defRPr>
            </a:pPr>
            <a:r>
              <a:t>  Reason codes are structured and queryable — not free-text opinions. Every APPROVE and REJECT is reproducible and auditable.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5349240"/>
            <a:ext cx="73152" cy="64008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40080" y="6035040"/>
            <a:ext cx="10881360" cy="457200"/>
          </a:xfrm>
          <a:prstGeom prst="roundRect">
            <a:avLst/>
          </a:prstGeom>
          <a:solidFill>
            <a:srgbClr val="F0F3FA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300" i="1">
                <a:solidFill>
                  <a:srgbClr val="334155"/>
                </a:solidFill>
              </a:defRPr>
            </a:pPr>
            <a:r>
              <a:t>⚖️  Like a courtroom trial: evidence is presented, gates are checked, and a structured verdict is rendered — with a full transcript for appeal.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48640" y="6601968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7B8D"/>
                </a:solidFill>
              </a:defRPr>
            </a:pPr>
            <a:r>
              <a:t>MIP  |  Market Intelligence Platform  |  Evidence  &gt;  Decision  &gt;  Execution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5800"/>
            <a:ext cx="12191695" cy="54864"/>
          </a:xfrm>
          <a:prstGeom prst="rect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875520" y="128016"/>
            <a:ext cx="2103120" cy="384048"/>
          </a:xfrm>
          <a:prstGeom prst="roundRect">
            <a:avLst/>
          </a:prstGeom>
          <a:solidFill>
            <a:srgbClr val="243047"/>
          </a:solidFill>
          <a:ln>
            <a:solidFill>
              <a:srgbClr val="306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1E9F6"/>
                </a:solidFill>
              </a:defRPr>
            </a:pPr>
            <a:r>
              <a:t>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32688"/>
            <a:ext cx="8686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F172A"/>
                </a:solidFill>
              </a:defRPr>
            </a:pPr>
            <a:r>
              <a:t>Learning Ledger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72768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F6B7A"/>
                </a:solidFill>
              </a:defRPr>
            </a:pPr>
            <a:r>
              <a:t>The institutional memory — every decision, its context, and what happened next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965960"/>
            <a:ext cx="196596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F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34155"/>
                </a:solidFill>
              </a:defRPr>
            </a:pPr>
            <a:r>
              <a:t>Proposal</a:t>
            </a:r>
          </a:p>
        </p:txBody>
      </p:sp>
      <p:sp>
        <p:nvSpPr>
          <p:cNvPr id="8" name="Chevron 7"/>
          <p:cNvSpPr/>
          <p:nvPr/>
        </p:nvSpPr>
        <p:spPr>
          <a:xfrm>
            <a:off x="2578608" y="2148840"/>
            <a:ext cx="164592" cy="411480"/>
          </a:xfrm>
          <a:prstGeom prst="chevron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852927" y="1965960"/>
            <a:ext cx="196596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F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34155"/>
                </a:solidFill>
              </a:defRPr>
            </a:pPr>
            <a:r>
              <a:t>Decision</a:t>
            </a:r>
          </a:p>
        </p:txBody>
      </p:sp>
      <p:sp>
        <p:nvSpPr>
          <p:cNvPr id="10" name="Chevron 9"/>
          <p:cNvSpPr/>
          <p:nvPr/>
        </p:nvSpPr>
        <p:spPr>
          <a:xfrm>
            <a:off x="4837175" y="2148840"/>
            <a:ext cx="164592" cy="411480"/>
          </a:xfrm>
          <a:prstGeom prst="chevron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111496" y="1965960"/>
            <a:ext cx="196596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F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34155"/>
                </a:solidFill>
              </a:defRPr>
            </a:pPr>
            <a:r>
              <a:t>Execution</a:t>
            </a:r>
          </a:p>
        </p:txBody>
      </p:sp>
      <p:sp>
        <p:nvSpPr>
          <p:cNvPr id="12" name="Chevron 11"/>
          <p:cNvSpPr/>
          <p:nvPr/>
        </p:nvSpPr>
        <p:spPr>
          <a:xfrm>
            <a:off x="7095744" y="2148840"/>
            <a:ext cx="164592" cy="411480"/>
          </a:xfrm>
          <a:prstGeom prst="chevron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7370063" y="1965960"/>
            <a:ext cx="196596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F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34155"/>
                </a:solidFill>
              </a:defRPr>
            </a:pPr>
            <a:r>
              <a:t>Outcome</a:t>
            </a:r>
          </a:p>
        </p:txBody>
      </p:sp>
      <p:sp>
        <p:nvSpPr>
          <p:cNvPr id="14" name="Chevron 13"/>
          <p:cNvSpPr/>
          <p:nvPr/>
        </p:nvSpPr>
        <p:spPr>
          <a:xfrm>
            <a:off x="9354311" y="2148840"/>
            <a:ext cx="164592" cy="411480"/>
          </a:xfrm>
          <a:prstGeom prst="chevron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9628632" y="1965960"/>
            <a:ext cx="196596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F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34155"/>
                </a:solidFill>
              </a:defRPr>
            </a:pPr>
            <a:r>
              <a:t>Lesson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063240"/>
            <a:ext cx="3657600" cy="283464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334155"/>
                </a:solidFill>
              </a:defRPr>
            </a:pPr>
            <a:r>
              <a:t>Event Types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TRAINING_EVENT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  Maturity changes, trust label shifts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DECISION_EVENT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  Committee verdicts, reason codes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LIVE_EVENT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  Execution fills, P&amp;L outcomes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063240"/>
            <a:ext cx="73152" cy="2834640"/>
          </a:xfrm>
          <a:prstGeom prst="rect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434840" y="3063240"/>
            <a:ext cx="3566160" cy="283464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334155"/>
                </a:solidFill>
              </a:defRPr>
            </a:pPr>
            <a:r>
              <a:t>Causality Chain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Before State  vs  After State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Influence delta tracking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Causality links between events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Outcome state for closed-loop review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News context influence measured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34840" y="3063240"/>
            <a:ext cx="73152" cy="2834640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138160" y="3063240"/>
            <a:ext cx="3429000" cy="283464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334155"/>
                </a:solidFill>
              </a:defRPr>
            </a:pPr>
            <a:r>
              <a:t>Team Use Cases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Post-trade retrospectives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Weekly performance reviews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Policy tuning decisions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Rejection pattern analysis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Stakeholder explainability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38160" y="3063240"/>
            <a:ext cx="73152" cy="283464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40080" y="6035040"/>
            <a:ext cx="10881360" cy="457200"/>
          </a:xfrm>
          <a:prstGeom prst="roundRect">
            <a:avLst/>
          </a:prstGeom>
          <a:solidFill>
            <a:srgbClr val="F0F3FA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300" i="1">
                <a:solidFill>
                  <a:srgbClr val="334155"/>
                </a:solidFill>
              </a:defRPr>
            </a:pPr>
            <a:r>
              <a:t>📚  Like a pilot's flight log: every takeoff, turbulence, and landing is recorded — so the next flight benefits from every past experience.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48640" y="6601968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7B8D"/>
                </a:solidFill>
              </a:defRPr>
            </a:pPr>
            <a:r>
              <a:t>MIP  |  Market Intelligence Platform  |  Evidence  &gt;  Decision  &gt;  Execution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5800"/>
            <a:ext cx="12191695" cy="54864"/>
          </a:xfrm>
          <a:prstGeom prst="rect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875520" y="128016"/>
            <a:ext cx="2103120" cy="384048"/>
          </a:xfrm>
          <a:prstGeom prst="roundRect">
            <a:avLst/>
          </a:prstGeom>
          <a:solidFill>
            <a:srgbClr val="243047"/>
          </a:solidFill>
          <a:ln>
            <a:solidFill>
              <a:srgbClr val="306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1E9F6"/>
                </a:solidFill>
              </a:defRPr>
            </a:pPr>
            <a:r>
              <a:t>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32688"/>
            <a:ext cx="8686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F172A"/>
                </a:solidFill>
              </a:defRPr>
            </a:pPr>
            <a:r>
              <a:t>Performance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72768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F6B7A"/>
                </a:solidFill>
              </a:defRPr>
            </a:pPr>
            <a:r>
              <a:t>Portfolio-level truth — return, risk, consistency, and the story behind the numbers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65960"/>
            <a:ext cx="265176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800" b="1">
                <a:solidFill>
                  <a:srgbClr val="2E7D32"/>
                </a:solidFill>
              </a:defRPr>
            </a:pPr>
            <a:r>
              <a:t>+12.4%</a:t>
            </a:r>
          </a:p>
          <a:p>
            <a:pPr algn="ctr">
              <a:spcBef>
                <a:spcPts val="200"/>
              </a:spcBef>
              <a:defRPr sz="1100">
                <a:solidFill>
                  <a:srgbClr val="5F6B7A"/>
                </a:solidFill>
              </a:defRPr>
            </a:pPr>
            <a:r>
              <a:t>Total Return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965960"/>
            <a:ext cx="265176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800" b="1">
                <a:solidFill>
                  <a:srgbClr val="C62828"/>
                </a:solidFill>
              </a:defRPr>
            </a:pPr>
            <a:r>
              <a:t>-4.1%</a:t>
            </a:r>
          </a:p>
          <a:p>
            <a:pPr algn="ctr">
              <a:spcBef>
                <a:spcPts val="200"/>
              </a:spcBef>
              <a:defRPr sz="1100">
                <a:solidFill>
                  <a:srgbClr val="5F6B7A"/>
                </a:solidFill>
              </a:defRPr>
            </a:pPr>
            <a:r>
              <a:t>Max Drawdown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965960"/>
            <a:ext cx="265176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800" b="1">
                <a:solidFill>
                  <a:srgbClr val="3069F0"/>
                </a:solidFill>
              </a:defRPr>
            </a:pPr>
            <a:r>
              <a:t>1.82</a:t>
            </a:r>
          </a:p>
          <a:p>
            <a:pPr algn="ctr">
              <a:spcBef>
                <a:spcPts val="200"/>
              </a:spcBef>
              <a:defRPr sz="1100">
                <a:solidFill>
                  <a:srgbClr val="5F6B7A"/>
                </a:solidFill>
              </a:defRPr>
            </a:pPr>
            <a:r>
              <a:t>Sharpe Ratio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06840" y="1965960"/>
            <a:ext cx="25603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800" b="1">
                <a:solidFill>
                  <a:srgbClr val="6A1B9A"/>
                </a:solidFill>
              </a:defRPr>
            </a:pPr>
            <a:r>
              <a:t>67%</a:t>
            </a:r>
          </a:p>
          <a:p>
            <a:pPr algn="ctr">
              <a:spcBef>
                <a:spcPts val="200"/>
              </a:spcBef>
              <a:defRPr sz="1100">
                <a:solidFill>
                  <a:srgbClr val="5F6B7A"/>
                </a:solidFill>
              </a:defRPr>
            </a:pPr>
            <a:r>
              <a:t>Win Rate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383280"/>
            <a:ext cx="365760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334155"/>
                </a:solidFill>
              </a:defRPr>
            </a:pPr>
            <a:r>
              <a:t>Core Metrics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Total equity and return %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Max drawdown and recovery time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Sharpe ratio for risk-adjusted returns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Win rate and expectancy per trade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Monthly cost trend analysis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383280"/>
            <a:ext cx="73152" cy="25603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434840" y="3383280"/>
            <a:ext cx="365760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334155"/>
                </a:solidFill>
              </a:defRPr>
            </a:pPr>
            <a:r>
              <a:t>Visual Analysis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Equity curve with drawdown bands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Decision quality trend (expectancy over time)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Selectivity trend — how filters evolve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Decision funnel: signals &gt; proposals &gt; trades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Parallel Worlds counterfactual comparison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34840" y="3383280"/>
            <a:ext cx="73152" cy="2560320"/>
          </a:xfrm>
          <a:prstGeom prst="rect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229600" y="3383280"/>
            <a:ext cx="333756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334155"/>
                </a:solidFill>
              </a:defRPr>
            </a:pPr>
            <a:r>
              <a:t>Drill-Down Paths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Period filters for focused analysis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Compare return vs drawdown across portfolios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Trace root cause in Training + Decisions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Target realism analysis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Cost attribution breakdown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3383280"/>
            <a:ext cx="73152" cy="256032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40080" y="6035040"/>
            <a:ext cx="10881360" cy="457200"/>
          </a:xfrm>
          <a:prstGeom prst="roundRect">
            <a:avLst/>
          </a:prstGeom>
          <a:solidFill>
            <a:srgbClr val="F0F3FA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300" i="1">
                <a:solidFill>
                  <a:srgbClr val="334155"/>
                </a:solidFill>
              </a:defRPr>
            </a:pPr>
            <a:r>
              <a:t>📊  Like a financial annual report — but updated daily, with drill-through to every decision that shaped the bottom line.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8640" y="6601968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7B8D"/>
                </a:solidFill>
              </a:defRPr>
            </a:pPr>
            <a:r>
              <a:t>MIP  |  Market Intelligence Platform  |  Evidence  &gt;  Decision  &gt;  Execution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5800"/>
            <a:ext cx="12191695" cy="54864"/>
          </a:xfrm>
          <a:prstGeom prst="rect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875520" y="128016"/>
            <a:ext cx="2103120" cy="384048"/>
          </a:xfrm>
          <a:prstGeom prst="roundRect">
            <a:avLst/>
          </a:prstGeom>
          <a:solidFill>
            <a:srgbClr val="243047"/>
          </a:solidFill>
          <a:ln>
            <a:solidFill>
              <a:srgbClr val="306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1E9F6"/>
                </a:solidFill>
              </a:defRPr>
            </a:pPr>
            <a:r>
              <a:t>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32688"/>
            <a:ext cx="8686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F172A"/>
                </a:solidFill>
              </a:defRPr>
            </a:pPr>
            <a:r>
              <a:t>Pipeline Runs &amp; Audit Trail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72768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F6B7A"/>
                </a:solidFill>
              </a:defRPr>
            </a:pPr>
            <a:r>
              <a:t>Operational truth — what ran, when, how long, and what went wrong (if anything)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65960"/>
            <a:ext cx="1371600" cy="310896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SUCCESS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03120" y="1965960"/>
            <a:ext cx="2103120" cy="310896"/>
          </a:xfrm>
          <a:prstGeom prst="roundRect">
            <a:avLst/>
          </a:prstGeom>
          <a:solidFill>
            <a:srgbClr val="925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SUCCESS + SKIPS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965960"/>
            <a:ext cx="1188720" cy="310896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FAILED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77840" y="1965960"/>
            <a:ext cx="1371600" cy="310896"/>
          </a:xfrm>
          <a:prstGeom prst="roundRect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RUNNING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514600"/>
            <a:ext cx="54864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334155"/>
                </a:solidFill>
              </a:defRPr>
            </a:pPr>
            <a:r>
              <a:t>Daily Pipeline Sequence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Ingest market data → Generate signals → Evaluate patterns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Run portfolio simulation → Propose trades → Execute approved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Generate briefs + digest → Run parallel worlds analysis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Scheduled: 5 PM ET, Monday through Friday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514600"/>
            <a:ext cx="73152" cy="1920240"/>
          </a:xfrm>
          <a:prstGeom prst="rect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263640" y="2514600"/>
            <a:ext cx="530352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334155"/>
                </a:solidFill>
              </a:defRPr>
            </a:pPr>
            <a:r>
              <a:t>Run Detail Panel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Summary cards: status, duration, as-of date, portfolio count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Step-by-step timeline with individual durations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Error panel: SQLSTATE, query IDs, error messages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AI-generated run summary accelerates triage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2514600"/>
            <a:ext cx="73152" cy="192024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40080" y="4663440"/>
            <a:ext cx="1088136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334155"/>
                </a:solidFill>
              </a:defRPr>
            </a:pPr>
            <a:r>
              <a:t>Audit Log Architecture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MIP_AUDIT_LOG captures every event: stored procedure name, status, duration, error details, and portfolio context.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Immutable audit trail — entries are append-only. Failed runs preserve full diagnostics for root cause analysis.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  AI summary explains what happened in plain language — but step-level detail is always available for verification.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663440"/>
            <a:ext cx="73152" cy="1280160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40080" y="6035040"/>
            <a:ext cx="10881360" cy="457200"/>
          </a:xfrm>
          <a:prstGeom prst="roundRect">
            <a:avLst/>
          </a:prstGeom>
          <a:solidFill>
            <a:srgbClr val="F0F3FA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300" i="1">
                <a:solidFill>
                  <a:srgbClr val="334155"/>
                </a:solidFill>
              </a:defRPr>
            </a:pPr>
            <a:r>
              <a:t>✈️  Like an aircraft's black box recorder: every system event is logged, so investigations start with facts, not guesses.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8640" y="6601968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7B8D"/>
                </a:solidFill>
              </a:defRPr>
            </a:pPr>
            <a:r>
              <a:t>MIP  |  Market Intelligence Platform  |  Evidence  &gt;  Decision  &gt;  Execution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5800"/>
            <a:ext cx="12191695" cy="54864"/>
          </a:xfrm>
          <a:prstGeom prst="rect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875520" y="128016"/>
            <a:ext cx="2103120" cy="384048"/>
          </a:xfrm>
          <a:prstGeom prst="roundRect">
            <a:avLst/>
          </a:prstGeom>
          <a:solidFill>
            <a:srgbClr val="243047"/>
          </a:solidFill>
          <a:ln>
            <a:solidFill>
              <a:srgbClr val="306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1E9F6"/>
                </a:solidFill>
              </a:defRPr>
            </a:pPr>
            <a:r>
              <a:t>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32688"/>
            <a:ext cx="8686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F172A"/>
                </a:solidFill>
              </a:defRPr>
            </a:pPr>
            <a:r>
              <a:t>Technology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72768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F6B7A"/>
                </a:solidFill>
              </a:defRPr>
            </a:pPr>
            <a:r>
              <a:t>Purpose-built on modern, production-grade technologies — Snowflake-native with thin presentation layers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20240"/>
            <a:ext cx="269748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334155"/>
                </a:solidFill>
              </a:defRPr>
            </a:pPr>
            <a:r>
              <a:rPr dirty="0"/>
              <a:t>Database &amp; AI</a:t>
            </a:r>
          </a:p>
          <a:p>
            <a:pPr>
              <a:spcBef>
                <a:spcPts val="400"/>
              </a:spcBef>
              <a:defRPr sz="1000">
                <a:solidFill>
                  <a:srgbClr val="1F2937"/>
                </a:solidFill>
              </a:defRPr>
            </a:pPr>
            <a:r>
              <a:rPr dirty="0"/>
              <a:t>Snowflake  —  Data warehouse, compute, and orchestration</a:t>
            </a:r>
          </a:p>
          <a:p>
            <a:pPr>
              <a:spcBef>
                <a:spcPts val="400"/>
              </a:spcBef>
              <a:defRPr sz="1000">
                <a:solidFill>
                  <a:srgbClr val="1F2937"/>
                </a:solidFill>
              </a:defRPr>
            </a:pPr>
            <a:r>
              <a:rPr dirty="0"/>
              <a:t>Snowflake Cortex  —  Native LLM inference (Claude, Mistral)</a:t>
            </a:r>
          </a:p>
          <a:p>
            <a:pPr>
              <a:spcBef>
                <a:spcPts val="400"/>
              </a:spcBef>
              <a:defRPr sz="1000">
                <a:solidFill>
                  <a:srgbClr val="1F2937"/>
                </a:solidFill>
              </a:defRPr>
            </a:pPr>
            <a:r>
              <a:rPr dirty="0"/>
              <a:t>Stored Procedures  —  60+ business logic procedures</a:t>
            </a:r>
          </a:p>
          <a:p>
            <a:pPr>
              <a:spcBef>
                <a:spcPts val="400"/>
              </a:spcBef>
              <a:defRPr sz="1000">
                <a:solidFill>
                  <a:srgbClr val="1F2937"/>
                </a:solidFill>
              </a:defRPr>
            </a:pPr>
            <a:r>
              <a:rPr dirty="0"/>
              <a:t>Scheduled Tasks  —  Daily, hourly, and intraday pipelines</a:t>
            </a:r>
          </a:p>
          <a:p>
            <a:pPr>
              <a:spcBef>
                <a:spcPts val="400"/>
              </a:spcBef>
              <a:defRPr sz="1000">
                <a:solidFill>
                  <a:srgbClr val="1F2937"/>
                </a:solidFill>
              </a:defRPr>
            </a:pPr>
            <a:r>
              <a:rPr dirty="0"/>
              <a:t>External Access  —  Network rules for market data APIs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920240"/>
            <a:ext cx="73152" cy="4023360"/>
          </a:xfrm>
          <a:prstGeom prst="rect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429000" y="1920240"/>
            <a:ext cx="269748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334155"/>
                </a:solidFill>
              </a:defRPr>
            </a:pPr>
            <a:r>
              <a:rPr dirty="0"/>
              <a:t>Backend API</a:t>
            </a:r>
          </a:p>
          <a:p>
            <a:pPr>
              <a:spcBef>
                <a:spcPts val="400"/>
              </a:spcBef>
              <a:defRPr sz="1000">
                <a:solidFill>
                  <a:srgbClr val="1F2937"/>
                </a:solidFill>
              </a:defRPr>
            </a:pPr>
            <a:r>
              <a:rPr dirty="0"/>
              <a:t>Python 3.12  —  Runtime for API and scripts</a:t>
            </a:r>
          </a:p>
          <a:p>
            <a:pPr>
              <a:spcBef>
                <a:spcPts val="400"/>
              </a:spcBef>
              <a:defRPr sz="1000">
                <a:solidFill>
                  <a:srgbClr val="1F2937"/>
                </a:solidFill>
              </a:defRPr>
            </a:pPr>
            <a:r>
              <a:rPr dirty="0" err="1"/>
              <a:t>FastAPI</a:t>
            </a:r>
            <a:r>
              <a:rPr dirty="0"/>
              <a:t>  —  High-performance async REST framework</a:t>
            </a:r>
          </a:p>
          <a:p>
            <a:pPr>
              <a:spcBef>
                <a:spcPts val="400"/>
              </a:spcBef>
              <a:defRPr sz="1000">
                <a:solidFill>
                  <a:srgbClr val="1F2937"/>
                </a:solidFill>
              </a:defRPr>
            </a:pPr>
            <a:r>
              <a:rPr dirty="0" err="1"/>
              <a:t>Uvicorn</a:t>
            </a:r>
            <a:r>
              <a:rPr dirty="0"/>
              <a:t>  —  ASGI server for production</a:t>
            </a:r>
          </a:p>
          <a:p>
            <a:pPr>
              <a:spcBef>
                <a:spcPts val="400"/>
              </a:spcBef>
              <a:defRPr sz="1000">
                <a:solidFill>
                  <a:srgbClr val="1F2937"/>
                </a:solidFill>
              </a:defRPr>
            </a:pPr>
            <a:r>
              <a:rPr dirty="0"/>
              <a:t>snowflake-connector-python  —  Native DB driver</a:t>
            </a:r>
          </a:p>
          <a:p>
            <a:pPr>
              <a:spcBef>
                <a:spcPts val="400"/>
              </a:spcBef>
              <a:defRPr sz="1000">
                <a:solidFill>
                  <a:srgbClr val="1F2937"/>
                </a:solidFill>
              </a:defRPr>
            </a:pPr>
            <a:r>
              <a:rPr dirty="0" err="1"/>
              <a:t>ib-insync</a:t>
            </a:r>
            <a:r>
              <a:rPr dirty="0"/>
              <a:t>  —  Interactive Brokers integration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29000" y="1920240"/>
            <a:ext cx="73152" cy="402336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269748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334155"/>
                </a:solidFill>
              </a:defRPr>
            </a:pPr>
            <a:r>
              <a:rPr dirty="0"/>
              <a:t>Frontend</a:t>
            </a:r>
          </a:p>
          <a:p>
            <a:pPr>
              <a:spcBef>
                <a:spcPts val="400"/>
              </a:spcBef>
              <a:defRPr sz="1000">
                <a:solidFill>
                  <a:srgbClr val="1F2937"/>
                </a:solidFill>
              </a:defRPr>
            </a:pPr>
            <a:r>
              <a:rPr dirty="0"/>
              <a:t>React 18  —  Component-based UI framework</a:t>
            </a:r>
          </a:p>
          <a:p>
            <a:pPr>
              <a:spcBef>
                <a:spcPts val="400"/>
              </a:spcBef>
              <a:defRPr sz="1000">
                <a:solidFill>
                  <a:srgbClr val="1F2937"/>
                </a:solidFill>
              </a:defRPr>
            </a:pPr>
            <a:r>
              <a:rPr dirty="0"/>
              <a:t>Vite 5  —  Lightning-fast build and dev server</a:t>
            </a:r>
          </a:p>
          <a:p>
            <a:pPr>
              <a:spcBef>
                <a:spcPts val="400"/>
              </a:spcBef>
              <a:defRPr sz="1000">
                <a:solidFill>
                  <a:srgbClr val="1F2937"/>
                </a:solidFill>
              </a:defRPr>
            </a:pPr>
            <a:r>
              <a:rPr dirty="0"/>
              <a:t>Plotly.js + Recharts  —  Interactive financial charts</a:t>
            </a:r>
          </a:p>
          <a:p>
            <a:pPr>
              <a:spcBef>
                <a:spcPts val="400"/>
              </a:spcBef>
              <a:defRPr sz="1000">
                <a:solidFill>
                  <a:srgbClr val="1F2937"/>
                </a:solidFill>
              </a:defRPr>
            </a:pPr>
            <a:r>
              <a:rPr dirty="0"/>
              <a:t>React Router 6  —  Client-side navigation</a:t>
            </a:r>
          </a:p>
          <a:p>
            <a:pPr>
              <a:spcBef>
                <a:spcPts val="400"/>
              </a:spcBef>
              <a:defRPr sz="1000">
                <a:solidFill>
                  <a:srgbClr val="1F2937"/>
                </a:solidFill>
              </a:defRPr>
            </a:pPr>
            <a:r>
              <a:rPr dirty="0"/>
              <a:t>react-markdown  —  AI narrative rendering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920240"/>
            <a:ext cx="73152" cy="40233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006840" y="1920240"/>
            <a:ext cx="269748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334155"/>
                </a:solidFill>
              </a:defRPr>
            </a:pPr>
            <a:r>
              <a:rPr dirty="0"/>
              <a:t>Integrations</a:t>
            </a:r>
          </a:p>
          <a:p>
            <a:pPr>
              <a:spcBef>
                <a:spcPts val="400"/>
              </a:spcBef>
              <a:defRPr sz="1000">
                <a:solidFill>
                  <a:srgbClr val="1F2937"/>
                </a:solidFill>
              </a:defRPr>
            </a:pPr>
            <a:r>
              <a:rPr dirty="0"/>
              <a:t>Interactive Brokers  —  Live + paper trading</a:t>
            </a:r>
          </a:p>
          <a:p>
            <a:pPr>
              <a:spcBef>
                <a:spcPts val="400"/>
              </a:spcBef>
              <a:defRPr sz="1000">
                <a:solidFill>
                  <a:srgbClr val="1F2937"/>
                </a:solidFill>
              </a:defRPr>
            </a:pPr>
            <a:r>
              <a:rPr dirty="0" err="1"/>
              <a:t>AlphaVantage</a:t>
            </a:r>
            <a:r>
              <a:rPr dirty="0"/>
              <a:t>  —  Historical OHLCV market data</a:t>
            </a:r>
          </a:p>
          <a:p>
            <a:pPr>
              <a:spcBef>
                <a:spcPts val="400"/>
              </a:spcBef>
              <a:defRPr sz="1000">
                <a:solidFill>
                  <a:srgbClr val="1F2937"/>
                </a:solidFill>
              </a:defRPr>
            </a:pPr>
            <a:r>
              <a:rPr dirty="0"/>
              <a:t>RSS Feeds  —  SEC, Fed, ECB, MarketWatch, IBKR</a:t>
            </a:r>
          </a:p>
          <a:p>
            <a:pPr>
              <a:spcBef>
                <a:spcPts val="400"/>
              </a:spcBef>
              <a:defRPr sz="1000">
                <a:solidFill>
                  <a:srgbClr val="1F2937"/>
                </a:solidFill>
              </a:defRPr>
            </a:pPr>
            <a:r>
              <a:rPr dirty="0"/>
              <a:t>GitHub Actions  —  CI/CD pipeline</a:t>
            </a:r>
          </a:p>
          <a:p>
            <a:pPr>
              <a:spcBef>
                <a:spcPts val="400"/>
              </a:spcBef>
              <a:defRPr sz="1000">
                <a:solidFill>
                  <a:srgbClr val="1F2937"/>
                </a:solidFill>
              </a:defRPr>
            </a:pPr>
            <a:r>
              <a:rPr dirty="0"/>
              <a:t>Cursor (Claude)  —  AI-assisted development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06840" y="1920240"/>
            <a:ext cx="73152" cy="4023360"/>
          </a:xfrm>
          <a:prstGeom prst="rect">
            <a:avLst/>
          </a:prstGeom>
          <a:solidFill>
            <a:srgbClr val="925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40080" y="6035040"/>
            <a:ext cx="10881360" cy="457200"/>
          </a:xfrm>
          <a:prstGeom prst="roundRect">
            <a:avLst/>
          </a:prstGeom>
          <a:solidFill>
            <a:srgbClr val="F0F3FA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300" i="1">
                <a:solidFill>
                  <a:srgbClr val="334155"/>
                </a:solidFill>
              </a:defRPr>
            </a:pPr>
            <a:r>
              <a:t>🧱  Like a well-designed building: Snowflake is the foundation, Python is the plumbing, React is the facade, and IBKR is the power grid.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6601968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7B8D"/>
                </a:solidFill>
              </a:defRPr>
            </a:pPr>
            <a:r>
              <a:t>MIP  |  Market Intelligence Platform  |  Evidence  &gt;  Decision  &gt;  Execution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5800"/>
            <a:ext cx="12191695" cy="54864"/>
          </a:xfrm>
          <a:prstGeom prst="rect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875520" y="128016"/>
            <a:ext cx="2103120" cy="384048"/>
          </a:xfrm>
          <a:prstGeom prst="roundRect">
            <a:avLst/>
          </a:prstGeom>
          <a:solidFill>
            <a:srgbClr val="243047"/>
          </a:solidFill>
          <a:ln>
            <a:solidFill>
              <a:srgbClr val="306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1E9F6"/>
                </a:solidFill>
              </a:defRPr>
            </a:pPr>
            <a:r>
              <a:t>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32688"/>
            <a:ext cx="8686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F172A"/>
                </a:solidFill>
              </a:defRPr>
            </a:pPr>
            <a:r>
              <a:t>Platform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72768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F6B7A"/>
                </a:solidFill>
              </a:defRPr>
            </a:pPr>
            <a:r>
              <a:t>Four-layer Snowflake-native architecture — data, logic, and pipelines live together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74519"/>
            <a:ext cx="7737004" cy="960120"/>
          </a:xfrm>
          <a:prstGeom prst="roundRect">
            <a:avLst/>
          </a:prstGeom>
          <a:solidFill>
            <a:srgbClr val="0F172A"/>
          </a:solidFill>
          <a:ln>
            <a:solidFill>
              <a:srgbClr val="243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E2E8F0"/>
                </a:solidFill>
              </a:defRPr>
            </a:pPr>
            <a:r>
              <a:t>PRESENTATION LAYER    React 18 + Vite</a:t>
            </a:r>
          </a:p>
          <a:p>
            <a:pPr>
              <a:spcBef>
                <a:spcPts val="200"/>
              </a:spcBef>
              <a:defRPr sz="1000">
                <a:solidFill>
                  <a:srgbClr val="B4C3D7"/>
                </a:solidFill>
              </a:defRPr>
            </a:pPr>
            <a:r>
              <a:t>    15 feature pages  |  Plotly.js charts  |  Real-time updates</a:t>
            </a:r>
          </a:p>
          <a:p>
            <a:pPr>
              <a:spcBef>
                <a:spcPts val="200"/>
              </a:spcBef>
              <a:defRPr sz="1000">
                <a:solidFill>
                  <a:srgbClr val="B4C3D7"/>
                </a:solidFill>
              </a:defRPr>
            </a:pPr>
            <a:r>
              <a:t>    Responsive layout  |  Dark/light theming  |  AI narrative rendering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74519"/>
            <a:ext cx="91440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40080" y="2971800"/>
            <a:ext cx="7737004" cy="960120"/>
          </a:xfrm>
          <a:prstGeom prst="roundRect">
            <a:avLst/>
          </a:prstGeom>
          <a:solidFill>
            <a:srgbClr val="0F172A"/>
          </a:solidFill>
          <a:ln>
            <a:solidFill>
              <a:srgbClr val="243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E2E8F0"/>
                </a:solidFill>
              </a:defRPr>
            </a:pPr>
            <a:r>
              <a:t>API LAYER    FastAPI + Python 3.12</a:t>
            </a:r>
          </a:p>
          <a:p>
            <a:pPr>
              <a:spcBef>
                <a:spcPts val="200"/>
              </a:spcBef>
              <a:defRPr sz="1000">
                <a:solidFill>
                  <a:srgbClr val="B4C3D7"/>
                </a:solidFill>
              </a:defRPr>
            </a:pPr>
            <a:r>
              <a:t>    25+ REST routers  |  Snowflake connector  |  CORS middleware</a:t>
            </a:r>
          </a:p>
          <a:p>
            <a:pPr>
              <a:spcBef>
                <a:spcPts val="200"/>
              </a:spcBef>
              <a:defRPr sz="1000">
                <a:solidFill>
                  <a:srgbClr val="B4C3D7"/>
                </a:solidFill>
              </a:defRPr>
            </a:pPr>
            <a:r>
              <a:t>    IBKR bridge scripts  |  Keypair auth  |  JSON responses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971800"/>
            <a:ext cx="91440" cy="96012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40080" y="4069080"/>
            <a:ext cx="7737004" cy="960120"/>
          </a:xfrm>
          <a:prstGeom prst="roundRect">
            <a:avLst/>
          </a:prstGeom>
          <a:solidFill>
            <a:srgbClr val="0F172A"/>
          </a:solidFill>
          <a:ln>
            <a:solidFill>
              <a:srgbClr val="243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E2E8F0"/>
                </a:solidFill>
              </a:defRPr>
            </a:pPr>
            <a:r>
              <a:t>LOGIC LAYER    Snowflake Stored Procedures</a:t>
            </a:r>
          </a:p>
          <a:p>
            <a:pPr>
              <a:spcBef>
                <a:spcPts val="200"/>
              </a:spcBef>
              <a:defRPr sz="1000">
                <a:solidFill>
                  <a:srgbClr val="B4C3D7"/>
                </a:solidFill>
              </a:defRPr>
            </a:pPr>
            <a:r>
              <a:t>    60+ procedures: ingest, signals, training, simulation, proposals, execution</a:t>
            </a:r>
          </a:p>
          <a:p>
            <a:pPr>
              <a:spcBef>
                <a:spcPts val="200"/>
              </a:spcBef>
              <a:defRPr sz="1000">
                <a:solidFill>
                  <a:srgbClr val="B4C3D7"/>
                </a:solidFill>
              </a:defRPr>
            </a:pPr>
            <a:r>
              <a:t>    Cortex AI: committee verdicts, digests, narratives  |  Parallel worlds engine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069080"/>
            <a:ext cx="91440" cy="960120"/>
          </a:xfrm>
          <a:prstGeom prst="rect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40080" y="5166360"/>
            <a:ext cx="7737004" cy="960120"/>
          </a:xfrm>
          <a:prstGeom prst="roundRect">
            <a:avLst/>
          </a:prstGeom>
          <a:solidFill>
            <a:srgbClr val="0F172A"/>
          </a:solidFill>
          <a:ln>
            <a:solidFill>
              <a:srgbClr val="243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E2E8F0"/>
                </a:solidFill>
              </a:defRPr>
            </a:pPr>
            <a:r>
              <a:t>DATA LAYER    Snowflake Tables + Views + Tasks</a:t>
            </a:r>
          </a:p>
          <a:p>
            <a:pPr>
              <a:spcBef>
                <a:spcPts val="200"/>
              </a:spcBef>
              <a:defRPr sz="1000">
                <a:solidFill>
                  <a:srgbClr val="B4C3D7"/>
                </a:solidFill>
              </a:defRPr>
            </a:pPr>
            <a:r>
              <a:t>    APP schema: 40+ tables  |  MART schema: analytical views  |  AGENT_OUT: AI output</a:t>
            </a:r>
          </a:p>
          <a:p>
            <a:pPr>
              <a:spcBef>
                <a:spcPts val="200"/>
              </a:spcBef>
              <a:defRPr sz="1000">
                <a:solidFill>
                  <a:srgbClr val="B4C3D7"/>
                </a:solidFill>
              </a:defRPr>
            </a:pPr>
            <a:r>
              <a:t>    Scheduled tasks: daily 5PM, intraday 15-min, hourly monitors  |  Audit log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5166360"/>
            <a:ext cx="91440" cy="960120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Down Arrow 14"/>
          <p:cNvSpPr/>
          <p:nvPr/>
        </p:nvSpPr>
        <p:spPr>
          <a:xfrm>
            <a:off x="4190504" y="2852928"/>
            <a:ext cx="457200" cy="109728"/>
          </a:xfrm>
          <a:prstGeom prst="downArrow">
            <a:avLst/>
          </a:prstGeom>
          <a:solidFill>
            <a:srgbClr val="506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Down Arrow 15"/>
          <p:cNvSpPr/>
          <p:nvPr/>
        </p:nvSpPr>
        <p:spPr>
          <a:xfrm>
            <a:off x="4190504" y="3950208"/>
            <a:ext cx="457200" cy="109728"/>
          </a:xfrm>
          <a:prstGeom prst="downArrow">
            <a:avLst/>
          </a:prstGeom>
          <a:solidFill>
            <a:srgbClr val="506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Down Arrow 16"/>
          <p:cNvSpPr/>
          <p:nvPr/>
        </p:nvSpPr>
        <p:spPr>
          <a:xfrm>
            <a:off x="4190504" y="5047488"/>
            <a:ext cx="457200" cy="109728"/>
          </a:xfrm>
          <a:prstGeom prst="downArrow">
            <a:avLst/>
          </a:prstGeom>
          <a:solidFill>
            <a:srgbClr val="506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888361" y="1882286"/>
            <a:ext cx="3113876" cy="4289914"/>
          </a:xfrm>
          <a:prstGeom prst="roundRect">
            <a:avLst/>
          </a:prstGeom>
          <a:solidFill>
            <a:srgbClr val="141C30"/>
          </a:solidFill>
          <a:ln>
            <a:solidFill>
              <a:srgbClr val="925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200" b="1">
                <a:solidFill>
                  <a:srgbClr val="925F00"/>
                </a:solidFill>
              </a:defRPr>
            </a:pPr>
            <a:r>
              <a:rPr dirty="0"/>
              <a:t>EXTERNAL SYSTEMS</a:t>
            </a:r>
          </a:p>
          <a:p>
            <a:pPr>
              <a:spcBef>
                <a:spcPts val="100"/>
              </a:spcBef>
              <a:defRPr sz="1000">
                <a:solidFill>
                  <a:srgbClr val="B4C3D7"/>
                </a:solidFill>
              </a:defRPr>
            </a:pPr>
            <a:r>
              <a:rPr dirty="0"/>
              <a:t>  Interactive Brokers (IBKR)</a:t>
            </a:r>
          </a:p>
          <a:p>
            <a:pPr>
              <a:spcBef>
                <a:spcPts val="100"/>
              </a:spcBef>
              <a:defRPr sz="1000">
                <a:solidFill>
                  <a:srgbClr val="B4C3D7"/>
                </a:solidFill>
              </a:defRPr>
            </a:pPr>
            <a:r>
              <a:rPr dirty="0"/>
              <a:t>    Paper + Live trading accounts</a:t>
            </a:r>
          </a:p>
          <a:p>
            <a:pPr>
              <a:spcBef>
                <a:spcPts val="100"/>
              </a:spcBef>
              <a:defRPr sz="1000">
                <a:solidFill>
                  <a:srgbClr val="B4C3D7"/>
                </a:solidFill>
              </a:defRPr>
            </a:pPr>
            <a:r>
              <a:rPr dirty="0"/>
              <a:t>    Order placement + snapshots</a:t>
            </a:r>
          </a:p>
          <a:p>
            <a:pPr>
              <a:spcBef>
                <a:spcPts val="100"/>
              </a:spcBef>
              <a:defRPr sz="1000">
                <a:solidFill>
                  <a:srgbClr val="B4C3D7"/>
                </a:solidFill>
              </a:defRPr>
            </a:pPr>
            <a:r>
              <a:rPr dirty="0"/>
              <a:t>  </a:t>
            </a:r>
          </a:p>
          <a:p>
            <a:pPr>
              <a:spcBef>
                <a:spcPts val="100"/>
              </a:spcBef>
              <a:defRPr sz="1000">
                <a:solidFill>
                  <a:srgbClr val="B4C3D7"/>
                </a:solidFill>
              </a:defRPr>
            </a:pPr>
            <a:r>
              <a:rPr dirty="0"/>
              <a:t>  </a:t>
            </a:r>
            <a:r>
              <a:rPr dirty="0" err="1"/>
              <a:t>AlphaVantage</a:t>
            </a:r>
            <a:endParaRPr dirty="0"/>
          </a:p>
          <a:p>
            <a:pPr>
              <a:spcBef>
                <a:spcPts val="100"/>
              </a:spcBef>
              <a:defRPr sz="1000">
                <a:solidFill>
                  <a:srgbClr val="B4C3D7"/>
                </a:solidFill>
              </a:defRPr>
            </a:pPr>
            <a:r>
              <a:rPr dirty="0"/>
              <a:t>    Historical OHLCV bars</a:t>
            </a:r>
          </a:p>
          <a:p>
            <a:pPr>
              <a:spcBef>
                <a:spcPts val="100"/>
              </a:spcBef>
              <a:defRPr sz="1000">
                <a:solidFill>
                  <a:srgbClr val="B4C3D7"/>
                </a:solidFill>
              </a:defRPr>
            </a:pPr>
            <a:r>
              <a:rPr dirty="0"/>
              <a:t>  </a:t>
            </a:r>
          </a:p>
          <a:p>
            <a:pPr>
              <a:spcBef>
                <a:spcPts val="100"/>
              </a:spcBef>
              <a:defRPr sz="1000">
                <a:solidFill>
                  <a:srgbClr val="B4C3D7"/>
                </a:solidFill>
              </a:defRPr>
            </a:pPr>
            <a:r>
              <a:rPr dirty="0"/>
              <a:t>  RSS News Feeds</a:t>
            </a:r>
          </a:p>
          <a:p>
            <a:pPr>
              <a:spcBef>
                <a:spcPts val="100"/>
              </a:spcBef>
              <a:defRPr sz="1000">
                <a:solidFill>
                  <a:srgbClr val="B4C3D7"/>
                </a:solidFill>
              </a:defRPr>
            </a:pPr>
            <a:r>
              <a:rPr dirty="0"/>
              <a:t>    SEC, Fed, ECB, MarketWatch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" y="6601968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7B8D"/>
                </a:solidFill>
              </a:defRPr>
            </a:pPr>
            <a:r>
              <a:t>MIP  |  Snowflake-native architecture  |  All logic lives in the warehouse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5800"/>
            <a:ext cx="12191695" cy="54864"/>
          </a:xfrm>
          <a:prstGeom prst="rect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875520" y="128016"/>
            <a:ext cx="2103120" cy="384048"/>
          </a:xfrm>
          <a:prstGeom prst="roundRect">
            <a:avLst/>
          </a:prstGeom>
          <a:solidFill>
            <a:srgbClr val="243047"/>
          </a:solidFill>
          <a:ln>
            <a:solidFill>
              <a:srgbClr val="306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1E9F6"/>
                </a:solidFill>
              </a:defRPr>
            </a:pPr>
            <a:r>
              <a:t>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32688"/>
            <a:ext cx="8686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F172A"/>
                </a:solidFill>
              </a:defRPr>
            </a:pPr>
            <a:r>
              <a:t>AI Architecture — Snowflake Cortex Integration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72768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F6B7A"/>
                </a:solidFill>
              </a:defRPr>
            </a:pPr>
            <a:r>
              <a:t>8 AI touchpoints across the platform — every call has a deterministic fallback, every output is auditable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46903" y="1837945"/>
            <a:ext cx="2267712" cy="2980943"/>
          </a:xfrm>
          <a:prstGeom prst="roundRect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❄️  SNOWFLAKE CORTEX</a:t>
            </a:r>
          </a:p>
          <a:p>
            <a:pPr algn="ctr">
              <a:spcBef>
                <a:spcPts val="200"/>
              </a:spcBef>
              <a:defRPr sz="1100">
                <a:solidFill>
                  <a:srgbClr val="C8DCFF"/>
                </a:solidFill>
              </a:defRPr>
            </a:pPr>
            <a:r>
              <a:t>LLM inference layer</a:t>
            </a:r>
          </a:p>
          <a:p>
            <a:pPr algn="ctr">
              <a:spcBef>
                <a:spcPts val="200"/>
              </a:spcBef>
              <a:defRPr sz="900">
                <a:solidFill>
                  <a:srgbClr val="AAC3F0"/>
                </a:solidFill>
              </a:defRPr>
            </a:pPr>
            <a:r>
              <a:t>Claude 3.5 Sonnet  |  Mistral Large 2  |  Llama 3.1 70B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828800"/>
            <a:ext cx="3931920" cy="658368"/>
          </a:xfrm>
          <a:prstGeom prst="roundRect">
            <a:avLst/>
          </a:prstGeom>
          <a:solidFill>
            <a:srgbClr val="0F172A"/>
          </a:solidFill>
          <a:ln>
            <a:solidFill>
              <a:srgbClr val="243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200" b="1">
                <a:solidFill>
                  <a:srgbClr val="3069F0"/>
                </a:solidFill>
              </a:defRPr>
            </a:pPr>
            <a:r>
              <a:t>  Daily Digest</a:t>
            </a:r>
          </a:p>
          <a:p>
            <a:pPr>
              <a:spcBef>
                <a:spcPts val="100"/>
              </a:spcBef>
              <a:defRPr sz="900">
                <a:solidFill>
                  <a:srgbClr val="B4C3D7"/>
                </a:solidFill>
              </a:defRPr>
            </a:pPr>
            <a:r>
              <a:t>    mistral-large2  •  Portfolio + global narrative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28800"/>
            <a:ext cx="73152" cy="658368"/>
          </a:xfrm>
          <a:prstGeom prst="rect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ight Arrow 9"/>
          <p:cNvSpPr/>
          <p:nvPr/>
        </p:nvSpPr>
        <p:spPr>
          <a:xfrm>
            <a:off x="4443983" y="2066543"/>
            <a:ext cx="502920" cy="182880"/>
          </a:xfrm>
          <a:prstGeom prst="rightArrow">
            <a:avLst/>
          </a:prstGeom>
          <a:solidFill>
            <a:srgbClr val="3C5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57200" y="2596896"/>
            <a:ext cx="3931920" cy="658368"/>
          </a:xfrm>
          <a:prstGeom prst="roundRect">
            <a:avLst/>
          </a:prstGeom>
          <a:solidFill>
            <a:srgbClr val="0F172A"/>
          </a:solidFill>
          <a:ln>
            <a:solidFill>
              <a:srgbClr val="243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200" b="1">
                <a:solidFill>
                  <a:srgbClr val="00796B"/>
                </a:solidFill>
              </a:defRPr>
            </a:pPr>
            <a:r>
              <a:t>  Training Digest</a:t>
            </a:r>
          </a:p>
          <a:p>
            <a:pPr>
              <a:spcBef>
                <a:spcPts val="100"/>
              </a:spcBef>
              <a:defRPr sz="900">
                <a:solidFill>
                  <a:srgbClr val="B4C3D7"/>
                </a:solidFill>
              </a:defRPr>
            </a:pPr>
            <a:r>
              <a:t>    mistral-large2  •  Maturity journey per symbol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596896"/>
            <a:ext cx="73152" cy="658368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ight Arrow 12"/>
          <p:cNvSpPr/>
          <p:nvPr/>
        </p:nvSpPr>
        <p:spPr>
          <a:xfrm>
            <a:off x="4443983" y="2834639"/>
            <a:ext cx="502920" cy="182880"/>
          </a:xfrm>
          <a:prstGeom prst="rightArrow">
            <a:avLst/>
          </a:prstGeom>
          <a:solidFill>
            <a:srgbClr val="3C5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57200" y="3364991"/>
            <a:ext cx="3931920" cy="658368"/>
          </a:xfrm>
          <a:prstGeom prst="roundRect">
            <a:avLst/>
          </a:prstGeom>
          <a:solidFill>
            <a:srgbClr val="0F172A"/>
          </a:solidFill>
          <a:ln>
            <a:solidFill>
              <a:srgbClr val="243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200" b="1">
                <a:solidFill>
                  <a:srgbClr val="2E7D32"/>
                </a:solidFill>
              </a:defRPr>
            </a:pPr>
            <a:r>
              <a:t>  Committee Verdict</a:t>
            </a:r>
          </a:p>
          <a:p>
            <a:pPr>
              <a:spcBef>
                <a:spcPts val="100"/>
              </a:spcBef>
              <a:defRPr sz="900">
                <a:solidFill>
                  <a:srgbClr val="B4C3D7"/>
                </a:solidFill>
              </a:defRPr>
            </a:pPr>
            <a:r>
              <a:t>    claude-3.5-sonnet  •  Per-proposal trade decision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364991"/>
            <a:ext cx="73152" cy="65836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ight Arrow 15"/>
          <p:cNvSpPr/>
          <p:nvPr/>
        </p:nvSpPr>
        <p:spPr>
          <a:xfrm>
            <a:off x="4443983" y="3602736"/>
            <a:ext cx="502920" cy="182880"/>
          </a:xfrm>
          <a:prstGeom prst="rightArrow">
            <a:avLst/>
          </a:prstGeom>
          <a:solidFill>
            <a:srgbClr val="3C5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457200" y="4133087"/>
            <a:ext cx="3931920" cy="658368"/>
          </a:xfrm>
          <a:prstGeom prst="roundRect">
            <a:avLst/>
          </a:prstGeom>
          <a:solidFill>
            <a:srgbClr val="0F172A"/>
          </a:solidFill>
          <a:ln>
            <a:solidFill>
              <a:srgbClr val="243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200" b="1">
                <a:solidFill>
                  <a:srgbClr val="6A1B9A"/>
                </a:solidFill>
              </a:defRPr>
            </a:pPr>
            <a:r>
              <a:t>  Parallel Worlds</a:t>
            </a:r>
          </a:p>
          <a:p>
            <a:pPr>
              <a:spcBef>
                <a:spcPts val="100"/>
              </a:spcBef>
              <a:defRPr sz="900">
                <a:solidFill>
                  <a:srgbClr val="B4C3D7"/>
                </a:solidFill>
              </a:defRPr>
            </a:pPr>
            <a:r>
              <a:t>    mistral-large2  •  Counterfactual analysis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133087"/>
            <a:ext cx="73152" cy="658368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ight Arrow 18"/>
          <p:cNvSpPr/>
          <p:nvPr/>
        </p:nvSpPr>
        <p:spPr>
          <a:xfrm>
            <a:off x="4443983" y="4370832"/>
            <a:ext cx="502920" cy="182880"/>
          </a:xfrm>
          <a:prstGeom prst="rightArrow">
            <a:avLst/>
          </a:prstGeom>
          <a:solidFill>
            <a:srgbClr val="3C5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7772400" y="1828800"/>
            <a:ext cx="3931920" cy="658368"/>
          </a:xfrm>
          <a:prstGeom prst="roundRect">
            <a:avLst/>
          </a:prstGeom>
          <a:solidFill>
            <a:srgbClr val="0F172A"/>
          </a:solidFill>
          <a:ln>
            <a:solidFill>
              <a:srgbClr val="243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200" b="1">
                <a:solidFill>
                  <a:srgbClr val="C62828"/>
                </a:solidFill>
              </a:defRPr>
            </a:pPr>
            <a:r>
              <a:t>  News Extraction</a:t>
            </a:r>
          </a:p>
          <a:p>
            <a:pPr>
              <a:spcBef>
                <a:spcPts val="100"/>
              </a:spcBef>
              <a:defRPr sz="900">
                <a:solidFill>
                  <a:srgbClr val="B4C3D7"/>
                </a:solidFill>
              </a:defRPr>
            </a:pPr>
            <a:r>
              <a:t>    llama-3.1-70b  •  Structured event parsing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631168" y="1828800"/>
            <a:ext cx="73152" cy="658368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ight Arrow 21"/>
          <p:cNvSpPr/>
          <p:nvPr/>
        </p:nvSpPr>
        <p:spPr>
          <a:xfrm rot="10800000">
            <a:off x="7214616" y="2066543"/>
            <a:ext cx="502920" cy="182880"/>
          </a:xfrm>
          <a:prstGeom prst="rightArrow">
            <a:avLst/>
          </a:prstGeom>
          <a:solidFill>
            <a:srgbClr val="3C5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7772400" y="2596896"/>
            <a:ext cx="3931920" cy="658368"/>
          </a:xfrm>
          <a:prstGeom prst="roundRect">
            <a:avLst/>
          </a:prstGeom>
          <a:solidFill>
            <a:srgbClr val="0F172A"/>
          </a:solidFill>
          <a:ln>
            <a:solidFill>
              <a:srgbClr val="243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200" b="1">
                <a:solidFill>
                  <a:srgbClr val="925F00"/>
                </a:solidFill>
              </a:defRPr>
            </a:pPr>
            <a:r>
              <a:t>  Portfolio Lifecycle</a:t>
            </a:r>
          </a:p>
          <a:p>
            <a:pPr>
              <a:spcBef>
                <a:spcPts val="100"/>
              </a:spcBef>
              <a:defRPr sz="900">
                <a:solidFill>
                  <a:srgbClr val="B4C3D7"/>
                </a:solidFill>
              </a:defRPr>
            </a:pPr>
            <a:r>
              <a:t>    mistral-large2  •  Creation-to-today story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631168" y="2596896"/>
            <a:ext cx="73152" cy="658368"/>
          </a:xfrm>
          <a:prstGeom prst="rect">
            <a:avLst/>
          </a:prstGeom>
          <a:solidFill>
            <a:srgbClr val="925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ight Arrow 24"/>
          <p:cNvSpPr/>
          <p:nvPr/>
        </p:nvSpPr>
        <p:spPr>
          <a:xfrm rot="10800000">
            <a:off x="7214616" y="2834639"/>
            <a:ext cx="502920" cy="182880"/>
          </a:xfrm>
          <a:prstGeom prst="rightArrow">
            <a:avLst/>
          </a:prstGeom>
          <a:solidFill>
            <a:srgbClr val="3C5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7772400" y="3364991"/>
            <a:ext cx="3931920" cy="658368"/>
          </a:xfrm>
          <a:prstGeom prst="roundRect">
            <a:avLst/>
          </a:prstGeom>
          <a:solidFill>
            <a:srgbClr val="0F172A"/>
          </a:solidFill>
          <a:ln>
            <a:solidFill>
              <a:srgbClr val="243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200" b="1">
                <a:solidFill>
                  <a:srgbClr val="3949AB"/>
                </a:solidFill>
              </a:defRPr>
            </a:pPr>
            <a:r>
              <a:t>  Ask MIP (v2)</a:t>
            </a:r>
          </a:p>
          <a:p>
            <a:pPr>
              <a:spcBef>
                <a:spcPts val="100"/>
              </a:spcBef>
              <a:defRPr sz="900">
                <a:solidFill>
                  <a:srgbClr val="B4C3D7"/>
                </a:solidFill>
              </a:defRPr>
            </a:pPr>
            <a:r>
              <a:t>    claude-3.5-sonnet  •  Route-aware user assistant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1631168" y="3364991"/>
            <a:ext cx="73152" cy="658368"/>
          </a:xfrm>
          <a:prstGeom prst="rect">
            <a:avLst/>
          </a:prstGeom>
          <a:solidFill>
            <a:srgbClr val="3949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ight Arrow 27"/>
          <p:cNvSpPr/>
          <p:nvPr/>
        </p:nvSpPr>
        <p:spPr>
          <a:xfrm rot="10800000">
            <a:off x="7214616" y="3602736"/>
            <a:ext cx="502920" cy="182880"/>
          </a:xfrm>
          <a:prstGeom prst="rightArrow">
            <a:avLst/>
          </a:prstGeom>
          <a:solidFill>
            <a:srgbClr val="3C5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7772400" y="4133087"/>
            <a:ext cx="3931920" cy="658368"/>
          </a:xfrm>
          <a:prstGeom prst="roundRect">
            <a:avLst/>
          </a:prstGeom>
          <a:solidFill>
            <a:srgbClr val="0F172A"/>
          </a:solidFill>
          <a:ln>
            <a:solidFill>
              <a:srgbClr val="243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200" b="1">
                <a:solidFill>
                  <a:srgbClr val="718096"/>
                </a:solidFill>
              </a:defRPr>
            </a:pPr>
            <a:r>
              <a:t>  Ask MIP (v1)</a:t>
            </a:r>
          </a:p>
          <a:p>
            <a:pPr>
              <a:spcBef>
                <a:spcPts val="100"/>
              </a:spcBef>
              <a:defRPr sz="900">
                <a:solidFill>
                  <a:srgbClr val="B4C3D7"/>
                </a:solidFill>
              </a:defRPr>
            </a:pPr>
            <a:r>
              <a:t>    claude-3.5-sonnet  •  Guide-grounded Q&amp;A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631168" y="4133087"/>
            <a:ext cx="73152" cy="658368"/>
          </a:xfrm>
          <a:prstGeom prst="rect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ight Arrow 30"/>
          <p:cNvSpPr/>
          <p:nvPr/>
        </p:nvSpPr>
        <p:spPr>
          <a:xfrm rot="10800000">
            <a:off x="7214616" y="4370832"/>
            <a:ext cx="502920" cy="182880"/>
          </a:xfrm>
          <a:prstGeom prst="rightArrow">
            <a:avLst/>
          </a:prstGeom>
          <a:solidFill>
            <a:srgbClr val="3C5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57200" y="4783398"/>
            <a:ext cx="3931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8291AA"/>
                </a:solidFill>
              </a:defRPr>
            </a:pPr>
            <a:r>
              <a:t>SQL STORED PROCEDURES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0" y="4783392"/>
            <a:ext cx="3931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8291AA"/>
                </a:solidFill>
              </a:defRPr>
            </a:pPr>
            <a:r>
              <a:rPr dirty="0"/>
              <a:t>PYTHON API  +  SQL PROCEDURES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5680096"/>
            <a:ext cx="11247120" cy="640080"/>
          </a:xfrm>
          <a:prstGeom prst="roundRect">
            <a:avLst/>
          </a:prstGeom>
          <a:solidFill>
            <a:srgbClr val="142037"/>
          </a:solidFill>
          <a:ln>
            <a:solidFill>
              <a:srgbClr val="28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300" b="1">
                <a:solidFill>
                  <a:srgbClr val="925F00"/>
                </a:solidFill>
              </a:defRPr>
            </a:pPr>
            <a:r>
              <a:rPr dirty="0"/>
              <a:t>SAFETY NET  —  Every AI call has a deterministic fallback</a:t>
            </a:r>
          </a:p>
          <a:p>
            <a:pPr>
              <a:spcBef>
                <a:spcPts val="200"/>
              </a:spcBef>
              <a:defRPr sz="1000">
                <a:solidFill>
                  <a:srgbClr val="B4C3D7"/>
                </a:solidFill>
              </a:defRPr>
            </a:pPr>
            <a:r>
              <a:rPr dirty="0"/>
              <a:t>    If Cortex fails or times out: digests generate bullet-point summaries from snapshots, committee falls back to deterministic approval, news uses heuristic extraction, and Ask MIP returns a service error.  No AI failure can halt the trading pipeline.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0" y="4980037"/>
            <a:ext cx="3017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2E7D32"/>
                </a:solidFill>
              </a:defRPr>
            </a:pPr>
            <a:r>
              <a:rPr dirty="0"/>
              <a:t>Output → AGENT_OUT schema</a:t>
            </a:r>
          </a:p>
        </p:txBody>
      </p:sp>
      <p:sp>
        <p:nvSpPr>
          <p:cNvPr id="36" name="Down Arrow 35"/>
          <p:cNvSpPr/>
          <p:nvPr/>
        </p:nvSpPr>
        <p:spPr>
          <a:xfrm>
            <a:off x="5852160" y="4842876"/>
            <a:ext cx="457200" cy="164592"/>
          </a:xfrm>
          <a:prstGeom prst="downArrow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901287" y="5126344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>
                <a:solidFill>
                  <a:srgbClr val="8291AA"/>
                </a:solidFill>
              </a:defRPr>
            </a:pPr>
            <a:r>
              <a:rPr dirty="0"/>
              <a:t>DAILY_DIGEST_NARRATIVE  •  TRAINING_DIGEST_NARRATIVE  •  PORTFOLIO_LIFECYCLE_NARRATIVE  •  PARALLEL_WORLD_NARRATIVE  •  ORDER_PROPOSALS  •  NEWS_EVENT_EXTRACTED  •  ASK_QUERY_EVENT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48640" y="6601968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7B8D"/>
                </a:solidFill>
              </a:defRPr>
            </a:pPr>
            <a:r>
              <a:t>MIP  |  8 AI touchpoints  |  3 models  |  Full deterministic fallback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How MIP Was Built — The AI-Orchestrated Story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14400"/>
            <a:ext cx="10881360" cy="36576"/>
          </a:xfrm>
          <a:prstGeom prst="rect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Development Timeline — 6 months, zero lines of code typed by a human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09928"/>
            <a:ext cx="10881360" cy="54864"/>
          </a:xfrm>
          <a:prstGeom prst="rect">
            <a:avLst/>
          </a:prstGeom>
          <a:solidFill>
            <a:srgbClr val="28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14400" y="1618488"/>
            <a:ext cx="237744" cy="237744"/>
          </a:xfrm>
          <a:prstGeom prst="ellipse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069F0"/>
                </a:solidFill>
              </a:defRPr>
            </a:pPr>
            <a:r>
              <a:t>Oct – Dec 2025</a:t>
            </a:r>
          </a:p>
        </p:txBody>
      </p:sp>
      <p:sp>
        <p:nvSpPr>
          <p:cNvPr id="9" name="Oval 8"/>
          <p:cNvSpPr/>
          <p:nvPr/>
        </p:nvSpPr>
        <p:spPr>
          <a:xfrm>
            <a:off x="4572000" y="1618488"/>
            <a:ext cx="237744" cy="237744"/>
          </a:xfrm>
          <a:prstGeom prst="ellipse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297680" y="1371600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069F0"/>
                </a:solidFill>
              </a:defRPr>
            </a:pPr>
            <a:r>
              <a:t>Jan 2026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0" y="1618488"/>
            <a:ext cx="237744" cy="237744"/>
          </a:xfrm>
          <a:prstGeom prst="ellipse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98079" y="1371600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069F0"/>
                </a:solidFill>
              </a:defRPr>
            </a:pPr>
            <a:r>
              <a:t>Feb 2026</a:t>
            </a:r>
          </a:p>
        </p:txBody>
      </p:sp>
      <p:sp>
        <p:nvSpPr>
          <p:cNvPr id="13" name="Oval 12"/>
          <p:cNvSpPr/>
          <p:nvPr/>
        </p:nvSpPr>
        <p:spPr>
          <a:xfrm>
            <a:off x="10149840" y="1618488"/>
            <a:ext cx="237744" cy="237744"/>
          </a:xfrm>
          <a:prstGeom prst="ellipse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875520" y="1371600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069F0"/>
                </a:solidFill>
              </a:defRPr>
            </a:pPr>
            <a:r>
              <a:t>Mar 2026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1965960"/>
            <a:ext cx="2606040" cy="1417320"/>
          </a:xfrm>
          <a:prstGeom prst="roundRect">
            <a:avLst/>
          </a:prstGeom>
          <a:solidFill>
            <a:srgbClr val="142037"/>
          </a:solidFill>
          <a:ln>
            <a:solidFill>
              <a:srgbClr val="306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400" b="1">
                <a:solidFill>
                  <a:srgbClr val="3069F0"/>
                </a:solidFill>
              </a:defRPr>
            </a:pPr>
            <a:r>
              <a:t>ChatGPT + Codex</a:t>
            </a:r>
          </a:p>
          <a:p>
            <a:pPr>
              <a:spcBef>
                <a:spcPts val="200"/>
              </a:spcBef>
              <a:defRPr sz="1000">
                <a:solidFill>
                  <a:srgbClr val="B4C3D7"/>
                </a:solidFill>
              </a:defRPr>
            </a:pPr>
            <a:r>
              <a:t>ChatGPT as investment SME</a:t>
            </a:r>
          </a:p>
          <a:p>
            <a:pPr>
              <a:spcBef>
                <a:spcPts val="200"/>
              </a:spcBef>
              <a:defRPr sz="1000">
                <a:solidFill>
                  <a:srgbClr val="B4C3D7"/>
                </a:solidFill>
              </a:defRPr>
            </a:pPr>
            <a:r>
              <a:t>&amp; solution architect.</a:t>
            </a:r>
          </a:p>
          <a:p>
            <a:pPr>
              <a:spcBef>
                <a:spcPts val="200"/>
              </a:spcBef>
              <a:defRPr sz="1000">
                <a:solidFill>
                  <a:srgbClr val="B4C3D7"/>
                </a:solidFill>
              </a:defRPr>
            </a:pPr>
            <a:r>
              <a:t>OpenAI Codex as developer.</a:t>
            </a:r>
          </a:p>
          <a:p>
            <a:pPr>
              <a:spcBef>
                <a:spcPts val="200"/>
              </a:spcBef>
              <a:defRPr sz="1000">
                <a:solidFill>
                  <a:srgbClr val="B4C3D7"/>
                </a:solidFill>
              </a:defRPr>
            </a:pPr>
            <a:r>
              <a:t>Core pipeline built.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1965960"/>
            <a:ext cx="2606040" cy="54864"/>
          </a:xfrm>
          <a:prstGeom prst="rect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3337560" y="1965960"/>
            <a:ext cx="2606040" cy="1417320"/>
          </a:xfrm>
          <a:prstGeom prst="roundRect">
            <a:avLst/>
          </a:prstGeom>
          <a:solidFill>
            <a:srgbClr val="142037"/>
          </a:solidFill>
          <a:ln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400" b="1">
                <a:solidFill>
                  <a:srgbClr val="6A1B9A"/>
                </a:solidFill>
              </a:defRPr>
            </a:pPr>
            <a:r>
              <a:t>Transition to Cursor</a:t>
            </a:r>
          </a:p>
          <a:p>
            <a:pPr>
              <a:spcBef>
                <a:spcPts val="200"/>
              </a:spcBef>
              <a:defRPr sz="1000">
                <a:solidFill>
                  <a:srgbClr val="B4C3D7"/>
                </a:solidFill>
              </a:defRPr>
            </a:pPr>
            <a:r>
              <a:t>Switched to Cursor (Claude)</a:t>
            </a:r>
          </a:p>
          <a:p>
            <a:pPr>
              <a:spcBef>
                <a:spcPts val="200"/>
              </a:spcBef>
              <a:defRPr sz="1000">
                <a:solidFill>
                  <a:srgbClr val="B4C3D7"/>
                </a:solidFill>
              </a:defRPr>
            </a:pPr>
            <a:r>
              <a:t>for development &amp; implementation.</a:t>
            </a:r>
          </a:p>
          <a:p>
            <a:pPr>
              <a:spcBef>
                <a:spcPts val="200"/>
              </a:spcBef>
              <a:defRPr sz="1000">
                <a:solidFill>
                  <a:srgbClr val="B4C3D7"/>
                </a:solidFill>
              </a:defRPr>
            </a:pPr>
            <a:r>
              <a:t>ChatGPT for requirements</a:t>
            </a:r>
          </a:p>
          <a:p>
            <a:pPr>
              <a:spcBef>
                <a:spcPts val="200"/>
              </a:spcBef>
              <a:defRPr sz="1000">
                <a:solidFill>
                  <a:srgbClr val="B4C3D7"/>
                </a:solidFill>
              </a:defRPr>
            </a:pPr>
            <a:r>
              <a:t>&amp; idea validation.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37560" y="1965960"/>
            <a:ext cx="2606040" cy="54864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035040" y="1965960"/>
            <a:ext cx="2606040" cy="1417320"/>
          </a:xfrm>
          <a:prstGeom prst="roundRect">
            <a:avLst/>
          </a:prstGeom>
          <a:solidFill>
            <a:srgbClr val="142037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400" b="1">
                <a:solidFill>
                  <a:srgbClr val="2E7D32"/>
                </a:solidFill>
              </a:defRPr>
            </a:pPr>
            <a:r>
              <a:t>Full Cursor Autonomy</a:t>
            </a:r>
          </a:p>
          <a:p>
            <a:pPr>
              <a:spcBef>
                <a:spcPts val="200"/>
              </a:spcBef>
              <a:defRPr sz="1000">
                <a:solidFill>
                  <a:srgbClr val="B4C3D7"/>
                </a:solidFill>
              </a:defRPr>
            </a:pPr>
            <a:r>
              <a:t>Cursor deploys direct to</a:t>
            </a:r>
          </a:p>
          <a:p>
            <a:pPr>
              <a:spcBef>
                <a:spcPts val="200"/>
              </a:spcBef>
              <a:defRPr sz="1000">
                <a:solidFill>
                  <a:srgbClr val="B4C3D7"/>
                </a:solidFill>
              </a:defRPr>
            </a:pPr>
            <a:r>
              <a:t>Snowflake. Testing, debugging,</a:t>
            </a:r>
          </a:p>
          <a:p>
            <a:pPr>
              <a:spcBef>
                <a:spcPts val="200"/>
              </a:spcBef>
              <a:defRPr sz="1000">
                <a:solidFill>
                  <a:srgbClr val="B4C3D7"/>
                </a:solidFill>
              </a:defRPr>
            </a:pPr>
            <a:r>
              <a:t>data repairs — all autonomous.</a:t>
            </a:r>
          </a:p>
          <a:p>
            <a:pPr>
              <a:spcBef>
                <a:spcPts val="200"/>
              </a:spcBef>
              <a:defRPr sz="1000">
                <a:solidFill>
                  <a:srgbClr val="B4C3D7"/>
                </a:solidFill>
              </a:defRPr>
            </a:pPr>
            <a:r>
              <a:t>Human reviews, never types.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35040" y="1965960"/>
            <a:ext cx="2606040" cy="5486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732520" y="1965960"/>
            <a:ext cx="2606040" cy="1417320"/>
          </a:xfrm>
          <a:prstGeom prst="roundRect">
            <a:avLst/>
          </a:prstGeom>
          <a:solidFill>
            <a:srgbClr val="142037"/>
          </a:solidFill>
          <a:ln>
            <a:solidFill>
              <a:srgbClr val="925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400" b="1">
                <a:solidFill>
                  <a:srgbClr val="925F00"/>
                </a:solidFill>
              </a:defRPr>
            </a:pPr>
            <a:r>
              <a:t>Platform Maturity</a:t>
            </a:r>
          </a:p>
          <a:p>
            <a:pPr>
              <a:spcBef>
                <a:spcPts val="200"/>
              </a:spcBef>
              <a:defRPr sz="1000">
                <a:solidFill>
                  <a:srgbClr val="B4C3D7"/>
                </a:solidFill>
              </a:defRPr>
            </a:pPr>
            <a:r>
              <a:t>IBKR live broker integration.</a:t>
            </a:r>
          </a:p>
          <a:p>
            <a:pPr>
              <a:spcBef>
                <a:spcPts val="200"/>
              </a:spcBef>
              <a:defRPr sz="1000">
                <a:solidFill>
                  <a:srgbClr val="B4C3D7"/>
                </a:solidFill>
              </a:defRPr>
            </a:pPr>
            <a:r>
              <a:t>Cortex AI committee + narratives.</a:t>
            </a:r>
          </a:p>
          <a:p>
            <a:pPr>
              <a:spcBef>
                <a:spcPts val="200"/>
              </a:spcBef>
              <a:defRPr sz="1000">
                <a:solidFill>
                  <a:srgbClr val="B4C3D7"/>
                </a:solidFill>
              </a:defRPr>
            </a:pPr>
            <a:r>
              <a:t>Parallel worlds + news intelligence.</a:t>
            </a:r>
          </a:p>
          <a:p>
            <a:pPr>
              <a:spcBef>
                <a:spcPts val="200"/>
              </a:spcBef>
              <a:defRPr sz="1000">
                <a:solidFill>
                  <a:srgbClr val="B4C3D7"/>
                </a:solidFill>
              </a:defRPr>
            </a:pPr>
            <a:r>
              <a:t>146K lines. Production-ready.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732520" y="1965960"/>
            <a:ext cx="2606040" cy="54864"/>
          </a:xfrm>
          <a:prstGeom prst="rect">
            <a:avLst/>
          </a:prstGeom>
          <a:solidFill>
            <a:srgbClr val="925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080" y="365760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2E8F0"/>
                </a:solidFill>
              </a:defRPr>
            </a:pPr>
            <a:r>
              <a:t>Kenneth's Role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023360"/>
            <a:ext cx="1828800" cy="1280160"/>
          </a:xfrm>
          <a:prstGeom prst="roundRect">
            <a:avLst/>
          </a:prstGeom>
          <a:solidFill>
            <a:srgbClr val="142037"/>
          </a:solidFill>
          <a:ln>
            <a:solidFill>
              <a:srgbClr val="28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200" b="1">
                <a:solidFill>
                  <a:srgbClr val="925F00"/>
                </a:solidFill>
              </a:defRPr>
            </a:pPr>
            <a:r>
              <a:t>⭐  Visionary</a:t>
            </a:r>
          </a:p>
          <a:p>
            <a:pPr>
              <a:spcBef>
                <a:spcPts val="100"/>
              </a:spcBef>
              <a:defRPr sz="900">
                <a:solidFill>
                  <a:srgbClr val="A0AFC3"/>
                </a:solidFill>
              </a:defRPr>
            </a:pPr>
            <a:r>
              <a:t>Conceived the mission.</a:t>
            </a:r>
          </a:p>
          <a:p>
            <a:pPr>
              <a:spcBef>
                <a:spcPts val="100"/>
              </a:spcBef>
              <a:defRPr sz="900">
                <a:solidFill>
                  <a:srgbClr val="A0AFC3"/>
                </a:solidFill>
              </a:defRPr>
            </a:pPr>
            <a:r>
              <a:t>Defined what MIP should</a:t>
            </a:r>
          </a:p>
          <a:p>
            <a:pPr>
              <a:spcBef>
                <a:spcPts val="100"/>
              </a:spcBef>
              <a:defRPr sz="900">
                <a:solidFill>
                  <a:srgbClr val="A0AFC3"/>
                </a:solidFill>
              </a:defRPr>
            </a:pPr>
            <a:r>
              <a:t>become.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606039" y="4023360"/>
            <a:ext cx="1828800" cy="1280160"/>
          </a:xfrm>
          <a:prstGeom prst="roundRect">
            <a:avLst/>
          </a:prstGeom>
          <a:solidFill>
            <a:srgbClr val="142037"/>
          </a:solidFill>
          <a:ln>
            <a:solidFill>
              <a:srgbClr val="28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200" b="1">
                <a:solidFill>
                  <a:srgbClr val="3069F0"/>
                </a:solidFill>
              </a:defRPr>
            </a:pPr>
            <a:r>
              <a:t>⚙️  Orchestrator</a:t>
            </a:r>
          </a:p>
          <a:p>
            <a:pPr>
              <a:spcBef>
                <a:spcPts val="100"/>
              </a:spcBef>
              <a:defRPr sz="900">
                <a:solidFill>
                  <a:srgbClr val="A0AFC3"/>
                </a:solidFill>
              </a:defRPr>
            </a:pPr>
            <a:r>
              <a:t>Directed the AI agents.</a:t>
            </a:r>
          </a:p>
          <a:p>
            <a:pPr>
              <a:spcBef>
                <a:spcPts val="100"/>
              </a:spcBef>
              <a:defRPr sz="900">
                <a:solidFill>
                  <a:srgbClr val="A0AFC3"/>
                </a:solidFill>
              </a:defRPr>
            </a:pPr>
            <a:r>
              <a:t>Reviewed output, steered</a:t>
            </a:r>
          </a:p>
          <a:p>
            <a:pPr>
              <a:spcBef>
                <a:spcPts val="100"/>
              </a:spcBef>
              <a:defRPr sz="900">
                <a:solidFill>
                  <a:srgbClr val="A0AFC3"/>
                </a:solidFill>
              </a:defRPr>
            </a:pPr>
            <a:r>
              <a:t>direction.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0" y="4023360"/>
            <a:ext cx="1828800" cy="1280160"/>
          </a:xfrm>
          <a:prstGeom prst="roundRect">
            <a:avLst/>
          </a:prstGeom>
          <a:solidFill>
            <a:srgbClr val="142037"/>
          </a:solidFill>
          <a:ln>
            <a:solidFill>
              <a:srgbClr val="28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200" b="1">
                <a:solidFill>
                  <a:srgbClr val="2E7D32"/>
                </a:solidFill>
              </a:defRPr>
            </a:pPr>
            <a:r>
              <a:t>☑️  Product Owner</a:t>
            </a:r>
          </a:p>
          <a:p>
            <a:pPr>
              <a:spcBef>
                <a:spcPts val="100"/>
              </a:spcBef>
              <a:defRPr sz="900">
                <a:solidFill>
                  <a:srgbClr val="A0AFC3"/>
                </a:solidFill>
              </a:defRPr>
            </a:pPr>
            <a:r>
              <a:t>Prioritised features.</a:t>
            </a:r>
          </a:p>
          <a:p>
            <a:pPr>
              <a:spcBef>
                <a:spcPts val="100"/>
              </a:spcBef>
              <a:defRPr sz="900">
                <a:solidFill>
                  <a:srgbClr val="A0AFC3"/>
                </a:solidFill>
              </a:defRPr>
            </a:pPr>
            <a:r>
              <a:t>Defined acceptance criteria.</a:t>
            </a:r>
          </a:p>
          <a:p>
            <a:pPr>
              <a:spcBef>
                <a:spcPts val="100"/>
              </a:spcBef>
              <a:defRPr sz="900">
                <a:solidFill>
                  <a:srgbClr val="A0AFC3"/>
                </a:solidFill>
              </a:defRPr>
            </a:pPr>
            <a:r>
              <a:t>Quality gatekeeper.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365760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2E8F0"/>
                </a:solidFill>
              </a:defRPr>
            </a:pPr>
            <a:r>
              <a:t>The Numbers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4041648"/>
            <a:ext cx="5120640" cy="237744"/>
          </a:xfrm>
          <a:prstGeom prst="rect">
            <a:avLst/>
          </a:prstGeom>
          <a:solidFill>
            <a:srgbClr val="1E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92240" y="4041648"/>
            <a:ext cx="22860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B4C3D7"/>
                </a:solidFill>
              </a:defRPr>
            </a:pPr>
            <a:r>
              <a:t>Layer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78240" y="4041648"/>
            <a:ext cx="9144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B4C3D7"/>
                </a:solidFill>
              </a:defRPr>
            </a:pPr>
            <a:r>
              <a:t>Files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92640" y="4041648"/>
            <a:ext cx="11887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B4C3D7"/>
                </a:solidFill>
              </a:defRPr>
            </a:pPr>
            <a:r>
              <a:t>Lines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881360" y="4041648"/>
            <a:ext cx="6400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B4C3D7"/>
                </a:solidFill>
              </a:defRPr>
            </a:pPr>
            <a:r>
              <a:t>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4279392"/>
            <a:ext cx="5120640" cy="237744"/>
          </a:xfrm>
          <a:prstGeom prst="rect">
            <a:avLst/>
          </a:prstGeom>
          <a:solidFill>
            <a:srgbClr val="14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6446520" y="4343400"/>
            <a:ext cx="109728" cy="109728"/>
          </a:xfrm>
          <a:prstGeom prst="ellipse">
            <a:avLst/>
          </a:prstGeom>
          <a:solidFill>
            <a:srgbClr val="925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601968" y="4279392"/>
            <a:ext cx="22860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D2DCEB"/>
                </a:solidFill>
              </a:defRPr>
            </a:pPr>
            <a:r>
              <a:t>SQL (Snowflake)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78240" y="4279392"/>
            <a:ext cx="9144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D2DCEB"/>
                </a:solidFill>
              </a:defRPr>
            </a:pPr>
            <a:r>
              <a:t>340 files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92640" y="4279392"/>
            <a:ext cx="11887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D2DCEB"/>
                </a:solidFill>
              </a:defRPr>
            </a:pPr>
            <a:r>
              <a:t>47,500 lines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881360" y="4279392"/>
            <a:ext cx="6400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D2DCEB"/>
                </a:solidFill>
              </a:defRPr>
            </a:pPr>
            <a:r>
              <a:t>40%</a:t>
            </a:r>
          </a:p>
        </p:txBody>
      </p:sp>
      <p:sp>
        <p:nvSpPr>
          <p:cNvPr id="39" name="Oval 38"/>
          <p:cNvSpPr/>
          <p:nvPr/>
        </p:nvSpPr>
        <p:spPr>
          <a:xfrm>
            <a:off x="6446520" y="4581144"/>
            <a:ext cx="109728" cy="109728"/>
          </a:xfrm>
          <a:prstGeom prst="ellipse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601968" y="4517136"/>
            <a:ext cx="22860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D2DCEB"/>
                </a:solidFill>
              </a:defRPr>
            </a:pPr>
            <a:r>
              <a:t>React (JSX/JS/CSS)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78240" y="4517136"/>
            <a:ext cx="9144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D2DCEB"/>
                </a:solidFill>
              </a:defRPr>
            </a:pPr>
            <a:r>
              <a:t>100 files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92640" y="4517136"/>
            <a:ext cx="11887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D2DCEB"/>
                </a:solidFill>
              </a:defRPr>
            </a:pPr>
            <a:r>
              <a:t>31,500 lines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881360" y="4517136"/>
            <a:ext cx="6400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D2DCEB"/>
                </a:solidFill>
              </a:defRPr>
            </a:pPr>
            <a:r>
              <a:t>27%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00800" y="4754880"/>
            <a:ext cx="5120640" cy="237744"/>
          </a:xfrm>
          <a:prstGeom prst="rect">
            <a:avLst/>
          </a:prstGeom>
          <a:solidFill>
            <a:srgbClr val="14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6446520" y="4818888"/>
            <a:ext cx="109728" cy="109728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601968" y="4754880"/>
            <a:ext cx="22860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D2DCEB"/>
                </a:solidFill>
              </a:defRPr>
            </a:pPr>
            <a:r>
              <a:t>Python (FastAPI)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778240" y="4754880"/>
            <a:ext cx="9144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D2DCEB"/>
                </a:solidFill>
              </a:defRPr>
            </a:pPr>
            <a:r>
              <a:t>51 files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92640" y="4754880"/>
            <a:ext cx="11887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D2DCEB"/>
                </a:solidFill>
              </a:defRPr>
            </a:pPr>
            <a:r>
              <a:t>23,100 lines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881360" y="4754880"/>
            <a:ext cx="6400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D2DCEB"/>
                </a:solidFill>
              </a:defRPr>
            </a:pPr>
            <a:r>
              <a:t>20%</a:t>
            </a:r>
          </a:p>
        </p:txBody>
      </p:sp>
      <p:sp>
        <p:nvSpPr>
          <p:cNvPr id="50" name="Oval 49"/>
          <p:cNvSpPr/>
          <p:nvPr/>
        </p:nvSpPr>
        <p:spPr>
          <a:xfrm>
            <a:off x="6446520" y="5056632"/>
            <a:ext cx="109728" cy="109728"/>
          </a:xfrm>
          <a:prstGeom prst="ellipse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601968" y="4992624"/>
            <a:ext cx="22860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D2DCEB"/>
                </a:solidFill>
              </a:defRPr>
            </a:pPr>
            <a:r>
              <a:t>Python (Scripts)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778240" y="4992624"/>
            <a:ext cx="9144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D2DCEB"/>
                </a:solidFill>
              </a:defRPr>
            </a:pPr>
            <a:r>
              <a:t>23 files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692640" y="4992624"/>
            <a:ext cx="11887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D2DCEB"/>
                </a:solidFill>
              </a:defRPr>
            </a:pPr>
            <a:r>
              <a:t>10,300 lines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881360" y="4992624"/>
            <a:ext cx="6400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D2DCEB"/>
                </a:solidFill>
              </a:defRPr>
            </a:pPr>
            <a:r>
              <a:t>9%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400800" y="5230368"/>
            <a:ext cx="5120640" cy="237744"/>
          </a:xfrm>
          <a:prstGeom prst="rect">
            <a:avLst/>
          </a:prstGeom>
          <a:solidFill>
            <a:srgbClr val="14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Oval 55"/>
          <p:cNvSpPr/>
          <p:nvPr/>
        </p:nvSpPr>
        <p:spPr>
          <a:xfrm>
            <a:off x="6446520" y="5294376"/>
            <a:ext cx="109728" cy="109728"/>
          </a:xfrm>
          <a:prstGeom prst="ellipse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601968" y="5230368"/>
            <a:ext cx="22860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D2DCEB"/>
                </a:solidFill>
              </a:defRPr>
            </a:pPr>
            <a:r>
              <a:t>Documentation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778240" y="5230368"/>
            <a:ext cx="9144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D2DCEB"/>
                </a:solidFill>
              </a:defRPr>
            </a:pPr>
            <a:r>
              <a:t>80 files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692640" y="5230368"/>
            <a:ext cx="11887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D2DCEB"/>
                </a:solidFill>
              </a:defRPr>
            </a:pPr>
            <a:r>
              <a:t>5,300 lines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881360" y="5230368"/>
            <a:ext cx="6400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D2DCEB"/>
                </a:solidFill>
              </a:defRPr>
            </a:pPr>
            <a:r>
              <a:t>4%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400800" y="5468112"/>
            <a:ext cx="5120640" cy="256032"/>
          </a:xfrm>
          <a:prstGeom prst="rect">
            <a:avLst/>
          </a:prstGeom>
          <a:solidFill>
            <a:srgbClr val="306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492240" y="5468112"/>
            <a:ext cx="2286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778240" y="5468112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594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692640" y="5468112"/>
            <a:ext cx="1188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117,700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881360" y="5468112"/>
            <a:ext cx="640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100%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40080" y="5760720"/>
            <a:ext cx="10881360" cy="868680"/>
          </a:xfrm>
          <a:prstGeom prst="roundRect">
            <a:avLst/>
          </a:prstGeom>
          <a:solidFill>
            <a:srgbClr val="142341"/>
          </a:solidFill>
          <a:ln>
            <a:solidFill>
              <a:srgbClr val="306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914400" y="5833872"/>
            <a:ext cx="104241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i="1">
                <a:solidFill>
                  <a:srgbClr val="DCE6F5"/>
                </a:solidFill>
              </a:defRPr>
            </a:pPr>
            <a:r>
              <a:rPr dirty="0"/>
              <a:t>“Kenneth never wrote a line of code, AI did.  AI never made a product decision, Kenneth did.</a:t>
            </a:r>
          </a:p>
          <a:p>
            <a:pPr>
              <a:defRPr sz="1400" i="1">
                <a:solidFill>
                  <a:srgbClr val="DCE6F5"/>
                </a:solidFill>
              </a:defRPr>
            </a:pPr>
            <a:r>
              <a:rPr dirty="0"/>
              <a:t>Each played to their strengths.  117,700 lines.  594 files.  6 months.  One human involved</a:t>
            </a:r>
            <a:r>
              <a:rPr lang="de-DE" dirty="0"/>
              <a:t> (spare time after </a:t>
            </a:r>
            <a:r>
              <a:rPr lang="de-DE" dirty="0" err="1"/>
              <a:t>work</a:t>
            </a:r>
            <a:r>
              <a:rPr lang="de-DE" dirty="0"/>
              <a:t>)</a:t>
            </a:r>
            <a:r>
              <a:rPr dirty="0"/>
              <a:t>.”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4714</Words>
  <Application>Microsoft Office PowerPoint</Application>
  <PresentationFormat>Widescreen</PresentationFormat>
  <Paragraphs>655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Kenneth Jebjerg</dc:creator>
  <cp:keywords/>
  <dc:description>generated using python-pptx</dc:description>
  <cp:lastModifiedBy>Kenneth Jebjerg</cp:lastModifiedBy>
  <cp:revision>2</cp:revision>
  <dcterms:created xsi:type="dcterms:W3CDTF">2013-01-27T09:14:16Z</dcterms:created>
  <dcterms:modified xsi:type="dcterms:W3CDTF">2026-04-04T12:05:06Z</dcterms:modified>
  <cp:category/>
</cp:coreProperties>
</file>