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83" r:id="rId2"/>
    <p:sldId id="257" r:id="rId3"/>
    <p:sldId id="269" r:id="rId4"/>
    <p:sldId id="271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8" r:id="rId13"/>
    <p:sldId id="272" r:id="rId14"/>
    <p:sldId id="267" r:id="rId15"/>
    <p:sldId id="273" r:id="rId16"/>
    <p:sldId id="275" r:id="rId17"/>
    <p:sldId id="276" r:id="rId18"/>
    <p:sldId id="278" r:id="rId19"/>
    <p:sldId id="279" r:id="rId20"/>
    <p:sldId id="280" r:id="rId21"/>
    <p:sldId id="281" r:id="rId22"/>
    <p:sldId id="28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1A922C-2E0C-48D8-906C-43BE0B894A6A}" v="10" dt="2026-03-20T08:50:35.9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07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nneth Jebjerg" userId="31b26a954995a5e4" providerId="LiveId" clId="{FB9E2242-EB45-4C40-9CD8-7B1EDA37FE0A}"/>
    <pc:docChg chg="undo custSel addSld delSld modSld sldOrd">
      <pc:chgData name="Kenneth Jebjerg" userId="31b26a954995a5e4" providerId="LiveId" clId="{FB9E2242-EB45-4C40-9CD8-7B1EDA37FE0A}" dt="2026-03-20T10:20:55.555" v="348" actId="6549"/>
      <pc:docMkLst>
        <pc:docMk/>
      </pc:docMkLst>
      <pc:sldChg chg="del">
        <pc:chgData name="Kenneth Jebjerg" userId="31b26a954995a5e4" providerId="LiveId" clId="{FB9E2242-EB45-4C40-9CD8-7B1EDA37FE0A}" dt="2026-03-20T08:54:31.258" v="76" actId="47"/>
        <pc:sldMkLst>
          <pc:docMk/>
          <pc:sldMk cId="0" sldId="256"/>
        </pc:sldMkLst>
      </pc:sldChg>
      <pc:sldChg chg="modSp mod">
        <pc:chgData name="Kenneth Jebjerg" userId="31b26a954995a5e4" providerId="LiveId" clId="{FB9E2242-EB45-4C40-9CD8-7B1EDA37FE0A}" dt="2026-03-20T08:54:53.765" v="79" actId="167"/>
        <pc:sldMkLst>
          <pc:docMk/>
          <pc:sldMk cId="0" sldId="257"/>
        </pc:sldMkLst>
        <pc:spChg chg="mod ord">
          <ac:chgData name="Kenneth Jebjerg" userId="31b26a954995a5e4" providerId="LiveId" clId="{FB9E2242-EB45-4C40-9CD8-7B1EDA37FE0A}" dt="2026-03-20T08:54:53.765" v="79" actId="167"/>
          <ac:spMkLst>
            <pc:docMk/>
            <pc:sldMk cId="0" sldId="257"/>
            <ac:spMk id="2" creationId="{00000000-0000-0000-0000-000000000000}"/>
          </ac:spMkLst>
        </pc:spChg>
      </pc:sldChg>
      <pc:sldChg chg="del">
        <pc:chgData name="Kenneth Jebjerg" userId="31b26a954995a5e4" providerId="LiveId" clId="{FB9E2242-EB45-4C40-9CD8-7B1EDA37FE0A}" dt="2026-03-20T08:24:59.413" v="0" actId="47"/>
        <pc:sldMkLst>
          <pc:docMk/>
          <pc:sldMk cId="0" sldId="258"/>
        </pc:sldMkLst>
      </pc:sldChg>
      <pc:sldChg chg="del">
        <pc:chgData name="Kenneth Jebjerg" userId="31b26a954995a5e4" providerId="LiveId" clId="{FB9E2242-EB45-4C40-9CD8-7B1EDA37FE0A}" dt="2026-03-20T08:41:08.870" v="25" actId="47"/>
        <pc:sldMkLst>
          <pc:docMk/>
          <pc:sldMk cId="0" sldId="264"/>
        </pc:sldMkLst>
      </pc:sldChg>
      <pc:sldChg chg="ord">
        <pc:chgData name="Kenneth Jebjerg" userId="31b26a954995a5e4" providerId="LiveId" clId="{FB9E2242-EB45-4C40-9CD8-7B1EDA37FE0A}" dt="2026-03-20T08:27:15.029" v="2"/>
        <pc:sldMkLst>
          <pc:docMk/>
          <pc:sldMk cId="0" sldId="265"/>
        </pc:sldMkLst>
      </pc:sldChg>
      <pc:sldChg chg="modSp mod ord">
        <pc:chgData name="Kenneth Jebjerg" userId="31b26a954995a5e4" providerId="LiveId" clId="{FB9E2242-EB45-4C40-9CD8-7B1EDA37FE0A}" dt="2026-03-20T08:30:57.517" v="5" actId="14100"/>
        <pc:sldMkLst>
          <pc:docMk/>
          <pc:sldMk cId="0" sldId="266"/>
        </pc:sldMkLst>
        <pc:spChg chg="mod">
          <ac:chgData name="Kenneth Jebjerg" userId="31b26a954995a5e4" providerId="LiveId" clId="{FB9E2242-EB45-4C40-9CD8-7B1EDA37FE0A}" dt="2026-03-20T08:30:57.517" v="5" actId="14100"/>
          <ac:spMkLst>
            <pc:docMk/>
            <pc:sldMk cId="0" sldId="266"/>
            <ac:spMk id="20" creationId="{00000000-0000-0000-0000-000000000000}"/>
          </ac:spMkLst>
        </pc:spChg>
      </pc:sldChg>
      <pc:sldChg chg="ord">
        <pc:chgData name="Kenneth Jebjerg" userId="31b26a954995a5e4" providerId="LiveId" clId="{FB9E2242-EB45-4C40-9CD8-7B1EDA37FE0A}" dt="2026-03-20T08:33:28.568" v="7"/>
        <pc:sldMkLst>
          <pc:docMk/>
          <pc:sldMk cId="0" sldId="267"/>
        </pc:sldMkLst>
      </pc:sldChg>
      <pc:sldChg chg="modSp mod ord">
        <pc:chgData name="Kenneth Jebjerg" userId="31b26a954995a5e4" providerId="LiveId" clId="{FB9E2242-EB45-4C40-9CD8-7B1EDA37FE0A}" dt="2026-03-20T08:46:47.615" v="31"/>
        <pc:sldMkLst>
          <pc:docMk/>
          <pc:sldMk cId="0" sldId="268"/>
        </pc:sldMkLst>
        <pc:spChg chg="mod">
          <ac:chgData name="Kenneth Jebjerg" userId="31b26a954995a5e4" providerId="LiveId" clId="{FB9E2242-EB45-4C40-9CD8-7B1EDA37FE0A}" dt="2026-03-20T08:37:52.859" v="12" actId="14100"/>
          <ac:spMkLst>
            <pc:docMk/>
            <pc:sldMk cId="0" sldId="268"/>
            <ac:spMk id="7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05.941" v="14" actId="1410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49.243" v="11" actId="14100"/>
          <ac:spMkLst>
            <pc:docMk/>
            <pc:sldMk cId="0" sldId="268"/>
            <ac:spMk id="13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51.748" v="21" actId="14"/>
          <ac:spMkLst>
            <pc:docMk/>
            <pc:sldMk cId="0" sldId="268"/>
            <ac:spMk id="16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44.546" v="10" actId="14100"/>
          <ac:spMkLst>
            <pc:docMk/>
            <pc:sldMk cId="0" sldId="268"/>
            <ac:spMk id="19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9:31.196" v="22" actId="207"/>
          <ac:spMkLst>
            <pc:docMk/>
            <pc:sldMk cId="0" sldId="268"/>
            <ac:spMk id="22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34.495" v="9" actId="14100"/>
          <ac:spMkLst>
            <pc:docMk/>
            <pc:sldMk cId="0" sldId="268"/>
            <ac:spMk id="25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28.831" v="18" actId="14100"/>
          <ac:spMkLst>
            <pc:docMk/>
            <pc:sldMk cId="0" sldId="268"/>
            <ac:spMk id="28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7:58.602" v="13" actId="14100"/>
          <ac:spMkLst>
            <pc:docMk/>
            <pc:sldMk cId="0" sldId="268"/>
            <ac:spMk id="31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8:38:33.496" v="19" actId="14100"/>
          <ac:spMkLst>
            <pc:docMk/>
            <pc:sldMk cId="0" sldId="268"/>
            <ac:spMk id="34" creationId="{00000000-0000-0000-0000-000000000000}"/>
          </ac:spMkLst>
        </pc:spChg>
      </pc:sldChg>
      <pc:sldChg chg="add del setBg">
        <pc:chgData name="Kenneth Jebjerg" userId="31b26a954995a5e4" providerId="LiveId" clId="{FB9E2242-EB45-4C40-9CD8-7B1EDA37FE0A}" dt="2026-03-20T08:49:31.781" v="36" actId="2696"/>
        <pc:sldMkLst>
          <pc:docMk/>
          <pc:sldMk cId="0" sldId="269"/>
        </pc:sldMkLst>
      </pc:sldChg>
      <pc:sldChg chg="modSp add mod">
        <pc:chgData name="Kenneth Jebjerg" userId="31b26a954995a5e4" providerId="LiveId" clId="{FB9E2242-EB45-4C40-9CD8-7B1EDA37FE0A}" dt="2026-03-20T09:09:08.630" v="130" actId="12"/>
        <pc:sldMkLst>
          <pc:docMk/>
          <pc:sldMk cId="1307380383" sldId="269"/>
        </pc:sldMkLst>
        <pc:spChg chg="mod">
          <ac:chgData name="Kenneth Jebjerg" userId="31b26a954995a5e4" providerId="LiveId" clId="{FB9E2242-EB45-4C40-9CD8-7B1EDA37FE0A}" dt="2026-03-20T09:08:19.980" v="100" actId="6549"/>
          <ac:spMkLst>
            <pc:docMk/>
            <pc:sldMk cId="1307380383" sldId="269"/>
            <ac:spMk id="18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9:08:45.227" v="115" actId="12"/>
          <ac:spMkLst>
            <pc:docMk/>
            <pc:sldMk cId="1307380383" sldId="269"/>
            <ac:spMk id="20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9:09:08.630" v="130" actId="12"/>
          <ac:spMkLst>
            <pc:docMk/>
            <pc:sldMk cId="1307380383" sldId="269"/>
            <ac:spMk id="22" creationId="{00000000-0000-0000-0000-000000000000}"/>
          </ac:spMkLst>
        </pc:spChg>
      </pc:sldChg>
      <pc:sldChg chg="del">
        <pc:chgData name="Kenneth Jebjerg" userId="31b26a954995a5e4" providerId="LiveId" clId="{FB9E2242-EB45-4C40-9CD8-7B1EDA37FE0A}" dt="2026-03-20T10:13:15.135" v="131" actId="47"/>
        <pc:sldMkLst>
          <pc:docMk/>
          <pc:sldMk cId="0" sldId="270"/>
        </pc:sldMkLst>
      </pc:sldChg>
      <pc:sldChg chg="add setBg">
        <pc:chgData name="Kenneth Jebjerg" userId="31b26a954995a5e4" providerId="LiveId" clId="{FB9E2242-EB45-4C40-9CD8-7B1EDA37FE0A}" dt="2026-03-20T08:37:03.007" v="8"/>
        <pc:sldMkLst>
          <pc:docMk/>
          <pc:sldMk cId="0" sldId="272"/>
        </pc:sldMkLst>
      </pc:sldChg>
      <pc:sldChg chg="add setBg">
        <pc:chgData name="Kenneth Jebjerg" userId="31b26a954995a5e4" providerId="LiveId" clId="{FB9E2242-EB45-4C40-9CD8-7B1EDA37FE0A}" dt="2026-03-20T08:40:24.973" v="23"/>
        <pc:sldMkLst>
          <pc:docMk/>
          <pc:sldMk cId="0" sldId="273"/>
        </pc:sldMkLst>
      </pc:sldChg>
      <pc:sldChg chg="add del setBg">
        <pc:chgData name="Kenneth Jebjerg" userId="31b26a954995a5e4" providerId="LiveId" clId="{FB9E2242-EB45-4C40-9CD8-7B1EDA37FE0A}" dt="2026-03-20T10:13:15.135" v="131" actId="47"/>
        <pc:sldMkLst>
          <pc:docMk/>
          <pc:sldMk cId="0" sldId="274"/>
        </pc:sldMkLst>
      </pc:sldChg>
      <pc:sldChg chg="add setBg">
        <pc:chgData name="Kenneth Jebjerg" userId="31b26a954995a5e4" providerId="LiveId" clId="{FB9E2242-EB45-4C40-9CD8-7B1EDA37FE0A}" dt="2026-03-20T08:41:31.425" v="26"/>
        <pc:sldMkLst>
          <pc:docMk/>
          <pc:sldMk cId="0" sldId="275"/>
        </pc:sldMkLst>
      </pc:sldChg>
      <pc:sldChg chg="add setBg">
        <pc:chgData name="Kenneth Jebjerg" userId="31b26a954995a5e4" providerId="LiveId" clId="{FB9E2242-EB45-4C40-9CD8-7B1EDA37FE0A}" dt="2026-03-20T08:41:49.130" v="28"/>
        <pc:sldMkLst>
          <pc:docMk/>
          <pc:sldMk cId="0" sldId="276"/>
        </pc:sldMkLst>
      </pc:sldChg>
      <pc:sldChg chg="add del setBg">
        <pc:chgData name="Kenneth Jebjerg" userId="31b26a954995a5e4" providerId="LiveId" clId="{FB9E2242-EB45-4C40-9CD8-7B1EDA37FE0A}" dt="2026-03-20T10:13:15.135" v="131" actId="47"/>
        <pc:sldMkLst>
          <pc:docMk/>
          <pc:sldMk cId="0" sldId="277"/>
        </pc:sldMkLst>
      </pc:sldChg>
      <pc:sldChg chg="add setBg">
        <pc:chgData name="Kenneth Jebjerg" userId="31b26a954995a5e4" providerId="LiveId" clId="{FB9E2242-EB45-4C40-9CD8-7B1EDA37FE0A}" dt="2026-03-20T08:47:53.026" v="33"/>
        <pc:sldMkLst>
          <pc:docMk/>
          <pc:sldMk cId="0" sldId="278"/>
        </pc:sldMkLst>
      </pc:sldChg>
      <pc:sldChg chg="modSp add mod setBg">
        <pc:chgData name="Kenneth Jebjerg" userId="31b26a954995a5e4" providerId="LiveId" clId="{FB9E2242-EB45-4C40-9CD8-7B1EDA37FE0A}" dt="2026-03-20T10:20:55.555" v="348" actId="6549"/>
        <pc:sldMkLst>
          <pc:docMk/>
          <pc:sldMk cId="0" sldId="279"/>
        </pc:sldMkLst>
        <pc:spChg chg="mod">
          <ac:chgData name="Kenneth Jebjerg" userId="31b26a954995a5e4" providerId="LiveId" clId="{FB9E2242-EB45-4C40-9CD8-7B1EDA37FE0A}" dt="2026-03-20T10:20:10.146" v="318" actId="6549"/>
          <ac:spMkLst>
            <pc:docMk/>
            <pc:sldMk cId="0" sldId="279"/>
            <ac:spMk id="7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20:26.740" v="328" actId="6549"/>
          <ac:spMkLst>
            <pc:docMk/>
            <pc:sldMk cId="0" sldId="279"/>
            <ac:spMk id="9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20:40.827" v="338" actId="6549"/>
          <ac:spMkLst>
            <pc:docMk/>
            <pc:sldMk cId="0" sldId="279"/>
            <ac:spMk id="11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20:55.555" v="348" actId="6549"/>
          <ac:spMkLst>
            <pc:docMk/>
            <pc:sldMk cId="0" sldId="279"/>
            <ac:spMk id="13" creationId="{00000000-0000-0000-0000-000000000000}"/>
          </ac:spMkLst>
        </pc:spChg>
      </pc:sldChg>
      <pc:sldChg chg="modSp add mod setBg">
        <pc:chgData name="Kenneth Jebjerg" userId="31b26a954995a5e4" providerId="LiveId" clId="{FB9E2242-EB45-4C40-9CD8-7B1EDA37FE0A}" dt="2026-03-20T10:18:07.888" v="308" actId="14100"/>
        <pc:sldMkLst>
          <pc:docMk/>
          <pc:sldMk cId="0" sldId="280"/>
        </pc:sldMkLst>
        <pc:spChg chg="mod">
          <ac:chgData name="Kenneth Jebjerg" userId="31b26a954995a5e4" providerId="LiveId" clId="{FB9E2242-EB45-4C40-9CD8-7B1EDA37FE0A}" dt="2026-03-20T10:17:24.396" v="265" actId="14100"/>
          <ac:spMkLst>
            <pc:docMk/>
            <pc:sldMk cId="0" sldId="280"/>
            <ac:spMk id="7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7:20.507" v="264" actId="14100"/>
          <ac:spMkLst>
            <pc:docMk/>
            <pc:sldMk cId="0" sldId="280"/>
            <ac:spMk id="9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7:30.847" v="266" actId="14100"/>
          <ac:spMkLst>
            <pc:docMk/>
            <pc:sldMk cId="0" sldId="280"/>
            <ac:spMk id="11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7:30.847" v="266" actId="14100"/>
          <ac:spMkLst>
            <pc:docMk/>
            <pc:sldMk cId="0" sldId="280"/>
            <ac:spMk id="13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7:43.094" v="305" actId="1038"/>
          <ac:spMkLst>
            <pc:docMk/>
            <pc:sldMk cId="0" sldId="280"/>
            <ac:spMk id="15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7:43.094" v="305" actId="1038"/>
          <ac:spMkLst>
            <pc:docMk/>
            <pc:sldMk cId="0" sldId="280"/>
            <ac:spMk id="16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7:43.094" v="305" actId="1038"/>
          <ac:spMkLst>
            <pc:docMk/>
            <pc:sldMk cId="0" sldId="280"/>
            <ac:spMk id="17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8:07.888" v="308" actId="14100"/>
          <ac:spMkLst>
            <pc:docMk/>
            <pc:sldMk cId="0" sldId="280"/>
            <ac:spMk id="18" creationId="{00000000-0000-0000-0000-000000000000}"/>
          </ac:spMkLst>
        </pc:spChg>
      </pc:sldChg>
      <pc:sldChg chg="modSp add mod setBg">
        <pc:chgData name="Kenneth Jebjerg" userId="31b26a954995a5e4" providerId="LiveId" clId="{FB9E2242-EB45-4C40-9CD8-7B1EDA37FE0A}" dt="2026-03-20T10:15:41.913" v="257" actId="14100"/>
        <pc:sldMkLst>
          <pc:docMk/>
          <pc:sldMk cId="0" sldId="281"/>
        </pc:sldMkLst>
        <pc:spChg chg="mod">
          <ac:chgData name="Kenneth Jebjerg" userId="31b26a954995a5e4" providerId="LiveId" clId="{FB9E2242-EB45-4C40-9CD8-7B1EDA37FE0A}" dt="2026-03-20T10:15:41.913" v="257" actId="14100"/>
          <ac:spMkLst>
            <pc:docMk/>
            <pc:sldMk cId="0" sldId="281"/>
            <ac:spMk id="7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5:05.435" v="193" actId="1035"/>
          <ac:spMkLst>
            <pc:docMk/>
            <pc:sldMk cId="0" sldId="281"/>
            <ac:spMk id="32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4:56.414" v="170" actId="1036"/>
          <ac:spMkLst>
            <pc:docMk/>
            <pc:sldMk cId="0" sldId="281"/>
            <ac:spMk id="33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4:51.674" v="156" actId="1036"/>
          <ac:spMkLst>
            <pc:docMk/>
            <pc:sldMk cId="0" sldId="281"/>
            <ac:spMk id="34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5:28.761" v="256" actId="1035"/>
          <ac:spMkLst>
            <pc:docMk/>
            <pc:sldMk cId="0" sldId="281"/>
            <ac:spMk id="35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5:28.761" v="256" actId="1035"/>
          <ac:spMkLst>
            <pc:docMk/>
            <pc:sldMk cId="0" sldId="281"/>
            <ac:spMk id="36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10:15:11.051" v="205" actId="1036"/>
          <ac:spMkLst>
            <pc:docMk/>
            <pc:sldMk cId="0" sldId="281"/>
            <ac:spMk id="37" creationId="{00000000-0000-0000-0000-000000000000}"/>
          </ac:spMkLst>
        </pc:spChg>
      </pc:sldChg>
      <pc:sldChg chg="add setBg">
        <pc:chgData name="Kenneth Jebjerg" userId="31b26a954995a5e4" providerId="LiveId" clId="{FB9E2242-EB45-4C40-9CD8-7B1EDA37FE0A}" dt="2026-03-20T08:47:53.026" v="33"/>
        <pc:sldMkLst>
          <pc:docMk/>
          <pc:sldMk cId="0" sldId="282"/>
        </pc:sldMkLst>
      </pc:sldChg>
      <pc:sldChg chg="addSp delSp modSp add del mod setBg">
        <pc:chgData name="Kenneth Jebjerg" userId="31b26a954995a5e4" providerId="LiveId" clId="{FB9E2242-EB45-4C40-9CD8-7B1EDA37FE0A}" dt="2026-03-20T09:03:30.604" v="85" actId="1076"/>
        <pc:sldMkLst>
          <pc:docMk/>
          <pc:sldMk cId="0" sldId="283"/>
        </pc:sldMkLst>
        <pc:spChg chg="add del">
          <ac:chgData name="Kenneth Jebjerg" userId="31b26a954995a5e4" providerId="LiveId" clId="{FB9E2242-EB45-4C40-9CD8-7B1EDA37FE0A}" dt="2026-03-20T08:51:39.038" v="43" actId="478"/>
          <ac:spMkLst>
            <pc:docMk/>
            <pc:sldMk cId="0" sldId="283"/>
            <ac:spMk id="3" creationId="{00000000-0000-0000-0000-000000000000}"/>
          </ac:spMkLst>
        </pc:spChg>
        <pc:spChg chg="mod">
          <ac:chgData name="Kenneth Jebjerg" userId="31b26a954995a5e4" providerId="LiveId" clId="{FB9E2242-EB45-4C40-9CD8-7B1EDA37FE0A}" dt="2026-03-20T09:03:30.604" v="85" actId="1076"/>
          <ac:spMkLst>
            <pc:docMk/>
            <pc:sldMk cId="0" sldId="283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3F5B02-391E-4F5F-BD0B-5889F5D3F792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349CFE-6462-4655-8857-F2824C78A6C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8704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37160" cy="47548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09728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 dirty="0"/>
              <a:t>Market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Where Market Research Meets Intelligent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834640"/>
            <a:ext cx="274320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310896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MIP is a Snowflake-native platform that fuses AI-driven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market research with live broker-linked trading.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Every trade is backed by evidence. Every decision is auditable.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Every outcome feeds the next cycle of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5577840"/>
            <a:ext cx="173736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5577840"/>
            <a:ext cx="1737360" cy="310896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5577840"/>
            <a:ext cx="173736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5577840"/>
            <a:ext cx="1737360" cy="310896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9774" y="1850431"/>
            <a:ext cx="3657600" cy="3157138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800" b="1">
                <a:solidFill>
                  <a:srgbClr val="E2E8F0"/>
                </a:solidFill>
              </a:defRPr>
            </a:pPr>
            <a:r>
              <a:rPr dirty="0"/>
              <a:t>Platform Highlights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AI committee reviews every trade proposal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Pattern-based signal detection across FX + equities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Parallel worlds test policy quality before risk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Live IBKR link with real-time position sync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News intelligence with bounded influence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Full audit trail from signal to settlement</a:t>
            </a:r>
          </a:p>
          <a:p>
            <a:pPr marL="171450" indent="-171450">
              <a:spcBef>
                <a:spcPts val="600"/>
              </a:spcBef>
              <a:buClr>
                <a:srgbClr val="0070C0"/>
              </a:buClr>
              <a:buFont typeface="Arial" panose="020B0604020202020204" pitchFamily="34" charset="0"/>
              <a:buChar char="•"/>
              <a:defRPr sz="1200">
                <a:solidFill>
                  <a:srgbClr val="B4C3D7"/>
                </a:solidFill>
              </a:defRPr>
            </a:pPr>
            <a:r>
              <a:rPr dirty="0"/>
              <a:t>Learning ledger closes the feedback loop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Big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MIP runs a continuous loop: observe the market, learn from it, decide, act, and learn from the outcome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Ingest</a:t>
            </a:r>
          </a:p>
        </p:txBody>
      </p:sp>
      <p:sp>
        <p:nvSpPr>
          <p:cNvPr id="8" name="Chevron 7"/>
          <p:cNvSpPr/>
          <p:nvPr/>
        </p:nvSpPr>
        <p:spPr>
          <a:xfrm>
            <a:off x="161848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764792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Detect</a:t>
            </a:r>
          </a:p>
        </p:txBody>
      </p:sp>
      <p:sp>
        <p:nvSpPr>
          <p:cNvPr id="10" name="Chevron 9"/>
          <p:cNvSpPr/>
          <p:nvPr/>
        </p:nvSpPr>
        <p:spPr>
          <a:xfrm>
            <a:off x="3017520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163824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Evaluate</a:t>
            </a:r>
          </a:p>
        </p:txBody>
      </p:sp>
      <p:sp>
        <p:nvSpPr>
          <p:cNvPr id="12" name="Chevron 11"/>
          <p:cNvSpPr/>
          <p:nvPr/>
        </p:nvSpPr>
        <p:spPr>
          <a:xfrm>
            <a:off x="4416552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62856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Train</a:t>
            </a:r>
          </a:p>
        </p:txBody>
      </p:sp>
      <p:sp>
        <p:nvSpPr>
          <p:cNvPr id="14" name="Chevron 13"/>
          <p:cNvSpPr/>
          <p:nvPr/>
        </p:nvSpPr>
        <p:spPr>
          <a:xfrm>
            <a:off x="5815583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961888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Propose</a:t>
            </a:r>
          </a:p>
        </p:txBody>
      </p:sp>
      <p:sp>
        <p:nvSpPr>
          <p:cNvPr id="16" name="Chevron 15"/>
          <p:cNvSpPr/>
          <p:nvPr/>
        </p:nvSpPr>
        <p:spPr>
          <a:xfrm>
            <a:off x="7214616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Gate</a:t>
            </a:r>
          </a:p>
        </p:txBody>
      </p:sp>
      <p:sp>
        <p:nvSpPr>
          <p:cNvPr id="18" name="Chevron 17"/>
          <p:cNvSpPr/>
          <p:nvPr/>
        </p:nvSpPr>
        <p:spPr>
          <a:xfrm>
            <a:off x="861364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759952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Execute</a:t>
            </a:r>
          </a:p>
        </p:txBody>
      </p:sp>
      <p:sp>
        <p:nvSpPr>
          <p:cNvPr id="20" name="Chevron 19"/>
          <p:cNvSpPr/>
          <p:nvPr/>
        </p:nvSpPr>
        <p:spPr>
          <a:xfrm>
            <a:off x="10012680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58984" y="1920240"/>
            <a:ext cx="1234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Learn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017520"/>
            <a:ext cx="5394960" cy="2926080"/>
          </a:xfrm>
          <a:prstGeom prst="roundRect">
            <a:avLst/>
          </a:prstGeom>
          <a:solidFill>
            <a:srgbClr val="E3ECFD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800" b="1">
                <a:solidFill>
                  <a:srgbClr val="3069F0"/>
                </a:solidFill>
              </a:defRPr>
            </a:pPr>
            <a:r>
              <a:rPr dirty="0"/>
              <a:t>🔬  Research Loop (runs daily)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1. Ingest OHLCV bars from </a:t>
            </a:r>
            <a:r>
              <a:rPr dirty="0" err="1"/>
              <a:t>AlphaVantage</a:t>
            </a:r>
            <a:r>
              <a:rPr dirty="0"/>
              <a:t> / IBKR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2. Detect patterns (momentum, ORB, mean reversion, pullbacks)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3. Evaluate: did past signals hit or miss after 1, 3, 5, 10, 20 days?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4. Train: update maturity scores and trust labels per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5. The system gets smarter every day it runs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017520"/>
            <a:ext cx="5394960" cy="2926080"/>
          </a:xfrm>
          <a:prstGeom prst="roundRect">
            <a:avLst/>
          </a:prstGeom>
          <a:solidFill>
            <a:srgbClr val="E6F5E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800" b="1">
                <a:solidFill>
                  <a:srgbClr val="2E7D32"/>
                </a:solidFill>
              </a:defRPr>
            </a:pPr>
            <a:r>
              <a:t>🎯  Decision Loop (runs daily)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6. Propose: pick the best signals for each portfolio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7. Gate: trust gate, risk gate, capacity gate, freshness gate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8. Committee: AI reviews each proposal (can block)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9. Execute: place in simulation or live via IBKR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10. Learn: record outcome, feed it back into training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🔄  Like a chef who tastes every dish (evaluate), adjusts the recipe (train), and only serves when quality passes inspection (gate).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Ask MIP — Your Intelligent Platform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Route-aware, docs-grounded AI assistant — always one click away on every page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User Question</a:t>
            </a:r>
          </a:p>
        </p:txBody>
      </p:sp>
      <p:sp>
        <p:nvSpPr>
          <p:cNvPr id="8" name="Chevron 7"/>
          <p:cNvSpPr/>
          <p:nvPr/>
        </p:nvSpPr>
        <p:spPr>
          <a:xfrm>
            <a:off x="2011680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267712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Route Context</a:t>
            </a:r>
          </a:p>
        </p:txBody>
      </p:sp>
      <p:sp>
        <p:nvSpPr>
          <p:cNvPr id="10" name="Chevron 9"/>
          <p:cNvSpPr/>
          <p:nvPr/>
        </p:nvSpPr>
        <p:spPr>
          <a:xfrm>
            <a:off x="3913631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69664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Doc Retrieval</a:t>
            </a:r>
          </a:p>
        </p:txBody>
      </p:sp>
      <p:sp>
        <p:nvSpPr>
          <p:cNvPr id="12" name="Chevron 11"/>
          <p:cNvSpPr/>
          <p:nvPr/>
        </p:nvSpPr>
        <p:spPr>
          <a:xfrm>
            <a:off x="5815584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71616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Glossary Match</a:t>
            </a:r>
          </a:p>
        </p:txBody>
      </p:sp>
      <p:sp>
        <p:nvSpPr>
          <p:cNvPr id="14" name="Chevron 13"/>
          <p:cNvSpPr/>
          <p:nvPr/>
        </p:nvSpPr>
        <p:spPr>
          <a:xfrm>
            <a:off x="7717536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973568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Cortex LLM</a:t>
            </a:r>
          </a:p>
        </p:txBody>
      </p:sp>
      <p:sp>
        <p:nvSpPr>
          <p:cNvPr id="16" name="Chevron 15"/>
          <p:cNvSpPr/>
          <p:nvPr/>
        </p:nvSpPr>
        <p:spPr>
          <a:xfrm>
            <a:off x="961948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875520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Answer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71800"/>
            <a:ext cx="35661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How It Works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Floating button on every page (❓)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Panel slides open from the right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User types a question in natural language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System detects current route + page context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Retrieves relevant docs + glossary matches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Calls Snowflake Cortex (Claude 3.5 Sonnet)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Returns structured answer with provenance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71800"/>
            <a:ext cx="73152" cy="29260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343400" y="2971800"/>
            <a:ext cx="365760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Route-Aware Intelligence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Knows which page you're viewing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Injects page-specific guide content as context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Frames answers relative to visible UI elements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24 route-to-guide mappings for precise context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Score boosting for current-page documentation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Page hint block in system prompt (first 1200 chars)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General finance knowledge when MIP docs don't cover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971800"/>
            <a:ext cx="73152" cy="2926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138160" y="2971800"/>
            <a:ext cx="342900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Quality &amp; Trust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Provenance badges: DOC, GLOSSARY, INFERENCE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Confidence scoring (docs 50%, glossary 35%)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"Did you mean" suggestions when unsure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Unknown terms logged for glossary review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Telemetry: every query tracked for coverage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Never invents live values or thresholds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1F2937"/>
                </a:solidFill>
              </a:defRPr>
            </a:pPr>
            <a:r>
              <a:rPr dirty="0"/>
              <a:t>90-second timeout, last 10 messages as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971800"/>
            <a:ext cx="73152" cy="2926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5989320"/>
            <a:ext cx="2103120" cy="310896"/>
          </a:xfrm>
          <a:prstGeom prst="round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CLAUDE 3.5 SONNET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989320"/>
            <a:ext cx="22860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24 GUIDE FILES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2080" y="5989320"/>
            <a:ext cx="2103120" cy="310896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GLOSSARY TABLE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5989320"/>
            <a:ext cx="2011680" cy="310896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TELEMETRY 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5989320"/>
            <a:ext cx="201168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FALLBACK 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🧭  Like a knowledgeable colleague sitting next to you: they know the platform, see your screen, and answer questions grounded in facts — not guesses.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  <p:extLst>
      <p:ext uri="{BB962C8B-B14F-4D97-AF65-F5344CB8AC3E}">
        <p14:creationId xmlns:p14="http://schemas.microsoft.com/office/powerpoint/2010/main" val="1307380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Training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Evidence quality is measured before any trade is considered — maturity gates keep the system honest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0-100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Maturity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H1-H20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5 Horizons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86%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Coverage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965960"/>
            <a:ext cx="2926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00796B"/>
                </a:solidFill>
              </a:defRPr>
            </a:pPr>
            <a:r>
              <a:t>PER SYMBOL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Granularity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210312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INSUFFICIENT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383280"/>
            <a:ext cx="21031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WARMING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383280"/>
            <a:ext cx="210312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LEARNING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383280"/>
            <a:ext cx="210312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CONFIDENT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4864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How Training Works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Each symbol + pattern combination is independently trained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Maturity = sample size + coverage + horizon depth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labels gate whether the system can propose trades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LOW_EVIDENCE symbols are quarantined from execution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The system learns continuously — maturity rises over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73152" cy="20116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63640" y="393192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What You See in the UI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Symbol grid with maturity scores and trust labels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Horizon returns: Avg H1, H3, H5, H10, H20 per pattern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Coverage % — how much of the symbol's history is trained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Sample size — number of observations backing the score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summary translates stats into plain-language guidance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31920"/>
            <a:ext cx="73152" cy="20116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🎓  Like a medical residency: doctors don't operate until they've logged enough supervised hours. MIP's patterns don't trade until trained.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Horizons: Looking Into the 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After a signal fires, MIP checks what happened next — at 5 different time distances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3069F0"/>
                </a:solidFill>
              </a:defRPr>
            </a:pPr>
            <a:r>
              <a:rPr dirty="0"/>
              <a:t>H1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1 Day Ahead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00796B"/>
                </a:solidFill>
              </a:defRPr>
            </a:pPr>
            <a:r>
              <a:rPr dirty="0"/>
              <a:t>H3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3 Days Ahead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2E7D32"/>
                </a:solidFill>
              </a:defRPr>
            </a:pPr>
            <a:r>
              <a:rPr dirty="0"/>
              <a:t>H5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5 Days Ahead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1965960"/>
            <a:ext cx="20116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6A1B9A"/>
                </a:solidFill>
              </a:defRPr>
            </a:pPr>
            <a:r>
              <a:rPr dirty="0"/>
              <a:t>H10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10 Days Ahead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965960"/>
            <a:ext cx="22860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3949AB"/>
                </a:solidFill>
              </a:defRPr>
            </a:pPr>
            <a:r>
              <a:rPr dirty="0"/>
              <a:t>H20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20 Days Ahead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91840"/>
            <a:ext cx="5394960" cy="73152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Realized Return = (Future Price − Signal Price) / Signal Price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If price was $100 at signal and $103 after 5 days: H5 return = +3.0%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51960"/>
            <a:ext cx="539496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HIT, MISS, or NEUTRAL?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HIT:  return ≥ +0.2%  (the signal was right — price went up)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MISS:  return ≤ -0.2%  (the signal was wrong — price dropped)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NEUTRAL:  in between  (inconclusive — nothing happened)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These labels are counted to build the HIT RATE per pattern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51960"/>
            <a:ext cx="73152" cy="1737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291840"/>
            <a:ext cx="539496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Why 5 Horizons?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 pattern might work over 1 day but fail over 20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Or it might be meaningless short-term but powerful long-term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By measuring at 5 distances, MIP finds the sweet spot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Training builds a profile: "Pattern X works best at H5 for EUR/USD"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The system doesn't guess — it measures and remembers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Intraday uses different horizons: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  H1 = 1 bar (15 min), H4 = 1 hour, H8 = 2 hours, EOD = end of day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73152" cy="26974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🌡️  Like a weather forecast: predicting tomorrow is different from predicting next week. MIP measures accuracy at each distance to know which forecasts to trust.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Training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MIP measures whether a pattern has earned enough evidence to be trusted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8813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Maturity Score = Sample Score (max 30) + Coverage Score (max 40) + Horizon Score (max 30)  =  0 to 100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Each component is measured independently and capped. A pattern must excel in all three to reach CONFIDENT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34747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3069F0"/>
                </a:solidFill>
              </a:defRPr>
            </a:pPr>
            <a:r>
              <a:t>30 pts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t>Sample Size</a:t>
            </a:r>
            <a:br/>
            <a:r>
              <a:t>Do we have enough signals?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2926080"/>
            <a:ext cx="34747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2E7D32"/>
                </a:solidFill>
              </a:defRPr>
            </a:pPr>
            <a:r>
              <a:t>40 pts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t>Coverage</a:t>
            </a:r>
            <a:br/>
            <a:r>
              <a:t>What % of outcomes evaluated?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946628"/>
            <a:ext cx="3749039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6A1B9A"/>
                </a:solidFill>
              </a:defRPr>
            </a:pPr>
            <a:r>
              <a:t>30 pts</a:t>
            </a:r>
          </a:p>
          <a:p>
            <a:pPr algn="ctr">
              <a:spcBef>
                <a:spcPts val="200"/>
              </a:spcBef>
              <a:defRPr sz="1000">
                <a:solidFill>
                  <a:srgbClr val="5F6B7A"/>
                </a:solidFill>
              </a:defRPr>
            </a:pPr>
            <a:r>
              <a:t>Horizon Depth</a:t>
            </a:r>
            <a:br/>
            <a:r>
              <a:t>How many of 5 horizons tested?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28600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&lt; 25 INSUFFICIENT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572000"/>
            <a:ext cx="228600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25-49 WARMING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4572000"/>
            <a:ext cx="22860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50-74 LEARNING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572000"/>
            <a:ext cx="22860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≥ 75 CONFIDENT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120640"/>
            <a:ext cx="108813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What This Means in Practice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 pattern with 10 signals, 50% coverage, and 2 horizons tested would score about 35 — WARMING UP. Not allowed to trade yet.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 pattern with 40+ signals, 90% coverage, and all 5 horizons would score 90+ — CONFIDENT. Ready for proposals.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73152" cy="8229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🎓  Like a student's transcript: sample size is how many exams taken, coverage is how many subjects, horizons is depth of knowledge. All three matter for graduation.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Trust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Maturity alone isn't enough — the pattern must also prove it actually makes money recently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4864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Pattern-Level Trust (Global)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≥ 30 evaluated outcomes AND ≥ 80% coverage rate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Average return &gt; 0 (historically profitable)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Recent 90 days: ≥ 10 signals, ≥ 50% hit rate, positive avg return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Only patterns meeting ALL criteria earn TRUSTED 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40" y="19202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Symbol-Level Trust (Local)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≥ 8 recent signals for this specific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Recent hit rate ≥ 50% for this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Recent average return ≥ 0% for this symbol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Even a globally trusted pattern fails if it doesn't work for THIS symbol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20240"/>
            <a:ext cx="73152" cy="1828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3977639"/>
            <a:ext cx="18288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TRUSTED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977639"/>
            <a:ext cx="155448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3977639"/>
            <a:ext cx="201168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UNTRUSTED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77639"/>
            <a:ext cx="2286000" cy="310896"/>
          </a:xfrm>
          <a:prstGeom prst="round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LOW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What Happens If Trust Fails?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If a pattern is not TRUSTED: no proposals are generated for it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If a symbol's local trust is not TRUSTED: BUY proposals are blocked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The system keeps learning — trust can be earned over time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can also be LOST if recent performance deteriorates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73152" cy="14173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72200" y="452628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Why Two Layers of Trust?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Global trust: "This pattern works in general across many symbols"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Local trust: "This pattern works specifically for EUR/USD"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 pattern could work for stocks but not for FX pairs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Double-checking prevents false confidence from aggregation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526280"/>
            <a:ext cx="73152" cy="1417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🏦  Like a bank loan: your overall credit score matters (global), but so does your history with THIS specific bank (local). Both must pass.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Committee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Every trade proposal must survive a gauntlet of 5 independent checks before it can execute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t>  1. Trust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Is the pattern trusted for this symbol?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BUY blocked if symbol trust ≠ TRUSTED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24160" y="2103120"/>
            <a:ext cx="914400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61488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C62828"/>
                </a:solidFill>
              </a:defRPr>
            </a:pPr>
            <a:r>
              <a:t>  2. Risk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Is the portfolio in drawdown-stop mode?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Blocked if drawdown ≥ stop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61488"/>
            <a:ext cx="73152" cy="7498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24160" y="2944368"/>
            <a:ext cx="914400" cy="347472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02736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925F00"/>
                </a:solidFill>
              </a:defRPr>
            </a:pPr>
            <a:r>
              <a:t>  3. Capacity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Are there slots available?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Blocked if positions ≥ max allowed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02736"/>
            <a:ext cx="73152" cy="749808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24160" y="3785615"/>
            <a:ext cx="914400" cy="347472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43984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  4. Freshness Gate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Is market data fresh?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Blocked if daily bars are stale (&gt;30 hrs old)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43984"/>
            <a:ext cx="73152" cy="749808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24160" y="4626864"/>
            <a:ext cx="914400" cy="347472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85232"/>
            <a:ext cx="108813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6A1B9A"/>
                </a:solidFill>
              </a:defRPr>
            </a:pPr>
            <a:r>
              <a:t>  5. AI Committee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Does the AI agree?</a:t>
            </a:r>
          </a:p>
          <a:p>
            <a:pPr>
              <a:spcBef>
                <a:spcPts val="100"/>
              </a:spcBef>
              <a:defRPr sz="1100">
                <a:solidFill>
                  <a:srgbClr val="1F2937"/>
                </a:solidFill>
              </a:defRPr>
            </a:pPr>
            <a:r>
              <a:t>      Claude reviews and can block the trade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85232"/>
            <a:ext cx="73152" cy="74980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424160" y="5468112"/>
            <a:ext cx="914400" cy="347472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🚧  Like airport security: ID check (trust), bag scan (risk), seat availability (capacity), boarding pass time (freshness), and a final officer review (AI).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Position Sizing &amp;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MIP decides HOW MUCH to buy, and what the real cost of a trade looks like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Target Value = Cash × Max Position %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Example: $100,000 cash × 5% = $5,000 per position. Never bet more than 5% on one trade.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Quantity = Target Value / Entry Price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Example: $5,000 / $150 per share = 33 shares. Rounded to whole shares.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Entry Price Adjustment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You don't get the exact close price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Slippage: market moves while order fills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Spread: difference between bid and ask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Buy Price = Close × (1 + slippage + spread/2)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Sell Price = Close × (1 − slippage − spread/2)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73152" cy="18288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34840" y="292608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Trading Fees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Fee = max(Minimum Fee, Notional × Fee Rate)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Example: max($1, $5,000 × 0.001) = $5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Fees are subtracted from P&amp;L on both entry and exit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Total cost: buy fee + sell fee + slippage + spread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926080"/>
            <a:ext cx="73152" cy="182880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9600" y="2926080"/>
            <a:ext cx="3337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Committee Can Scale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AI committee can reduce size via SIZE_FACTOR (0–1)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If SIZE_FACTOR = 0.5: position halved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Lower conviction = smaller bet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Committee can also block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926080"/>
            <a:ext cx="73152" cy="1828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4983480"/>
            <a:ext cx="108813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Market Type Quota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MIP splits available slots: 60% for stocks, 40% for FX. This prevents over-concentration in one asset class.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If there are 10 open slots: up to 6 go to stocks, up to 4 go to FX. Unused slots backfill from the other pool.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73152" cy="9601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🎰  Like a poker player who never puts more than 5% of their chips on one hand — and adjusts the bet based on how confident they are in their cards.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NEWS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News Intelligence: The Math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MIP converts raw headlines into a quantified, bounded influence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Z-Score = (Today's News Count − 7-Day Average) / 7-Day StdDev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Measures how unusual today's news volume is compared to the recent norm. Z ≥ 1.5 = HOT.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94960" cy="77724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Novelty Score = 1 − (Duplicate Count / Total Count)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How much of today's news is genuinely new vs. recycled. High novelty = more attention-worthy.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657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Burst Detection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Track 7-day rolling average and std deviation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Today's count significantly above average = burst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Z ≥ 1.5 → HOT badge (unusual activity)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Z &lt; 1.5 → NORMAL badge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No news at all → NONE badge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73152" cy="1920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34840" y="2926080"/>
            <a:ext cx="3657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Uncertainty Detection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Scans headlines for both bullish AND bearish keywords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If BOTH directions appear: UNCERTAINTY = true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Mixed signals mean the market is confused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Uncertainty flag adds caution to proposals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926080"/>
            <a:ext cx="73152" cy="192024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9600" y="2926080"/>
            <a:ext cx="33375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Bounded Influence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News score adjustment capped at ±20%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Currently diagnostic only — committee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sees the data but ranking is unchanged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No trade is ever placed purely on news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926080"/>
            <a:ext cx="73152" cy="19202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5074920"/>
            <a:ext cx="108813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The Key Principle: News Informs, Never Overrides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News can make the committee more cautious or more confident, but it cannot bypass trust gates, risk gates, or capacity limits.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The influence is mathematically bounded (±20% cap) to prevent a single headline from distorting the entire system.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74920"/>
            <a:ext cx="73152" cy="8686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📰  Like a judge reading the morning paper: it may inform their thinking, but the verdict is based on evidence presented in court — not on headlines.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COUNTERFACTUAL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Parallel Worlds: The What-If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MIP asks: 'What would have happened if we'd used a different strategy?' — and calculates the answer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💵  BASELINE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did nothing and stayed in cash?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2344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92024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📏  SIZING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each position was 2× or 0.5× the size?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920240"/>
            <a:ext cx="73152" cy="12344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321040" y="192024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⏱️  TIMING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waited 1–5 bars before entering?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920240"/>
            <a:ext cx="73152" cy="12344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33756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🔍  THRESHOLD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used stricter/looser signal filters?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73152" cy="12344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0560" y="333756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📅  HORIZON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  What if we held positions longer or shorter?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337560"/>
            <a:ext cx="73152" cy="12344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21040" y="3337560"/>
            <a:ext cx="3657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🏃  EARLY EXIT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rPr dirty="0"/>
              <a:t>  What if we took profits earlier at a multiplier?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337560"/>
            <a:ext cx="73152" cy="12344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4937760"/>
            <a:ext cx="5394960" cy="640080"/>
          </a:xfrm>
          <a:prstGeom prst="roundRect">
            <a:avLst/>
          </a:prstGeom>
          <a:solidFill>
            <a:srgbClr val="F0F3FF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Regret = Best Alternative Return − Actual Return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If cash returned +2% and you returned +5%, regret = −3% (no regret!)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937760"/>
            <a:ext cx="58064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Policy Health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rPr dirty="0"/>
              <a:t>  If actual outperforms all alternatives → HEALTHY.  If one alternative consistently wins → investigate.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937760"/>
            <a:ext cx="73152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🌍  Like testing alternate routes on Google Maps AFTER your trip: 'Would the highway have been faster?' MIP answers this for every trading day.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Daily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Every weekday at 5 PM ET, MIP runs a 10-step automated pipeline — here's what happens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16" y="1920240"/>
            <a:ext cx="4846323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Ingest Market Data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Pull latest OHLCV bars from </a:t>
            </a:r>
            <a:r>
              <a:rPr dirty="0" err="1"/>
              <a:t>AlphaVantage</a:t>
            </a:r>
            <a:r>
              <a:rPr dirty="0"/>
              <a:t> / IBKR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6858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057400"/>
            <a:ext cx="411480" cy="411480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920240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Generate Signals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Run pattern detection on fresh bars → fire new signals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920240"/>
            <a:ext cx="73152" cy="6858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29400" y="2057400"/>
            <a:ext cx="411480" cy="411480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18" y="2724912"/>
            <a:ext cx="4846322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Evaluate Outcomes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Check if yesterday's signals hit, missed, or were 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24912"/>
            <a:ext cx="73152" cy="685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59" y="2862072"/>
            <a:ext cx="411480" cy="41148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724912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Run </a:t>
            </a:r>
            <a:r>
              <a:rPr dirty="0" err="1"/>
              <a:t>Backtests</a:t>
            </a:r>
            <a:endParaRPr dirty="0"/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Update hit rates, avg returns, and pattern scores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724912"/>
            <a:ext cx="73152" cy="685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29400" y="2862072"/>
            <a:ext cx="411480" cy="41148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17318" y="3529584"/>
            <a:ext cx="4846322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Train Patterns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Recalculate maturity, trust labels, activate/deactivate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29584"/>
            <a:ext cx="73152" cy="685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2959" y="3666744"/>
            <a:ext cx="411480" cy="41148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3529584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>
                <a:solidFill>
                  <a:schemeClr val="bg2">
                    <a:lumMod val="75000"/>
                  </a:schemeClr>
                </a:solidFill>
              </a:rPr>
              <a:t>       Run Simulation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>
                <a:solidFill>
                  <a:schemeClr val="bg2">
                    <a:lumMod val="75000"/>
                  </a:schemeClr>
                </a:solidFill>
              </a:rPr>
              <a:t>          Simulate portfolio: open/close positions, track equity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3529584"/>
            <a:ext cx="73152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629400" y="3666744"/>
            <a:ext cx="411480" cy="4114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18" y="4334256"/>
            <a:ext cx="4846322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Propose Trades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Select best trusted signals → create proposals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34256"/>
            <a:ext cx="73152" cy="685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22959" y="4471416"/>
            <a:ext cx="411480" cy="41148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334256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Validate &amp; Execute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Run through all gates + committee → execute approved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4334256"/>
            <a:ext cx="73152" cy="685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629400" y="4471416"/>
            <a:ext cx="411480" cy="41148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7316" y="5138928"/>
            <a:ext cx="4846324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t>       Generate Briefs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t>          AI creates daily digest + training narratives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138928"/>
            <a:ext cx="73152" cy="6858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22959" y="5276088"/>
            <a:ext cx="411480" cy="411480"/>
          </a:xfrm>
          <a:prstGeom prst="ellipse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138928"/>
            <a:ext cx="48463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334155"/>
                </a:solidFill>
              </a:defRPr>
            </a:pPr>
            <a:r>
              <a:rPr dirty="0"/>
              <a:t>       Parallel Worlds</a:t>
            </a:r>
          </a:p>
          <a:p>
            <a:pPr>
              <a:spcBef>
                <a:spcPts val="100"/>
              </a:spcBef>
              <a:defRPr sz="1000">
                <a:solidFill>
                  <a:srgbClr val="5F6B7A"/>
                </a:solidFill>
              </a:defRPr>
            </a:pPr>
            <a:r>
              <a:rPr dirty="0"/>
              <a:t>          Run counterfactual scenarios + regret analysis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5138928"/>
            <a:ext cx="73152" cy="6858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629400" y="5276088"/>
            <a:ext cx="411480" cy="411480"/>
          </a:xfrm>
          <a:prstGeom prst="ellipse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🏭  Like a factory assembly line that runs every evening: raw materials in, quality checks at every station, finished product out. Every step is logged.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Live Portfolio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control plane — binding MIP's intelligence engine to real broker execution via Interactive Brokers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Source Portfolio</a:t>
            </a:r>
          </a:p>
        </p:txBody>
      </p:sp>
      <p:sp>
        <p:nvSpPr>
          <p:cNvPr id="8" name="Chevron 7"/>
          <p:cNvSpPr/>
          <p:nvPr/>
        </p:nvSpPr>
        <p:spPr>
          <a:xfrm>
            <a:off x="404164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MIP Live Config</a:t>
            </a:r>
          </a:p>
        </p:txBody>
      </p:sp>
      <p:sp>
        <p:nvSpPr>
          <p:cNvPr id="10" name="Chevron 9"/>
          <p:cNvSpPr/>
          <p:nvPr/>
        </p:nvSpPr>
        <p:spPr>
          <a:xfrm>
            <a:off x="7516367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IBKR 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926080"/>
            <a:ext cx="182880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Activation Guard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926080"/>
            <a:ext cx="210312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Execution Readiness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Configuration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Adapter mode: PAPER or LIVE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Max positions and exposure limits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Cash buffer percentage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Quote freshness thresholds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Cooldown bars between trades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74720"/>
            <a:ext cx="73152" cy="24688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434840" y="34747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Risk Brakes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Drawdown stop threshold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Bust percentage limit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Validity window enforcement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Snapshot freshness gates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Position-level safeguards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3474720"/>
            <a:ext cx="73152" cy="2468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0" y="3474720"/>
            <a:ext cx="33375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Governance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Save writes config — no orders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Execution requires validation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Committee must approve first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Full audit of every state change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Human override at every step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474720"/>
            <a:ext cx="73152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🏛️  Like air traffic control: MIP clears each flight (trade) only when conditions, fuel (capital), and weather (market) all pass safety checks.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The Live Bridge to IBKR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How an approved trade travels from MIP's brain to Interactive Brokers' execution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Validated</a:t>
            </a:r>
          </a:p>
        </p:txBody>
      </p:sp>
      <p:sp>
        <p:nvSpPr>
          <p:cNvPr id="8" name="Chevron 7"/>
          <p:cNvSpPr/>
          <p:nvPr/>
        </p:nvSpPr>
        <p:spPr>
          <a:xfrm>
            <a:off x="202996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24028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Committee</a:t>
            </a:r>
          </a:p>
        </p:txBody>
      </p:sp>
      <p:sp>
        <p:nvSpPr>
          <p:cNvPr id="10" name="Chevron 9"/>
          <p:cNvSpPr/>
          <p:nvPr/>
        </p:nvSpPr>
        <p:spPr>
          <a:xfrm>
            <a:off x="395020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6052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PM Accept</a:t>
            </a:r>
          </a:p>
        </p:txBody>
      </p:sp>
      <p:sp>
        <p:nvSpPr>
          <p:cNvPr id="12" name="Chevron 11"/>
          <p:cNvSpPr/>
          <p:nvPr/>
        </p:nvSpPr>
        <p:spPr>
          <a:xfrm>
            <a:off x="587044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8076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Compliance</a:t>
            </a:r>
          </a:p>
        </p:txBody>
      </p:sp>
      <p:sp>
        <p:nvSpPr>
          <p:cNvPr id="14" name="Chevron 13"/>
          <p:cNvSpPr/>
          <p:nvPr/>
        </p:nvSpPr>
        <p:spPr>
          <a:xfrm>
            <a:off x="779068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0100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Revalidate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971092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921240" y="1920240"/>
            <a:ext cx="16916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017520"/>
            <a:ext cx="36576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Pre-Flight Checks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Price guard: current price vs. signal price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Exposure check: would this exceed limits?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Market open: is the exchange actually trading?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Symbol halt: is this stock suspended?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17520"/>
            <a:ext cx="73152" cy="15544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434840" y="3017520"/>
            <a:ext cx="36576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Revalidation (just before execution)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Fresh 1-minute bar required (not stale)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Price deviation check: has price moved too far?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Exposure recalculated with current NAV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Must pass ALL checks again — market moves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017520"/>
            <a:ext cx="73152" cy="155448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600" y="3017520"/>
            <a:ext cx="33375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Order Structure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Parent: Market or Limit order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Child 1: Take-profit (limit order)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Child 2: Stop-loss (stop order)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Bracket order: all three linked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017520"/>
            <a:ext cx="73152" cy="1554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800600"/>
            <a:ext cx="53949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Broker Snapshot Sync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MIP pulls from IBKR: NAV, cash, positions, open orders, executions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Written to BROKER_SNAPSHOTS table every sync cycle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Drift detection: does MIP's view match the broker's reality?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800600"/>
            <a:ext cx="73152" cy="1143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72200" y="4800600"/>
            <a:ext cx="53949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Risk Brakes (Live)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Drawdown stop: if portfolio drops ≥ threshold from peak → block entries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Remains blocked until all positions are flat (closed)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Only then can the system resume trading — automatic cooldown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4800600"/>
            <a:ext cx="73152" cy="1143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🚀  Like a rocket launch: pre-flight checks, countdown hold points, a final 'go' from mission control, and real-time telemetry monitoring once airborne.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Behind the Scenes  |  How the engine actually works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AI Agent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committee courtroom — every trade proposal faces a structured verdict with reason codes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APPROVED Example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Verdict:  APPROVE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Confidence:  HIGH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gate:  PASSED — maturity 82, coverage 91%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Risk gate:  PASSED — within position limits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Freshness:  PASSED — quote age 3 min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Committee summary generated for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73152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REJECTED Example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Verdict:  REJECT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Confidence:  MEDIUM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gate:  FAILED — maturity only 34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Capacity gate:  BLOCKED — max positions reached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Stale quote risk flagged (15 min age)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Reason codes preserved for learning ledger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965960"/>
            <a:ext cx="73152" cy="2103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4360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PROPOSED</a:t>
            </a:r>
          </a:p>
        </p:txBody>
      </p:sp>
      <p:sp>
        <p:nvSpPr>
          <p:cNvPr id="12" name="Chevron 11"/>
          <p:cNvSpPr/>
          <p:nvPr/>
        </p:nvSpPr>
        <p:spPr>
          <a:xfrm>
            <a:off x="2578608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52927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TRUST GATE</a:t>
            </a:r>
          </a:p>
        </p:txBody>
      </p:sp>
      <p:sp>
        <p:nvSpPr>
          <p:cNvPr id="14" name="Chevron 13"/>
          <p:cNvSpPr/>
          <p:nvPr/>
        </p:nvSpPr>
        <p:spPr>
          <a:xfrm>
            <a:off x="4837175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11496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RISK GATE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7095744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70063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COMMITTEE</a:t>
            </a:r>
          </a:p>
        </p:txBody>
      </p:sp>
      <p:sp>
        <p:nvSpPr>
          <p:cNvPr id="18" name="Chevron 17"/>
          <p:cNvSpPr/>
          <p:nvPr/>
        </p:nvSpPr>
        <p:spPr>
          <a:xfrm>
            <a:off x="9354311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28632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VERDICT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8813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Deterministic Accountability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  Reason codes are structured and queryable — not free-text opinions. Every APPROVE and REJECT is reproducible and auditable.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49240"/>
            <a:ext cx="73152" cy="640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⚖️  Like a courtroom trial: evidence is presented, gates are checked, and a structured verdict is rendered — with a full transcript for appeal.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Learning 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institutional memory — every decision, its context, and what happened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Proposal</a:t>
            </a:r>
          </a:p>
        </p:txBody>
      </p:sp>
      <p:sp>
        <p:nvSpPr>
          <p:cNvPr id="8" name="Chevron 7"/>
          <p:cNvSpPr/>
          <p:nvPr/>
        </p:nvSpPr>
        <p:spPr>
          <a:xfrm>
            <a:off x="257860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52927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Decision</a:t>
            </a:r>
          </a:p>
        </p:txBody>
      </p:sp>
      <p:sp>
        <p:nvSpPr>
          <p:cNvPr id="10" name="Chevron 9"/>
          <p:cNvSpPr/>
          <p:nvPr/>
        </p:nvSpPr>
        <p:spPr>
          <a:xfrm>
            <a:off x="4837175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7095744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70063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Outcome</a:t>
            </a:r>
          </a:p>
        </p:txBody>
      </p:sp>
      <p:sp>
        <p:nvSpPr>
          <p:cNvPr id="14" name="Chevron 13"/>
          <p:cNvSpPr/>
          <p:nvPr/>
        </p:nvSpPr>
        <p:spPr>
          <a:xfrm>
            <a:off x="9354311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628632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Lesson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36576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Event Types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TRAINING_EVENT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Maturity changes, trust label shifts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Committee verdicts, reason codes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LIVE_EVENT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Execution fills, P&amp;L outcomes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63240"/>
            <a:ext cx="73152" cy="28346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434840" y="3063240"/>
            <a:ext cx="356616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Causality Chain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Before State  vs  After State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Influence delta tracking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Causality links between events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Outcome state for closed-loop review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News context influence measured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63240"/>
            <a:ext cx="73152" cy="28346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38160" y="3063240"/>
            <a:ext cx="34290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Team Use Cases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Post-trade retrospectives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Weekly performance reviews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Policy tuning decisions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Rejection pattern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Stakeholder explainability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063240"/>
            <a:ext cx="73152" cy="2834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📚  Like a pilot's flight log: every takeoff, turbulence, and landing is recorded — so the next flight benefits from every past experience.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Performance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Portfolio-level truth — return, risk, consistency, and the story behind the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+12.4%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Total Return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C62828"/>
                </a:solidFill>
              </a:defRPr>
            </a:pPr>
            <a:r>
              <a:t>-4.1%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Max Drawdown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1.82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Sharpe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67%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Win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Core Metrics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Total equity and return 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Max drawdown and recovery time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Sharpe ratio for risk-adjusted returns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Win rate and expectancy per trade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Monthly cost trend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73152" cy="2560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34840" y="338328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Visual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Equity curve with drawdown bands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 quality trend (expectancy over time)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Selectivity trend — how filters evolve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 funnel: signals &gt; proposals &gt; trades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Parallel Worlds counterfactual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383280"/>
            <a:ext cx="73152" cy="256032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0" y="3383280"/>
            <a:ext cx="33375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Drill-Down Paths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Period filters for focused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Compare return vs drawdown across portfolios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Trace root cause in Training + Decisions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Target realism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Cost attribution breakdown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383280"/>
            <a:ext cx="73152" cy="2560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📊  Like a financial annual report — but updated daily, with drill-through to every decision that shaped the bottom 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Pipeline Runs &amp; Audit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Operational truth — what ran, when, how long, and what went wrong (if anything)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3716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965960"/>
            <a:ext cx="21031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SUCCESS + SKIPS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965960"/>
            <a:ext cx="118872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FAILED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965960"/>
            <a:ext cx="13716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5486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Daily Pipeline Sequence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Ingest market data → Generate signals → Evaluate patterns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Run portfolio simulation → Propose trades → Execute approved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Generate briefs + digest → Run parallel worlds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Scheduled: 5 PM ET, Monday through Friday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73152" cy="19202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Run Detail Panel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Summary cards: status, duration, as-of date, portfolio count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Step-by-step timeline with individual durations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Error panel: SQLSTATE, query IDs, error messages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AI-generated run summary accelerates triage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514600"/>
            <a:ext cx="73152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4663440"/>
            <a:ext cx="108813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t>Audit Log Architecture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MIP_AUDIT_LOG captures every event: stored procedure name, status, duration, error details, and portfolio context.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Immutable audit trail — entries are append-only. Failed runs preserve full diagnostics for root cause analysis.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summary explains what happened in plain language — but step-level detail is always available for verification.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73152" cy="12801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✈️  Like an aircraft's black box recorder: every system event is logged, so investigations start with facts, not guesses.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Purpose-built on modern, production-grade technologies — Snowflake-native with thin presentation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Database &amp; AI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Snowflake  —  Data warehouse, compute, and orchestration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Snowflake Cortex  —  Native LLM inference (Claude, Mistral)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Stored Procedures  —  60+ business logic procedures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Scheduled Tasks  —  Daily, hourly, and intraday pipelines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External Access  —  Network rules for market data APIs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402336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Backend API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Python 3.12  —  Runtime for API and scripts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 err="1"/>
              <a:t>FastAPI</a:t>
            </a:r>
            <a:r>
              <a:rPr dirty="0"/>
              <a:t>  —  High-performance async REST framework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 err="1"/>
              <a:t>Uvicorn</a:t>
            </a:r>
            <a:r>
              <a:rPr dirty="0"/>
              <a:t>  —  ASGI server for production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snowflake-connector-python  —  Native DB driver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 err="1"/>
              <a:t>ib-insync</a:t>
            </a:r>
            <a:r>
              <a:rPr dirty="0"/>
              <a:t>  —  Interactive Brokers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920240"/>
            <a:ext cx="73152" cy="40233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Frontend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React 18  —  Component-based UI framework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Vite 5  —  Lightning-fast build and dev server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Plotly.js + Recharts  —  Interactive financial charts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React Router 6  —  Client-side navigation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react-markdown  —  AI narrative rendering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73152" cy="4023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00684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334155"/>
                </a:solidFill>
              </a:defRPr>
            </a:pPr>
            <a:r>
              <a:rPr dirty="0"/>
              <a:t>Integrations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Interactive Brokers  —  Live + paper trading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 err="1"/>
              <a:t>AlphaVantage</a:t>
            </a:r>
            <a:r>
              <a:rPr dirty="0"/>
              <a:t>  —  Historical OHLCV market data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RSS Feeds  —  SEC, Fed, ECB, MarketWatch, IBKR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GitHub Actions  —  CI/CD pipeline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rPr dirty="0"/>
              <a:t>Cursor (Claude)  —  AI-assisted development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920240"/>
            <a:ext cx="73152" cy="402336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🧱  Like a well-designed building: Snowflake is the foundation, Python is the plumbing, React is the facade, and IBKR is the power grid.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Platform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Four-layer Snowflake-native architecture — data, logic, and pipelines live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7737004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PRESENTATION LAYER    React 18 + Vite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15 feature pages  |  Plotly.js charts  |  Real-time updates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Responsive layout  |  Dark/light theming  |  AI narrative rendering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9144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7737004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API LAYER    FastAPI + Python 3.12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25+ REST routers  |  Snowflake connector  |  CORS middleware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IBKR bridge scripts  |  Keypair auth  |  JSON responses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91440" cy="9601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4069080"/>
            <a:ext cx="7737004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LOGIC LAYER    Snowflake Stored Procedures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60+ procedures: ingest, signals, training, simulation, proposals, execution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Cortex AI: committee verdicts, digests, narratives  |  Parallel worlds engine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91440" cy="96012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5166360"/>
            <a:ext cx="7737004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DATA LAYER    Snowflake Tables + Views + Tasks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APP schema: 40+ tables  |  MART schema: analytical views  |  AGENT_OUT: AI output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Scheduled tasks: daily 5PM, intraday 15-min, hourly monitors  |  Audit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166360"/>
            <a:ext cx="91440" cy="9601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own Arrow 14"/>
          <p:cNvSpPr/>
          <p:nvPr/>
        </p:nvSpPr>
        <p:spPr>
          <a:xfrm>
            <a:off x="4190504" y="285292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own Arrow 15"/>
          <p:cNvSpPr/>
          <p:nvPr/>
        </p:nvSpPr>
        <p:spPr>
          <a:xfrm>
            <a:off x="4190504" y="395020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4190504" y="504748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888361" y="1882286"/>
            <a:ext cx="3113876" cy="4289914"/>
          </a:xfrm>
          <a:prstGeom prst="roundRect">
            <a:avLst/>
          </a:prstGeom>
          <a:solidFill>
            <a:srgbClr val="141C30"/>
          </a:solidFill>
          <a:ln>
            <a:solidFill>
              <a:srgbClr val="92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rPr dirty="0"/>
              <a:t>EXTERNAL SYSTEMS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Interactive Brokers (IBKR)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  Paper + Live trading accounts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  Order placement + snapshots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</a:t>
            </a:r>
            <a:r>
              <a:rPr dirty="0" err="1"/>
              <a:t>AlphaVantage</a:t>
            </a:r>
            <a:endParaRPr dirty="0"/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  Historical OHLCV bars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RSS News Feeds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  SEC, Fed, ECB, MarketWatch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Snowflake-native architecture  |  All logic lives in the warehouse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AI Architecture — Snowflake Cortex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8 AI touchpoints across the platform — every call has a deterministic fallback, every output is auditable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46903" y="1837945"/>
            <a:ext cx="2267712" cy="2980943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❄️  SNOWFLAKE CORTEX</a:t>
            </a:r>
          </a:p>
          <a:p>
            <a:pPr algn="ctr">
              <a:spcBef>
                <a:spcPts val="200"/>
              </a:spcBef>
              <a:defRPr sz="1100">
                <a:solidFill>
                  <a:srgbClr val="C8DCFF"/>
                </a:solidFill>
              </a:defRPr>
            </a:pPr>
            <a:r>
              <a:t>LLM inference layer</a:t>
            </a:r>
          </a:p>
          <a:p>
            <a:pPr algn="ctr">
              <a:spcBef>
                <a:spcPts val="200"/>
              </a:spcBef>
              <a:defRPr sz="900">
                <a:solidFill>
                  <a:srgbClr val="AAC3F0"/>
                </a:solidFill>
              </a:defRPr>
            </a:pPr>
            <a:r>
              <a:t>Claude 3.5 Sonnet  |  Mistral Large 2  |  Llama 3.1 70B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3069F0"/>
                </a:solidFill>
              </a:defRPr>
            </a:pPr>
            <a:r>
              <a:t>  Daily Digest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Portfolio + global narrative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73152" cy="658368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4443983" y="2066543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2596896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00796B"/>
                </a:solidFill>
              </a:defRPr>
            </a:pPr>
            <a:r>
              <a:t>  Training Digest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Maturity journey per symbol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96896"/>
            <a:ext cx="73152" cy="6583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4443983" y="2834639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3364991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t>  Committee Verdict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Per-proposal trade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64991"/>
            <a:ext cx="7315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ight Arrow 15"/>
          <p:cNvSpPr/>
          <p:nvPr/>
        </p:nvSpPr>
        <p:spPr>
          <a:xfrm>
            <a:off x="4443983" y="3602736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" y="4133087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6A1B9A"/>
                </a:solidFill>
              </a:defRPr>
            </a:pPr>
            <a:r>
              <a:t>  Parallel Worlds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Counterfactual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73152" cy="65836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4443983" y="4370832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772400" y="1828800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C62828"/>
                </a:solidFill>
              </a:defRPr>
            </a:pPr>
            <a:r>
              <a:t>  News Extraction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llama-3.1-70b  •  Structured event parsing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31168" y="1828800"/>
            <a:ext cx="73152" cy="6583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ight Arrow 21"/>
          <p:cNvSpPr/>
          <p:nvPr/>
        </p:nvSpPr>
        <p:spPr>
          <a:xfrm rot="10800000">
            <a:off x="7214616" y="2066543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400" y="2596896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  Portfolio Lifecycle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Creation-to-today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31168" y="2596896"/>
            <a:ext cx="73152" cy="658368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ight Arrow 24"/>
          <p:cNvSpPr/>
          <p:nvPr/>
        </p:nvSpPr>
        <p:spPr>
          <a:xfrm rot="10800000">
            <a:off x="7214616" y="2834639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772400" y="3364991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3949AB"/>
                </a:solidFill>
              </a:defRPr>
            </a:pPr>
            <a:r>
              <a:t>  Ask MIP (v2)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Route-aware user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31168" y="3364991"/>
            <a:ext cx="73152" cy="658368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ight Arrow 27"/>
          <p:cNvSpPr/>
          <p:nvPr/>
        </p:nvSpPr>
        <p:spPr>
          <a:xfrm rot="10800000">
            <a:off x="7214616" y="3602736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772400" y="4133087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718096"/>
                </a:solidFill>
              </a:defRPr>
            </a:pPr>
            <a:r>
              <a:t>  Ask MIP (v1)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Guide-grounded Q&amp;A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4133087"/>
            <a:ext cx="73152" cy="658368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 rot="10800000">
            <a:off x="7214616" y="4370832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783398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291AA"/>
                </a:solidFill>
              </a:defRPr>
            </a:pPr>
            <a:r>
              <a:t>SQL STORED PROCEDURES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783392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291AA"/>
                </a:solidFill>
              </a:defRPr>
            </a:pPr>
            <a:r>
              <a:rPr dirty="0"/>
              <a:t>PYTHON API  +  SQL PROCEDURES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680096"/>
            <a:ext cx="11247120" cy="64008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 b="1">
                <a:solidFill>
                  <a:srgbClr val="925F00"/>
                </a:solidFill>
              </a:defRPr>
            </a:pPr>
            <a:r>
              <a:rPr dirty="0"/>
              <a:t>SAFETY NET  —  Every AI call has a deterministic fallback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rPr dirty="0"/>
              <a:t>    If Cortex fails or times out: digests generate bullet-point summaries from snapshots, committee falls back to deterministic approval, news uses heuristic extraction, and Ask MIP returns a service error.  No AI failure can halt the trading pipeline.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980037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2E7D32"/>
                </a:solidFill>
              </a:defRPr>
            </a:pPr>
            <a:r>
              <a:rPr dirty="0"/>
              <a:t>Output → AGENT_OUT schema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852160" y="4842876"/>
            <a:ext cx="457200" cy="164592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01287" y="5126344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8291AA"/>
                </a:solidFill>
              </a:defRPr>
            </a:pPr>
            <a:r>
              <a:rPr dirty="0"/>
              <a:t>DAILY_DIGEST_NARRATIVE  •  TRAINING_DIGEST_NARRATIVE  •  PORTFOLIO_LIFECYCLE_NARRATIVE  •  PARALLEL_WORLD_NARRATIVE  •  ORDER_PROPOSALS  •  NEWS_EVENT_EXTRACTED  •  ASK_QUERY_EVENT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8 AI touchpoints  |  3 models  |  Full deterministic fallback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How MIP Was Built — The AI-Orchestrated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Development Timeline — 6 months, zero lines of code typed by a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09928"/>
            <a:ext cx="10881360" cy="54864"/>
          </a:xfrm>
          <a:prstGeom prst="rect">
            <a:avLst/>
          </a:prstGeom>
          <a:solidFill>
            <a:srgbClr val="28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Oct – Dec 2025</a:t>
            </a:r>
          </a:p>
        </p:txBody>
      </p:sp>
      <p:sp>
        <p:nvSpPr>
          <p:cNvPr id="9" name="Oval 8"/>
          <p:cNvSpPr/>
          <p:nvPr/>
        </p:nvSpPr>
        <p:spPr>
          <a:xfrm>
            <a:off x="45720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Jan 2026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79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Feb 2026</a:t>
            </a:r>
          </a:p>
        </p:txBody>
      </p:sp>
      <p:sp>
        <p:nvSpPr>
          <p:cNvPr id="13" name="Oval 12"/>
          <p:cNvSpPr/>
          <p:nvPr/>
        </p:nvSpPr>
        <p:spPr>
          <a:xfrm>
            <a:off x="1014984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Mar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ChatGPT + Codex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ChatGPT as investment SME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&amp; solution architect.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OpenAI Codex as developer.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Core pipeline built.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965960"/>
            <a:ext cx="2606040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3756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6A1B9A"/>
                </a:solidFill>
              </a:defRPr>
            </a:pPr>
            <a:r>
              <a:t>Transition to Cursor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Switched to Cursor (Claude)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for development &amp; implementation.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ChatGPT for requirements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&amp; idea validation.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1965960"/>
            <a:ext cx="2606040" cy="54864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t>Full Cursor Autonomy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Cursor deploys direct to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Snowflake. Testing, debugging,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data repairs — all autonomous.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Human reviews, never types.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965960"/>
            <a:ext cx="260604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92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 b="1">
                <a:solidFill>
                  <a:srgbClr val="925F00"/>
                </a:solidFill>
              </a:defRPr>
            </a:pPr>
            <a:r>
              <a:t>Platform Maturity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IBKR live broker integration.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Cortex AI committee + narratives.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Parallel worlds + news intelligence.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146K lines. Production-ready.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965960"/>
            <a:ext cx="2606040" cy="54864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Kenneth's Role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⭐  Visionary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Conceived the mission.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Defined what MIP should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become.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39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3069F0"/>
                </a:solidFill>
              </a:defRPr>
            </a:pPr>
            <a:r>
              <a:t>⚙️  Orchestrator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Directed the AI agents.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Reviewed output, steered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direction.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t>☑️  Product Owner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Prioritised features.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Defined acceptance criteria.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Quality gatekeeper.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576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The Numbers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041648"/>
            <a:ext cx="5120640" cy="237744"/>
          </a:xfrm>
          <a:prstGeom prst="rect">
            <a:avLst/>
          </a:prstGeom>
          <a:solidFill>
            <a:srgbClr val="1E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4041648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4041648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Files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041648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40416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279392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446520" y="4343400"/>
            <a:ext cx="109728" cy="109728"/>
          </a:xfrm>
          <a:prstGeom prst="ellipse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01968" y="427939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SQL (Snowflake)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4279392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340 files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4279392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47,500 lines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4279392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40%</a:t>
            </a:r>
          </a:p>
        </p:txBody>
      </p:sp>
      <p:sp>
        <p:nvSpPr>
          <p:cNvPr id="39" name="Oval 38"/>
          <p:cNvSpPr/>
          <p:nvPr/>
        </p:nvSpPr>
        <p:spPr>
          <a:xfrm>
            <a:off x="6446520" y="4581144"/>
            <a:ext cx="109728" cy="109728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01968" y="4517136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React (JSX/JS/CSS)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4517136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100 files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4517136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31,500 lines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45171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754880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446520" y="4818888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01968" y="4754880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Python (FastAPI)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4754880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51 files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4754880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23,100 lines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7548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20%</a:t>
            </a:r>
          </a:p>
        </p:txBody>
      </p:sp>
      <p:sp>
        <p:nvSpPr>
          <p:cNvPr id="50" name="Oval 49"/>
          <p:cNvSpPr/>
          <p:nvPr/>
        </p:nvSpPr>
        <p:spPr>
          <a:xfrm>
            <a:off x="6446520" y="5056632"/>
            <a:ext cx="109728" cy="109728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01968" y="4992624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Python (Scripts)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4992624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23 files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4992624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10,300 lines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49926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9%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5230368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446520" y="5294376"/>
            <a:ext cx="109728" cy="109728"/>
          </a:xfrm>
          <a:prstGeom prst="ellipse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601968" y="5230368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Documentation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0" y="5230368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80 files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5230368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5,300 lines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81360" y="523036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468112"/>
            <a:ext cx="5120640" cy="256032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92240" y="5468112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68112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546811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117,700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81360" y="5468112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" y="5760720"/>
            <a:ext cx="10881360" cy="868680"/>
          </a:xfrm>
          <a:prstGeom prst="roundRect">
            <a:avLst/>
          </a:prstGeom>
          <a:solidFill>
            <a:srgbClr val="142341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583387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DCE6F5"/>
                </a:solidFill>
              </a:defRPr>
            </a:pPr>
            <a:r>
              <a:t>“Kenneth never wrote a line of code, AI did.  AI never made a product decision, Kenneth did.</a:t>
            </a:r>
          </a:p>
          <a:p>
            <a:pPr>
              <a:defRPr sz="1400" i="1">
                <a:solidFill>
                  <a:srgbClr val="DCE6F5"/>
                </a:solidFill>
              </a:defRPr>
            </a:pPr>
            <a:r>
              <a:t>Each played to their strengths.  117,700 lines.  594 files.  6 months.  One human involved.”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4708</Words>
  <Application>Microsoft Office PowerPoint</Application>
  <PresentationFormat>Widescreen</PresentationFormat>
  <Paragraphs>655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Kenneth Jebjerg</dc:creator>
  <cp:keywords/>
  <dc:description>generated using python-pptx</dc:description>
  <cp:lastModifiedBy>Kenneth Jebjerg</cp:lastModifiedBy>
  <cp:revision>2</cp:revision>
  <dcterms:created xsi:type="dcterms:W3CDTF">2013-01-27T09:14:16Z</dcterms:created>
  <dcterms:modified xsi:type="dcterms:W3CDTF">2026-03-20T10:21:04Z</dcterms:modified>
  <cp:category/>
</cp:coreProperties>
</file>