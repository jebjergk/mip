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BCA256-61CB-449E-93D9-04511F982F3E}" v="1" dt="2026-03-20T08:23:39.9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neth Jebjerg" userId="31b26a954995a5e4" providerId="LiveId" clId="{FB9E2242-EB45-4C40-9CD8-7B1EDA37FE0A}"/>
    <pc:docChg chg="addSld modSld">
      <pc:chgData name="Kenneth Jebjerg" userId="31b26a954995a5e4" providerId="LiveId" clId="{FB9E2242-EB45-4C40-9CD8-7B1EDA37FE0A}" dt="2026-03-20T08:23:39.932" v="2"/>
      <pc:docMkLst>
        <pc:docMk/>
      </pc:docMkLst>
      <pc:sldChg chg="modSp mod">
        <pc:chgData name="Kenneth Jebjerg" userId="31b26a954995a5e4" providerId="LiveId" clId="{FB9E2242-EB45-4C40-9CD8-7B1EDA37FE0A}" dt="2026-03-20T08:04:19.629" v="1" actId="1036"/>
        <pc:sldMkLst>
          <pc:docMk/>
          <pc:sldMk cId="0" sldId="260"/>
        </pc:sldMkLst>
        <pc:spChg chg="mod">
          <ac:chgData name="Kenneth Jebjerg" userId="31b26a954995a5e4" providerId="LiveId" clId="{FB9E2242-EB45-4C40-9CD8-7B1EDA37FE0A}" dt="2026-03-20T08:04:19.629" v="1" actId="1036"/>
          <ac:spMkLst>
            <pc:docMk/>
            <pc:sldMk cId="0" sldId="260"/>
            <ac:spMk id="10" creationId="{00000000-0000-0000-0000-000000000000}"/>
          </ac:spMkLst>
        </pc:spChg>
      </pc:sldChg>
      <pc:sldChg chg="add setBg">
        <pc:chgData name="Kenneth Jebjerg" userId="31b26a954995a5e4" providerId="LiveId" clId="{FB9E2242-EB45-4C40-9CD8-7B1EDA37FE0A}" dt="2026-03-20T08:23:39.932" v="2"/>
        <pc:sldMkLst>
          <pc:docMk/>
          <pc:sldMk cId="0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37160" cy="475488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/>
              <a:t>MIP — Behind the Scenes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94A3B8"/>
                </a:solidFill>
              </a:defRPr>
            </a:pPr>
            <a:r>
              <a:t>How the engine actually works — from raw market data to live trades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834640"/>
            <a:ext cx="2743200" cy="36576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rPr dirty="0"/>
              <a:t>This deck explains what happens under the hood:</a:t>
            </a:r>
          </a:p>
          <a:p>
            <a:pPr>
              <a:spcBef>
                <a:spcPts val="400"/>
              </a:spcBef>
              <a:defRPr sz="1600">
                <a:solidFill>
                  <a:srgbClr val="CBD5E1"/>
                </a:solidFill>
              </a:defRPr>
            </a:pPr>
            <a:r>
              <a:rPr dirty="0"/>
              <a:t>the calculations, the gates, the decision logic.</a:t>
            </a:r>
          </a:p>
          <a:p>
            <a:pPr>
              <a:spcBef>
                <a:spcPts val="400"/>
              </a:spcBef>
              <a:defRPr sz="1600">
                <a:solidFill>
                  <a:srgbClr val="CBD5E1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600">
                <a:solidFill>
                  <a:srgbClr val="CBD5E1"/>
                </a:solidFill>
              </a:defRPr>
            </a:pPr>
            <a:r>
              <a:rPr dirty="0"/>
              <a:t>No jargon without explanation.</a:t>
            </a:r>
          </a:p>
          <a:p>
            <a:pPr>
              <a:spcBef>
                <a:spcPts val="400"/>
              </a:spcBef>
              <a:defRPr sz="1600">
                <a:solidFill>
                  <a:srgbClr val="CBD5E1"/>
                </a:solidFill>
              </a:defRPr>
            </a:pPr>
            <a:r>
              <a:rPr dirty="0"/>
              <a:t>No formula without an analogy.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5577840"/>
            <a:ext cx="1737360" cy="310896"/>
          </a:xfrm>
          <a:prstGeom prst="round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SIGNALS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5577840"/>
            <a:ext cx="1737360" cy="310896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5577840"/>
            <a:ext cx="1737360" cy="310896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5577840"/>
            <a:ext cx="173736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The Big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MIP runs a continuous loop: observe the market, learn from it, decide, act, and learn from the outcome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2024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Ingest</a:t>
            </a:r>
          </a:p>
        </p:txBody>
      </p:sp>
      <p:sp>
        <p:nvSpPr>
          <p:cNvPr id="8" name="Chevron 7"/>
          <p:cNvSpPr/>
          <p:nvPr/>
        </p:nvSpPr>
        <p:spPr>
          <a:xfrm>
            <a:off x="161848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764792" y="192024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Detect</a:t>
            </a:r>
          </a:p>
        </p:txBody>
      </p:sp>
      <p:sp>
        <p:nvSpPr>
          <p:cNvPr id="10" name="Chevron 9"/>
          <p:cNvSpPr/>
          <p:nvPr/>
        </p:nvSpPr>
        <p:spPr>
          <a:xfrm>
            <a:off x="3017520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163824" y="192024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Evaluate</a:t>
            </a:r>
          </a:p>
        </p:txBody>
      </p:sp>
      <p:sp>
        <p:nvSpPr>
          <p:cNvPr id="12" name="Chevron 11"/>
          <p:cNvSpPr/>
          <p:nvPr/>
        </p:nvSpPr>
        <p:spPr>
          <a:xfrm>
            <a:off x="4416552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62856" y="192024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Train</a:t>
            </a:r>
          </a:p>
        </p:txBody>
      </p:sp>
      <p:sp>
        <p:nvSpPr>
          <p:cNvPr id="14" name="Chevron 13"/>
          <p:cNvSpPr/>
          <p:nvPr/>
        </p:nvSpPr>
        <p:spPr>
          <a:xfrm>
            <a:off x="5815583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61888" y="192024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Propose</a:t>
            </a:r>
          </a:p>
        </p:txBody>
      </p:sp>
      <p:sp>
        <p:nvSpPr>
          <p:cNvPr id="16" name="Chevron 15"/>
          <p:cNvSpPr/>
          <p:nvPr/>
        </p:nvSpPr>
        <p:spPr>
          <a:xfrm>
            <a:off x="7214616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60920" y="192024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Gate</a:t>
            </a:r>
          </a:p>
        </p:txBody>
      </p:sp>
      <p:sp>
        <p:nvSpPr>
          <p:cNvPr id="18" name="Chevron 17"/>
          <p:cNvSpPr/>
          <p:nvPr/>
        </p:nvSpPr>
        <p:spPr>
          <a:xfrm>
            <a:off x="861364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759952" y="192024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Execute</a:t>
            </a:r>
          </a:p>
        </p:txBody>
      </p:sp>
      <p:sp>
        <p:nvSpPr>
          <p:cNvPr id="20" name="Chevron 19"/>
          <p:cNvSpPr/>
          <p:nvPr/>
        </p:nvSpPr>
        <p:spPr>
          <a:xfrm>
            <a:off x="10012680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158984" y="192024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Learn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017520"/>
            <a:ext cx="5394960" cy="2926080"/>
          </a:xfrm>
          <a:prstGeom prst="roundRect">
            <a:avLst/>
          </a:prstGeom>
          <a:solidFill>
            <a:srgbClr val="E3ECFD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800" b="1">
                <a:solidFill>
                  <a:srgbClr val="3069F0"/>
                </a:solidFill>
              </a:defRPr>
            </a:pPr>
            <a:r>
              <a:rPr dirty="0"/>
              <a:t>🔬  Research Loop (runs daily)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1. Ingest OHLCV bars from </a:t>
            </a:r>
            <a:r>
              <a:rPr dirty="0" err="1"/>
              <a:t>AlphaVantage</a:t>
            </a:r>
            <a:r>
              <a:rPr dirty="0"/>
              <a:t> / IBKR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2. Detect patterns (momentum, ORB, mean reversion, pullbacks)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3. Evaluate: did past signals hit or miss after 1, 3, 5, 10, 20 days?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4. Train: update maturity scores and trust labels per symbol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5. The system gets smarter every day it runs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017520"/>
            <a:ext cx="5394960" cy="2926080"/>
          </a:xfrm>
          <a:prstGeom prst="roundRect">
            <a:avLst/>
          </a:prstGeom>
          <a:solidFill>
            <a:srgbClr val="E6F5E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🎯  Decision Loop (runs daily)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6. Propose: pick the best signals for each portfolio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7. Gate: trust gate, risk gate, capacity gate, freshness gate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8. Committee: AI reviews each proposal (can block)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9. Execute: place in simulation or live via IBKR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10. Learn: record outcome, feed it back into training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🔄  Like a chef who tastes every dish (evaluate), adjusts the recipe (train), and only serves when quality passes inspection (gate).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Training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Evidence quality is measured before any trade is considered — maturity gates keep the system honest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069F0"/>
                </a:solidFill>
              </a:defRPr>
            </a:pPr>
            <a:r>
              <a:t>0-100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Maturity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96596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6A1B9A"/>
                </a:solidFill>
              </a:defRPr>
            </a:pPr>
            <a:r>
              <a:t>H1-H20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5 Horizons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96596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86%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Coverage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965960"/>
            <a:ext cx="2926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00796B"/>
                </a:solidFill>
              </a:defRPr>
            </a:pPr>
            <a:r>
              <a:t>PER SYMBOL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Granularity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2103120" cy="31089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INSUFFICIENT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3383280"/>
            <a:ext cx="2103120" cy="310896"/>
          </a:xfrm>
          <a:prstGeom prst="round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WARMING 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3383280"/>
            <a:ext cx="2103120" cy="310896"/>
          </a:xfrm>
          <a:prstGeom prst="round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LEARNING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383280"/>
            <a:ext cx="210312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CONFIDENT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5486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How Training Works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Each symbol + pattern combination is independently trained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Maturity = sample size + coverage + horizon depth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Trust labels gate whether the system can propose trades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LOW_EVIDENCE symbols are quarantined from execution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The system learns continuously — maturity rises over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31920"/>
            <a:ext cx="73152" cy="201168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63640" y="3931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What You See in the UI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Symbol grid with maturity scores and trust labels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Horizon returns: Avg H1, H3, H5, H10, H20 per pattern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Coverage % — how much of the symbol's history is trained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Sample size — number of observations backing the score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AI summary translates stats into plain-language guidance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931920"/>
            <a:ext cx="73152" cy="20116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🎓  Like a medical residency: doctors don't operate until they've logged enough supervised hours. MIP's patterns don't trade until trained.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Market Intelligence Platform  |  Evidence  &gt;  Decision  &gt; 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How Signals Are Born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MIP watches price movements and fires a signal when a pattern's conditions are met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2286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OHLCV Bars</a:t>
            </a:r>
          </a:p>
        </p:txBody>
      </p:sp>
      <p:sp>
        <p:nvSpPr>
          <p:cNvPr id="8" name="Chevron 7"/>
          <p:cNvSpPr/>
          <p:nvPr/>
        </p:nvSpPr>
        <p:spPr>
          <a:xfrm>
            <a:off x="321868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57600" y="1920240"/>
            <a:ext cx="2286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Returns</a:t>
            </a:r>
          </a:p>
        </p:txBody>
      </p:sp>
      <p:sp>
        <p:nvSpPr>
          <p:cNvPr id="10" name="Chevron 9"/>
          <p:cNvSpPr/>
          <p:nvPr/>
        </p:nvSpPr>
        <p:spPr>
          <a:xfrm>
            <a:off x="596188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0" y="1920240"/>
            <a:ext cx="2286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Pattern Check</a:t>
            </a:r>
          </a:p>
        </p:txBody>
      </p:sp>
      <p:sp>
        <p:nvSpPr>
          <p:cNvPr id="12" name="Chevron 11"/>
          <p:cNvSpPr/>
          <p:nvPr/>
        </p:nvSpPr>
        <p:spPr>
          <a:xfrm>
            <a:off x="870508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0" y="1920240"/>
            <a:ext cx="2286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Signal Fired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17520"/>
            <a:ext cx="3657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rPr dirty="0"/>
              <a:t>Momentum Pattern (Daily)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Calculates simple return: (Close - </a:t>
            </a:r>
            <a:r>
              <a:rPr dirty="0" err="1"/>
              <a:t>PrevClose</a:t>
            </a:r>
            <a:r>
              <a:rPr dirty="0"/>
              <a:t>) / </a:t>
            </a:r>
            <a:r>
              <a:rPr dirty="0" err="1"/>
              <a:t>PrevClose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Counts recent positive days (e.g. 3 of last 20)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Checks if price is at a new high within window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Calculates z-score: how unusual is today's move?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Signal fires when ALL conditions pass simultaneously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17520"/>
            <a:ext cx="73152" cy="292608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34840" y="3017520"/>
            <a:ext cx="3657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rPr dirty="0"/>
              <a:t>Intraday Patterns (15-min bars)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ORB: First bar defines the range; breakout above or below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Mean Reversion: Price drifts far from average, then snaps back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Pullback: Strong move, brief pause, then continuation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Each pattern has its own parameter set (configurable)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One signal per symbol per session (no duplicates)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017520"/>
            <a:ext cx="73152" cy="29260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0" y="3017520"/>
            <a:ext cx="33375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rPr dirty="0"/>
              <a:t>What Gets Recorded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Symbol + pattern ID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Timestamp of the signal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Score (strength measure)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Market type (FX, stock, ETF)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Direction (bullish / bearish)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017520"/>
            <a:ext cx="73152" cy="292608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🚨  Like a smoke detector: it watches continuously, has specific trigger conditions, and fires only when ALL thresholds are crossed — not just one.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Horizons: Looking Into the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After a signal fires, MIP checks what happened next — at 5 different time distances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011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3069F0"/>
                </a:solidFill>
              </a:defRPr>
            </a:pPr>
            <a:r>
              <a:rPr dirty="0"/>
              <a:t>H1</a:t>
            </a:r>
          </a:p>
          <a:p>
            <a:pPr algn="ctr">
              <a:spcBef>
                <a:spcPts val="200"/>
              </a:spcBef>
              <a:defRPr sz="1000">
                <a:solidFill>
                  <a:srgbClr val="5F6B7A"/>
                </a:solidFill>
              </a:defRPr>
            </a:pPr>
            <a:r>
              <a:rPr dirty="0"/>
              <a:t>1 Day Ahead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965960"/>
            <a:ext cx="2011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00796B"/>
                </a:solidFill>
              </a:defRPr>
            </a:pPr>
            <a:r>
              <a:rPr dirty="0"/>
              <a:t>H3</a:t>
            </a:r>
          </a:p>
          <a:p>
            <a:pPr algn="ctr">
              <a:spcBef>
                <a:spcPts val="200"/>
              </a:spcBef>
              <a:defRPr sz="1000">
                <a:solidFill>
                  <a:srgbClr val="5F6B7A"/>
                </a:solidFill>
              </a:defRPr>
            </a:pPr>
            <a:r>
              <a:rPr dirty="0"/>
              <a:t>3 Days Ahead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965960"/>
            <a:ext cx="2011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2E7D32"/>
                </a:solidFill>
              </a:defRPr>
            </a:pPr>
            <a:r>
              <a:rPr dirty="0"/>
              <a:t>H5</a:t>
            </a:r>
          </a:p>
          <a:p>
            <a:pPr algn="ctr">
              <a:spcBef>
                <a:spcPts val="200"/>
              </a:spcBef>
              <a:defRPr sz="1000">
                <a:solidFill>
                  <a:srgbClr val="5F6B7A"/>
                </a:solidFill>
              </a:defRPr>
            </a:pPr>
            <a:r>
              <a:rPr dirty="0"/>
              <a:t>5 Days Ahead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1965960"/>
            <a:ext cx="2011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6A1B9A"/>
                </a:solidFill>
              </a:defRPr>
            </a:pPr>
            <a:r>
              <a:rPr dirty="0"/>
              <a:t>H10</a:t>
            </a:r>
          </a:p>
          <a:p>
            <a:pPr algn="ctr">
              <a:spcBef>
                <a:spcPts val="200"/>
              </a:spcBef>
              <a:defRPr sz="1000">
                <a:solidFill>
                  <a:srgbClr val="5F6B7A"/>
                </a:solidFill>
              </a:defRPr>
            </a:pPr>
            <a:r>
              <a:rPr dirty="0"/>
              <a:t>10 Days Ahead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96596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3949AB"/>
                </a:solidFill>
              </a:defRPr>
            </a:pPr>
            <a:r>
              <a:rPr dirty="0"/>
              <a:t>H20</a:t>
            </a:r>
          </a:p>
          <a:p>
            <a:pPr algn="ctr">
              <a:spcBef>
                <a:spcPts val="200"/>
              </a:spcBef>
              <a:defRPr sz="1000">
                <a:solidFill>
                  <a:srgbClr val="5F6B7A"/>
                </a:solidFill>
              </a:defRPr>
            </a:pPr>
            <a:r>
              <a:rPr dirty="0"/>
              <a:t>20 Days Ahead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91840"/>
            <a:ext cx="5394960" cy="731520"/>
          </a:xfrm>
          <a:prstGeom prst="roundRect">
            <a:avLst/>
          </a:prstGeom>
          <a:solidFill>
            <a:srgbClr val="F0F3FF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3069F0"/>
                </a:solidFill>
              </a:defRPr>
            </a:pPr>
            <a:r>
              <a:t>Realized Return = (Future Price − Signal Price) / Signal Price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If price was $100 at signal and $103 after 5 days: H5 return = +3.0%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51960"/>
            <a:ext cx="53949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HIT, MISS, or NEUTRAL?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HIT:  return ≥ +0.2%  (the signal was right — price went up)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MISS:  return ≤ -0.2%  (the signal was wrong — price dropped)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NEUTRAL:  in between  (inconclusive — nothing happened)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These labels are counted to build the HIT RATE per pattern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51960"/>
            <a:ext cx="73152" cy="1737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3291840"/>
            <a:ext cx="539496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Why 5 Horizons?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A pattern might work over 1 day but fail over 20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Or it might be meaningless short-term but powerful long-term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By measuring at 5 distances, MIP finds the sweet spot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Training builds a profile: "Pattern X works best at H5 for EUR/USD"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The system doesn't guess — it measures and remembers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Intraday uses different horizons: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  H1 = 1 bar (15 min), H4 = 1 hour, H8 = 2 hours, EOD = end of 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291840"/>
            <a:ext cx="73152" cy="26974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🌡️  Like a weather forecast: predicting tomorrow is different from predicting next week. MIP measures accuracy at each distance to know which forecasts to trust.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The Training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How MIP measures whether a pattern has earned enough evidence to be trusted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881360" cy="777240"/>
          </a:xfrm>
          <a:prstGeom prst="roundRect">
            <a:avLst/>
          </a:prstGeom>
          <a:solidFill>
            <a:srgbClr val="F0F3FF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3069F0"/>
                </a:solidFill>
              </a:defRPr>
            </a:pPr>
            <a:r>
              <a:t>Maturity Score = Sample Score (max 30) + Coverage Score (max 40) + Horizon Score (max 30)  =  0 to 100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Each component is measured independently and capped. A pattern must excel in all three to reach CONFIDENT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3069F0"/>
                </a:solidFill>
              </a:defRPr>
            </a:pPr>
            <a:r>
              <a:t>30 pts</a:t>
            </a:r>
          </a:p>
          <a:p>
            <a:pPr algn="ctr">
              <a:spcBef>
                <a:spcPts val="200"/>
              </a:spcBef>
              <a:defRPr sz="1000">
                <a:solidFill>
                  <a:srgbClr val="5F6B7A"/>
                </a:solidFill>
              </a:defRPr>
            </a:pPr>
            <a:r>
              <a:t>Sample Size</a:t>
            </a:r>
            <a:br/>
            <a:r>
              <a:t>Do we have enough signals?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92608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2E7D32"/>
                </a:solidFill>
              </a:defRPr>
            </a:pPr>
            <a:r>
              <a:t>40 pts</a:t>
            </a:r>
          </a:p>
          <a:p>
            <a:pPr algn="ctr">
              <a:spcBef>
                <a:spcPts val="200"/>
              </a:spcBef>
              <a:defRPr sz="1000">
                <a:solidFill>
                  <a:srgbClr val="5F6B7A"/>
                </a:solidFill>
              </a:defRPr>
            </a:pPr>
            <a:r>
              <a:t>Coverage</a:t>
            </a:r>
            <a:br/>
            <a:r>
              <a:t>What % of outcomes evaluated?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946628"/>
            <a:ext cx="3749039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6A1B9A"/>
                </a:solidFill>
              </a:defRPr>
            </a:pPr>
            <a:r>
              <a:t>30 pts</a:t>
            </a:r>
          </a:p>
          <a:p>
            <a:pPr algn="ctr">
              <a:spcBef>
                <a:spcPts val="200"/>
              </a:spcBef>
              <a:defRPr sz="1000">
                <a:solidFill>
                  <a:srgbClr val="5F6B7A"/>
                </a:solidFill>
              </a:defRPr>
            </a:pPr>
            <a:r>
              <a:t>Horizon Depth</a:t>
            </a:r>
            <a:br/>
            <a:r>
              <a:t>How many of 5 horizons tested?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72000"/>
            <a:ext cx="2286000" cy="31089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&lt; 25 INSUFFICIENT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4572000"/>
            <a:ext cx="2286000" cy="310896"/>
          </a:xfrm>
          <a:prstGeom prst="round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25-49 WARMING 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4572000"/>
            <a:ext cx="2286000" cy="310896"/>
          </a:xfrm>
          <a:prstGeom prst="round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50-74 LEARNING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572000"/>
            <a:ext cx="228600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≥ 75 CONFIDENT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120640"/>
            <a:ext cx="10881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What This Means in Practice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A pattern with 10 signals, 50% coverage, and 2 horizons tested would score about 35 — WARMING UP. Not allowed to trade yet.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A pattern with 40+ signals, 90% coverage, and all 5 horizons would score 90+ — CONFIDENT. Ready for proposals.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120640"/>
            <a:ext cx="73152" cy="8229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🎓  Like a student's transcript: sample size is how many exams taken, coverage is how many subjects, horizons is depth of knowledge. All three matter for graduation.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The Trust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Maturity alone isn't enough — the pattern must also prove it actually makes money recently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486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rPr dirty="0"/>
              <a:t>Pattern-Level Trust (Global)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≥ 30 evaluated outcomes AND ≥ 80% coverage rate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Average return &gt; 0 (historically profitable)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Recent 90 days: ≥ 10 signals, ≥ 50% hit rate, positive avg return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Only patterns meeting ALL criteria earn TRUSTED 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73152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63640" y="19202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rPr dirty="0"/>
              <a:t>Symbol-Level Trust (Local)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≥ 8 recent signals for this specific symbol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Recent hit rate ≥ 50% for this symbol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Recent average return ≥ 0% for this symbol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Even a globally trusted pattern fails if it doesn't work for THIS symbol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920240"/>
            <a:ext cx="73152" cy="18288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3977639"/>
            <a:ext cx="182880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TRUSTED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3977639"/>
            <a:ext cx="1554480" cy="310896"/>
          </a:xfrm>
          <a:prstGeom prst="round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977639"/>
            <a:ext cx="2011680" cy="31089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UNTRUSTED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977639"/>
            <a:ext cx="2286000" cy="310896"/>
          </a:xfrm>
          <a:prstGeom prst="round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LOW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26280"/>
            <a:ext cx="5394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What Happens If Trust Fails?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If a pattern is not TRUSTED: no proposals are generated for it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If a symbol's local trust is not TRUSTED: BUY proposals are blocked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The system keeps learning — trust can be earned over time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Trust can also be LOST if recent performance deteriorates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526280"/>
            <a:ext cx="73152" cy="1417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72200" y="4526280"/>
            <a:ext cx="5394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Why Two Layers of Trust?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Global trust: "This pattern works in general across many symbols"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Local trust: "This pattern works specifically for EUR/USD"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A pattern could work for stocks but not for FX pairs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Double-checking prevents false confidence from aggregation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4526280"/>
            <a:ext cx="73152" cy="141732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🏦  Like a bank loan: your overall credit score matters (global), but so does your history with THIS specific bank (local). Both must pass.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The Committee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Every trade proposal must survive a gauntlet of 5 independent checks before it can execute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881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t>  1. Trust Gate</a:t>
            </a:r>
          </a:p>
          <a:p>
            <a:pPr>
              <a:spcBef>
                <a:spcPts val="100"/>
              </a:spcBef>
              <a:defRPr sz="1100">
                <a:solidFill>
                  <a:srgbClr val="1F2937"/>
                </a:solidFill>
              </a:defRPr>
            </a:pPr>
            <a:r>
              <a:t>      Is the pattern trusted for this symbol?</a:t>
            </a:r>
          </a:p>
          <a:p>
            <a:pPr>
              <a:spcBef>
                <a:spcPts val="100"/>
              </a:spcBef>
              <a:defRPr sz="1100">
                <a:solidFill>
                  <a:srgbClr val="1F2937"/>
                </a:solidFill>
              </a:defRPr>
            </a:pPr>
            <a:r>
              <a:t>      BUY blocked if symbol trust ≠ TRUSTED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73152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24160" y="2103120"/>
            <a:ext cx="914400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61488"/>
            <a:ext cx="10881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C62828"/>
                </a:solidFill>
              </a:defRPr>
            </a:pPr>
            <a:r>
              <a:t>  2. Risk Gate</a:t>
            </a:r>
          </a:p>
          <a:p>
            <a:pPr>
              <a:spcBef>
                <a:spcPts val="100"/>
              </a:spcBef>
              <a:defRPr sz="1100">
                <a:solidFill>
                  <a:srgbClr val="1F2937"/>
                </a:solidFill>
              </a:defRPr>
            </a:pPr>
            <a:r>
              <a:t>      Is the portfolio in drawdown-stop mode?</a:t>
            </a:r>
          </a:p>
          <a:p>
            <a:pPr>
              <a:spcBef>
                <a:spcPts val="100"/>
              </a:spcBef>
              <a:defRPr sz="1100">
                <a:solidFill>
                  <a:srgbClr val="1F2937"/>
                </a:solidFill>
              </a:defRPr>
            </a:pPr>
            <a:r>
              <a:t>      Blocked if drawdown ≥ stop threshold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61488"/>
            <a:ext cx="73152" cy="7498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24160" y="2944368"/>
            <a:ext cx="914400" cy="347472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02736"/>
            <a:ext cx="10881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925F00"/>
                </a:solidFill>
              </a:defRPr>
            </a:pPr>
            <a:r>
              <a:t>  3. Capacity Gate</a:t>
            </a:r>
          </a:p>
          <a:p>
            <a:pPr>
              <a:spcBef>
                <a:spcPts val="100"/>
              </a:spcBef>
              <a:defRPr sz="1100">
                <a:solidFill>
                  <a:srgbClr val="1F2937"/>
                </a:solidFill>
              </a:defRPr>
            </a:pPr>
            <a:r>
              <a:t>      Are there slots available?</a:t>
            </a:r>
          </a:p>
          <a:p>
            <a:pPr>
              <a:spcBef>
                <a:spcPts val="100"/>
              </a:spcBef>
              <a:defRPr sz="1100">
                <a:solidFill>
                  <a:srgbClr val="1F2937"/>
                </a:solidFill>
              </a:defRPr>
            </a:pPr>
            <a:r>
              <a:t>      Blocked if positions ≥ max allowed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02736"/>
            <a:ext cx="73152" cy="749808"/>
          </a:xfrm>
          <a:prstGeom prst="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24160" y="3785615"/>
            <a:ext cx="914400" cy="347472"/>
          </a:xfrm>
          <a:prstGeom prst="round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43984"/>
            <a:ext cx="10881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3069F0"/>
                </a:solidFill>
              </a:defRPr>
            </a:pPr>
            <a:r>
              <a:t>  4. Freshness Gate</a:t>
            </a:r>
          </a:p>
          <a:p>
            <a:pPr>
              <a:spcBef>
                <a:spcPts val="100"/>
              </a:spcBef>
              <a:defRPr sz="1100">
                <a:solidFill>
                  <a:srgbClr val="1F2937"/>
                </a:solidFill>
              </a:defRPr>
            </a:pPr>
            <a:r>
              <a:t>      Is market data fresh?</a:t>
            </a:r>
          </a:p>
          <a:p>
            <a:pPr>
              <a:spcBef>
                <a:spcPts val="100"/>
              </a:spcBef>
              <a:defRPr sz="1100">
                <a:solidFill>
                  <a:srgbClr val="1F2937"/>
                </a:solidFill>
              </a:defRPr>
            </a:pPr>
            <a:r>
              <a:t>      Blocked if daily bars are stale (&gt;30 hrs old)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443984"/>
            <a:ext cx="73152" cy="749808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24160" y="4626864"/>
            <a:ext cx="914400" cy="347472"/>
          </a:xfrm>
          <a:prstGeom prst="round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85232"/>
            <a:ext cx="10881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6A1B9A"/>
                </a:solidFill>
              </a:defRPr>
            </a:pPr>
            <a:r>
              <a:t>  5. AI Committee</a:t>
            </a:r>
          </a:p>
          <a:p>
            <a:pPr>
              <a:spcBef>
                <a:spcPts val="100"/>
              </a:spcBef>
              <a:defRPr sz="1100">
                <a:solidFill>
                  <a:srgbClr val="1F2937"/>
                </a:solidFill>
              </a:defRPr>
            </a:pPr>
            <a:r>
              <a:t>      Does the AI agree?</a:t>
            </a:r>
          </a:p>
          <a:p>
            <a:pPr>
              <a:spcBef>
                <a:spcPts val="100"/>
              </a:spcBef>
              <a:defRPr sz="1100">
                <a:solidFill>
                  <a:srgbClr val="1F2937"/>
                </a:solidFill>
              </a:defRPr>
            </a:pPr>
            <a:r>
              <a:t>      Claude reviews and can block the trade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285232"/>
            <a:ext cx="73152" cy="7498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24160" y="5468112"/>
            <a:ext cx="914400" cy="347472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🚧  Like airport security: ID check (trust), bag scan (risk), seat availability (capacity), boarding pass time (freshness), and a final officer review (AI).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Position Sizing &amp; 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How MIP decides HOW MUCH to buy, and what the real cost of a trade looks like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394960" cy="777240"/>
          </a:xfrm>
          <a:prstGeom prst="roundRect">
            <a:avLst/>
          </a:prstGeom>
          <a:solidFill>
            <a:srgbClr val="F0F3FF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3069F0"/>
                </a:solidFill>
              </a:defRPr>
            </a:pPr>
            <a:r>
              <a:t>Target Value = Cash × Max Position %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Example: $100,000 cash × 5% = $5,000 per position. Never bet more than 5% on one trade.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394960" cy="777240"/>
          </a:xfrm>
          <a:prstGeom prst="roundRect">
            <a:avLst/>
          </a:prstGeom>
          <a:solidFill>
            <a:srgbClr val="F0F3FF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3069F0"/>
                </a:solidFill>
              </a:defRPr>
            </a:pPr>
            <a:r>
              <a:t>Quantity = Target Value / Entry Price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Example: $5,000 / $150 per share = 33 shares. Rounded to whole shares.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26080"/>
            <a:ext cx="3657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Entry Price Adjustment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You don't get the exact close price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Slippage: market moves while order fills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Spread: difference between bid and ask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Buy Price = Close × (1 + slippage + spread/2)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Sell Price = Close × (1 − slippage − spread/2)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80"/>
            <a:ext cx="73152" cy="182880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34840" y="2926080"/>
            <a:ext cx="3657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Trading Fees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Fee = max(Minimum Fee, Notional × Fee Rate)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Example: max($1, $5,000 × 0.001) = $5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Fees are subtracted from P&amp;L on both entry and exit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Total cost: buy fee + sell fee + slippage + spread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926080"/>
            <a:ext cx="73152" cy="1828800"/>
          </a:xfrm>
          <a:prstGeom prst="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0" y="29260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Committee Can Scale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AI committee can reduce size via SIZE_FACTOR (0–1)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If SIZE_FACTOR = 0.5: position halved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Lower conviction = smaller bet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Committee can also block entirely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926080"/>
            <a:ext cx="73152" cy="18288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4983480"/>
            <a:ext cx="10881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Market Type Quota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MIP splits available slots: 60% for stocks, 40% for FX. This prevents over-concentration in one asset class.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If there are 10 open slots: up to 6 go to stocks, up to 4 go to FX. Unused slots backfill from the other pool.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983480"/>
            <a:ext cx="73152" cy="96012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🎰  Like a poker player who never puts more than 5% of their chips on one hand — and adjusts the bet based on how confident they are in their cards.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The Simulation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How MIP replays the market day-by-day, opening and closing positions to test strategy quality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2011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Start Cash</a:t>
            </a:r>
          </a:p>
        </p:txBody>
      </p:sp>
      <p:sp>
        <p:nvSpPr>
          <p:cNvPr id="8" name="Chevron 7"/>
          <p:cNvSpPr/>
          <p:nvPr/>
        </p:nvSpPr>
        <p:spPr>
          <a:xfrm>
            <a:off x="248716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43200" y="1920240"/>
            <a:ext cx="2011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Daily Bars</a:t>
            </a:r>
          </a:p>
        </p:txBody>
      </p:sp>
      <p:sp>
        <p:nvSpPr>
          <p:cNvPr id="10" name="Chevron 9"/>
          <p:cNvSpPr/>
          <p:nvPr/>
        </p:nvSpPr>
        <p:spPr>
          <a:xfrm>
            <a:off x="477316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0" y="1920240"/>
            <a:ext cx="2011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Check Exits</a:t>
            </a:r>
          </a:p>
        </p:txBody>
      </p:sp>
      <p:sp>
        <p:nvSpPr>
          <p:cNvPr id="12" name="Chevron 11"/>
          <p:cNvSpPr/>
          <p:nvPr/>
        </p:nvSpPr>
        <p:spPr>
          <a:xfrm>
            <a:off x="705916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0" y="1920240"/>
            <a:ext cx="2011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Check Entries</a:t>
            </a:r>
          </a:p>
        </p:txBody>
      </p:sp>
      <p:sp>
        <p:nvSpPr>
          <p:cNvPr id="14" name="Chevron 13"/>
          <p:cNvSpPr/>
          <p:nvPr/>
        </p:nvSpPr>
        <p:spPr>
          <a:xfrm>
            <a:off x="9345167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01200" y="1920240"/>
            <a:ext cx="2011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Update Equity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017520"/>
            <a:ext cx="3657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How Positions Are Managed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Entry: buy at adjusted close price (with slippage)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Hold period: determined by the signal's horizon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Exit: auto-sell after N bars (e.g. H5 = 5 days)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No manual stop-loss/take-profit in simulation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FIFO ordering: first position in, first out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Holidays carry forward — uses last known price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17520"/>
            <a:ext cx="73152" cy="292608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434840" y="3017520"/>
            <a:ext cx="3657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Daily Equity Tracking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Each day: recalculate all position values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Total Equity = Cash + Open Position Values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Daily P&amp;L = Today's Equity − Yesterday's Equity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Daily Return = Daily P&amp;L / Yesterday's Equity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Peak Equity = highest equity ever reached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Drawdown = (Peak − Current) / Peak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3017520"/>
            <a:ext cx="73152" cy="2926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29600" y="3017520"/>
            <a:ext cx="33375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Risk Brakes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Drawdown Stop: if drawdown hits threshold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(e.g. 10%), new entries are BLOCKED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Bust Protection: if equity falls below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bust level, all entries stop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Cooldown: forced waiting period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after risk event before re-entering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017520"/>
            <a:ext cx="73152" cy="2926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✈️  Like a flight simulator: pilots train by "flying" through recorded weather patterns. MIP trades through recorded market days to learn what works before risking real money.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NEWS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News Intelligence: The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How MIP converts raw headlines into a quantified, bounded influence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394960" cy="777240"/>
          </a:xfrm>
          <a:prstGeom prst="roundRect">
            <a:avLst/>
          </a:prstGeom>
          <a:solidFill>
            <a:srgbClr val="F0F3FF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3069F0"/>
                </a:solidFill>
              </a:defRPr>
            </a:pPr>
            <a:r>
              <a:t>Z-Score = (Today's News Count − 7-Day Average) / 7-Day StdDev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Measures how unusual today's news volume is compared to the recent norm. Z ≥ 1.5 = 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394960" cy="777240"/>
          </a:xfrm>
          <a:prstGeom prst="roundRect">
            <a:avLst/>
          </a:prstGeom>
          <a:solidFill>
            <a:srgbClr val="F0F3FF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3069F0"/>
                </a:solidFill>
              </a:defRPr>
            </a:pPr>
            <a:r>
              <a:t>Novelty Score = 1 − (Duplicate Count / Total Count)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How much of today's news is genuinely new vs. recycled. High novelty = more attention-worthy.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26080"/>
            <a:ext cx="3657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Burst Detection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Track 7-day rolling average and std deviation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Today's count significantly above average = burst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Z ≥ 1.5 → HOT badge (unusual activity)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Z &lt; 1.5 → NORMAL badge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No news at all → NONE badge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80"/>
            <a:ext cx="73152" cy="1920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34840" y="2926080"/>
            <a:ext cx="3657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Uncertainty Detection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Scans headlines for both bullish AND bearish keywords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If BOTH directions appear: UNCERTAINTY = true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Mixed signals mean the market is confused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Uncertainty flag adds caution to proposals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926080"/>
            <a:ext cx="73152" cy="1920240"/>
          </a:xfrm>
          <a:prstGeom prst="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0" y="292608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Bounded Influence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News score adjustment capped at ±20%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Currently diagnostic only — committee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sees the data but ranking is unchanged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No trade is ever placed purely on news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926080"/>
            <a:ext cx="73152" cy="192024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5074920"/>
            <a:ext cx="10881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The Key Principle: News Informs, Never Overrides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News can make the committee more cautious or more confident, but it cannot bypass trust gates, risk gates, or capacity limits.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The influence is mathematically bounded (±20% cap) to prevent a single headline from distorting the entire system.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74920"/>
            <a:ext cx="73152" cy="8686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📰  Like a judge reading the morning paper: it may inform their thinking, but the verdict is based on evidence presented in court — not on headlines.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COUNTERFACTUAL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Parallel Worlds: The What-If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MIP asks: 'What would have happened if we'd used a different strategy?' — and calculates the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💵  BASELINE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What if we did nothing and stayed in cash?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73152" cy="123444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80560" y="192024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📏  SIZING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What if each position was 2× or 0.5× the size?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920240"/>
            <a:ext cx="73152" cy="123444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321040" y="192024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⏱️  TIMING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What if we waited 1–5 bars before entering?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920240"/>
            <a:ext cx="73152" cy="123444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333756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🔍  THRESHOLD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What if we used stricter/looser signal filters?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37560"/>
            <a:ext cx="73152" cy="12344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80560" y="333756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📅  HORIZON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What if we held positions longer or shorter?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3337560"/>
            <a:ext cx="73152" cy="12344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21040" y="333756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🏃  EARLY EXIT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What if we took profits earlier at a multiplier?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3337560"/>
            <a:ext cx="73152" cy="12344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4937760"/>
            <a:ext cx="5394960" cy="640080"/>
          </a:xfrm>
          <a:prstGeom prst="roundRect">
            <a:avLst/>
          </a:prstGeom>
          <a:solidFill>
            <a:srgbClr val="F0F3FF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3069F0"/>
                </a:solidFill>
              </a:defRPr>
            </a:pPr>
            <a:r>
              <a:t>Regret = Best Alternative Return − Actual Return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If cash returned +2% and you returned +5%, regret = −3% (no regret!)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937760"/>
            <a:ext cx="53949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Policy Health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If actual outperforms all alternatives → HEALTHY.  If one alternative consistently wins → investigate.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937760"/>
            <a:ext cx="73152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🌍  Like testing alternate routes on Google Maps AFTER your trip: 'Would the highway have been faster?' MIP answers this for every trading day.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The Live Bridge to IBKR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How an approved trade travels from MIP's brain to Interactive Brokers' execution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920240"/>
            <a:ext cx="1691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Validated</a:t>
            </a:r>
          </a:p>
        </p:txBody>
      </p:sp>
      <p:sp>
        <p:nvSpPr>
          <p:cNvPr id="8" name="Chevron 7"/>
          <p:cNvSpPr/>
          <p:nvPr/>
        </p:nvSpPr>
        <p:spPr>
          <a:xfrm>
            <a:off x="202996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240280" y="1920240"/>
            <a:ext cx="1691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Committee</a:t>
            </a:r>
          </a:p>
        </p:txBody>
      </p:sp>
      <p:sp>
        <p:nvSpPr>
          <p:cNvPr id="10" name="Chevron 9"/>
          <p:cNvSpPr/>
          <p:nvPr/>
        </p:nvSpPr>
        <p:spPr>
          <a:xfrm>
            <a:off x="395020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60520" y="1920240"/>
            <a:ext cx="1691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PM Accept</a:t>
            </a:r>
          </a:p>
        </p:txBody>
      </p:sp>
      <p:sp>
        <p:nvSpPr>
          <p:cNvPr id="12" name="Chevron 11"/>
          <p:cNvSpPr/>
          <p:nvPr/>
        </p:nvSpPr>
        <p:spPr>
          <a:xfrm>
            <a:off x="587044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80760" y="1920240"/>
            <a:ext cx="1691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Compliance</a:t>
            </a:r>
          </a:p>
        </p:txBody>
      </p:sp>
      <p:sp>
        <p:nvSpPr>
          <p:cNvPr id="14" name="Chevron 13"/>
          <p:cNvSpPr/>
          <p:nvPr/>
        </p:nvSpPr>
        <p:spPr>
          <a:xfrm>
            <a:off x="779068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01000" y="1920240"/>
            <a:ext cx="1691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Revalidate</a:t>
            </a:r>
          </a:p>
        </p:txBody>
      </p:sp>
      <p:sp>
        <p:nvSpPr>
          <p:cNvPr id="16" name="Chevron 15"/>
          <p:cNvSpPr/>
          <p:nvPr/>
        </p:nvSpPr>
        <p:spPr>
          <a:xfrm>
            <a:off x="971092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921240" y="1920240"/>
            <a:ext cx="1691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Execute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17520"/>
            <a:ext cx="3657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Pre-Flight Checks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Price guard: current price vs. signal price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Exposure check: would this exceed limits?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Market open: is the exchange actually trading?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Symbol halt: is this stock suspended?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017520"/>
            <a:ext cx="73152" cy="155448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434840" y="3017520"/>
            <a:ext cx="3657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Revalidation (just before execution)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Fresh 1-minute bar required (not stale)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Price deviation check: has price moved too far?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Exposure recalculated with current NAV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Must pass ALL checks again — market moves fast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017520"/>
            <a:ext cx="73152" cy="1554480"/>
          </a:xfrm>
          <a:prstGeom prst="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29600" y="301752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Order Structure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Parent: Market or Limit order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Child 1: Take-profit (limit order)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Child 2: Stop-loss (stop order)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Bracket order: all three linked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017520"/>
            <a:ext cx="73152" cy="1554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" y="4800600"/>
            <a:ext cx="5394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Broker Snapshot Sync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MIP pulls from IBKR: NAV, cash, positions, open orders, executions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Written to BROKER_SNAPSHOTS table every sync cycle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Drift detection: does MIP's view match the broker's reality?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800600"/>
            <a:ext cx="73152" cy="11430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172200" y="4800600"/>
            <a:ext cx="5394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Risk Brakes (Live)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Drawdown stop: if portfolio drops ≥ threshold from peak → block entries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Remains blocked until all positions are flat (closed)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Only then can the system resume trading — automatic cooldown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4800600"/>
            <a:ext cx="73152" cy="1143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🚀  Like a rocket launch: pre-flight checks, countdown hold points, a final 'go' from mission control, and real-time telemetry monitoring once airborne.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The Daily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Every weekday at 5 PM ET, MIP runs a 10-step automated pipeline — here's what happens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6235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       Ingest Market Data</a:t>
            </a:r>
          </a:p>
          <a:p>
            <a:pPr>
              <a:spcBef>
                <a:spcPts val="100"/>
              </a:spcBef>
              <a:defRPr sz="1000">
                <a:solidFill>
                  <a:srgbClr val="5F6B7A"/>
                </a:solidFill>
              </a:defRPr>
            </a:pPr>
            <a:r>
              <a:t>          Pull latest OHLCV bars from AlphaVantage / IBKR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73152" cy="68580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59" y="2057400"/>
            <a:ext cx="411480" cy="411480"/>
          </a:xfrm>
          <a:prstGeom prst="ellipse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920240"/>
            <a:ext cx="56235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       Generate Signals</a:t>
            </a:r>
          </a:p>
          <a:p>
            <a:pPr>
              <a:spcBef>
                <a:spcPts val="100"/>
              </a:spcBef>
              <a:defRPr sz="1000">
                <a:solidFill>
                  <a:srgbClr val="5F6B7A"/>
                </a:solidFill>
              </a:defRPr>
            </a:pPr>
            <a:r>
              <a:t>          Run pattern detection on fresh bars → fire new signals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920240"/>
            <a:ext cx="73152" cy="68580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29400" y="2057400"/>
            <a:ext cx="411480" cy="411480"/>
          </a:xfrm>
          <a:prstGeom prst="ellipse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24912"/>
            <a:ext cx="56235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       Evaluate Outcomes</a:t>
            </a:r>
          </a:p>
          <a:p>
            <a:pPr>
              <a:spcBef>
                <a:spcPts val="100"/>
              </a:spcBef>
              <a:defRPr sz="1000">
                <a:solidFill>
                  <a:srgbClr val="5F6B7A"/>
                </a:solidFill>
              </a:defRPr>
            </a:pPr>
            <a:r>
              <a:t>          Check if yesterday's signals hit, missed, or were neutral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24912"/>
            <a:ext cx="73152" cy="6858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59" y="2862072"/>
            <a:ext cx="411480" cy="411480"/>
          </a:xfrm>
          <a:prstGeom prst="ellipse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724912"/>
            <a:ext cx="56235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       Run Backtests</a:t>
            </a:r>
          </a:p>
          <a:p>
            <a:pPr>
              <a:spcBef>
                <a:spcPts val="100"/>
              </a:spcBef>
              <a:defRPr sz="1000">
                <a:solidFill>
                  <a:srgbClr val="5F6B7A"/>
                </a:solidFill>
              </a:defRPr>
            </a:pPr>
            <a:r>
              <a:t>          Update hit rates, avg returns, and pattern scores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724912"/>
            <a:ext cx="73152" cy="6858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29400" y="2862072"/>
            <a:ext cx="411480" cy="411480"/>
          </a:xfrm>
          <a:prstGeom prst="ellipse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29584"/>
            <a:ext cx="56235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       Train Patterns</a:t>
            </a:r>
          </a:p>
          <a:p>
            <a:pPr>
              <a:spcBef>
                <a:spcPts val="100"/>
              </a:spcBef>
              <a:defRPr sz="1000">
                <a:solidFill>
                  <a:srgbClr val="5F6B7A"/>
                </a:solidFill>
              </a:defRPr>
            </a:pPr>
            <a:r>
              <a:t>          Recalculate maturity, trust labels, activate/deactivate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29584"/>
            <a:ext cx="73152" cy="6858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2959" y="3666744"/>
            <a:ext cx="411480" cy="411480"/>
          </a:xfrm>
          <a:prstGeom prst="ellipse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3529584"/>
            <a:ext cx="56235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       Run Simulation</a:t>
            </a:r>
          </a:p>
          <a:p>
            <a:pPr>
              <a:spcBef>
                <a:spcPts val="100"/>
              </a:spcBef>
              <a:defRPr sz="1000">
                <a:solidFill>
                  <a:srgbClr val="5F6B7A"/>
                </a:solidFill>
              </a:defRPr>
            </a:pPr>
            <a:r>
              <a:t>          Simulate portfolio: open/close positions, track equity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3529584"/>
            <a:ext cx="73152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629400" y="3666744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34256"/>
            <a:ext cx="56235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       Propose Trades</a:t>
            </a:r>
          </a:p>
          <a:p>
            <a:pPr>
              <a:spcBef>
                <a:spcPts val="100"/>
              </a:spcBef>
              <a:defRPr sz="1000">
                <a:solidFill>
                  <a:srgbClr val="5F6B7A"/>
                </a:solidFill>
              </a:defRPr>
            </a:pPr>
            <a:r>
              <a:t>          Select best trusted signals → create proposals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34256"/>
            <a:ext cx="73152" cy="6858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2959" y="4471416"/>
            <a:ext cx="411480" cy="41148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4334256"/>
            <a:ext cx="56235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       Validate &amp; Execute</a:t>
            </a:r>
          </a:p>
          <a:p>
            <a:pPr>
              <a:spcBef>
                <a:spcPts val="100"/>
              </a:spcBef>
              <a:defRPr sz="1000">
                <a:solidFill>
                  <a:srgbClr val="5F6B7A"/>
                </a:solidFill>
              </a:defRPr>
            </a:pPr>
            <a:r>
              <a:t>          Run through all gates + committee → execute approved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4334256"/>
            <a:ext cx="73152" cy="6858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629400" y="4471416"/>
            <a:ext cx="411480" cy="41148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138928"/>
            <a:ext cx="56235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       Generate Briefs</a:t>
            </a:r>
          </a:p>
          <a:p>
            <a:pPr>
              <a:spcBef>
                <a:spcPts val="100"/>
              </a:spcBef>
              <a:defRPr sz="1000">
                <a:solidFill>
                  <a:srgbClr val="5F6B7A"/>
                </a:solidFill>
              </a:defRPr>
            </a:pPr>
            <a:r>
              <a:t>          AI creates daily digest + training narratives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138928"/>
            <a:ext cx="73152" cy="6858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22959" y="5276088"/>
            <a:ext cx="411480" cy="411480"/>
          </a:xfrm>
          <a:prstGeom prst="ellipse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5138928"/>
            <a:ext cx="56235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       Parallel Worlds</a:t>
            </a:r>
          </a:p>
          <a:p>
            <a:pPr>
              <a:spcBef>
                <a:spcPts val="100"/>
              </a:spcBef>
              <a:defRPr sz="1000">
                <a:solidFill>
                  <a:srgbClr val="5F6B7A"/>
                </a:solidFill>
              </a:defRPr>
            </a:pPr>
            <a:r>
              <a:t>          Run counterfactual scenarios + regret analysis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5138928"/>
            <a:ext cx="73152" cy="6858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629400" y="5276088"/>
            <a:ext cx="411480" cy="411480"/>
          </a:xfrm>
          <a:prstGeom prst="ellipse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🏭  Like a factory assembly line that runs every evening: raw materials in, quality checks at every station, finished product out. Every step is logged.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The Learning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How every outcome feeds back into the system to make tomorrow's decisions better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2011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Signal</a:t>
            </a:r>
          </a:p>
        </p:txBody>
      </p:sp>
      <p:sp>
        <p:nvSpPr>
          <p:cNvPr id="8" name="Chevron 7"/>
          <p:cNvSpPr/>
          <p:nvPr/>
        </p:nvSpPr>
        <p:spPr>
          <a:xfrm>
            <a:off x="248716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43200" y="1920240"/>
            <a:ext cx="2011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Proposal</a:t>
            </a:r>
          </a:p>
        </p:txBody>
      </p:sp>
      <p:sp>
        <p:nvSpPr>
          <p:cNvPr id="10" name="Chevron 9"/>
          <p:cNvSpPr/>
          <p:nvPr/>
        </p:nvSpPr>
        <p:spPr>
          <a:xfrm>
            <a:off x="477316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0" y="1920240"/>
            <a:ext cx="2011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Trade</a:t>
            </a:r>
          </a:p>
        </p:txBody>
      </p:sp>
      <p:sp>
        <p:nvSpPr>
          <p:cNvPr id="12" name="Chevron 11"/>
          <p:cNvSpPr/>
          <p:nvPr/>
        </p:nvSpPr>
        <p:spPr>
          <a:xfrm>
            <a:off x="705916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0" y="1920240"/>
            <a:ext cx="2011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Outcome</a:t>
            </a:r>
          </a:p>
        </p:txBody>
      </p:sp>
      <p:sp>
        <p:nvSpPr>
          <p:cNvPr id="14" name="Chevron 13"/>
          <p:cNvSpPr/>
          <p:nvPr/>
        </p:nvSpPr>
        <p:spPr>
          <a:xfrm>
            <a:off x="9345167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01200" y="1920240"/>
            <a:ext cx="2011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Update Training</a:t>
            </a:r>
          </a:p>
        </p:txBody>
      </p:sp>
      <p:sp>
        <p:nvSpPr>
          <p:cNvPr id="16" name="Right Arrow 15"/>
          <p:cNvSpPr/>
          <p:nvPr/>
        </p:nvSpPr>
        <p:spPr>
          <a:xfrm rot="10800000">
            <a:off x="640080" y="2880360"/>
            <a:ext cx="10881360" cy="228600"/>
          </a:xfrm>
          <a:prstGeom prst="rightArrow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0" y="28803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5F6B7A"/>
                </a:solidFill>
              </a:defRPr>
            </a:pPr>
            <a:r>
              <a:t>Feedback loop — outcomes update training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37560"/>
            <a:ext cx="3657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What Gets Updated?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Hit rate: % of signals that were right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Average return: mean profit/loss per signal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Cumulative return: total historical edge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Pattern score: hit_rate × cumulative_return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Maturity stage: may advance or regress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Trust label: may upgrade or downgrade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IS_ACTIVE flag: can switch on or off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337560"/>
            <a:ext cx="73152" cy="256032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434840" y="3337560"/>
            <a:ext cx="3657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What Gets Recorded?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Learning Decision Ledger captures everything: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  BEFORE state vs AFTER state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  Influence delta (what caused the change)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  Causality links to upstream events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  Outcome state when the position closes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3 event types: TRAINING, DECISION, LIVE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337560"/>
            <a:ext cx="73152" cy="25603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29600" y="3337560"/>
            <a:ext cx="33375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Virtuous Cycle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Good patterns: earn higher scores, get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  more proposals, build more evidence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Bad patterns: lose trust, get fewer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  proposals, eventually deactivated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The system self-corrects over time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No manual tuning required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337560"/>
            <a:ext cx="73152" cy="2560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🏈  Like a sports team reviewing game film: every play is analyzed, every mistake becomes a lesson, and the playbook is updated before the next game.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37160" cy="502920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Under the Hood, It's All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MIP doesn't predict the market. It measures what works, earns trust through evidence, and only acts when the math supports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017520"/>
            <a:ext cx="3657600" cy="36576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324612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🚨  Signals  —  Patterns fire based on math, not intuition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75887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🎓  Training  —  Maturity is earned through evidence, not declared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105655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🚧  Gates  —  5 independent checks must ALL pass before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35423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📊  Sizing  —  Position size is calculated, never guessed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965191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📰  News  —  Influence is bounded — headlines can't override 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94959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🌍  Parallel Worlds  —  Every strategy is stress-tested against alternatives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824727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🔄  Learning  —  Every outcome updates the system's knowledge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3467</Words>
  <Application>Microsoft Office PowerPoint</Application>
  <PresentationFormat>Widescreen</PresentationFormat>
  <Paragraphs>418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Kenneth Jebjerg</cp:lastModifiedBy>
  <cp:revision>1</cp:revision>
  <dcterms:created xsi:type="dcterms:W3CDTF">2013-01-27T09:14:16Z</dcterms:created>
  <dcterms:modified xsi:type="dcterms:W3CDTF">2026-03-20T08:23:51Z</dcterms:modified>
  <cp:category/>
</cp:coreProperties>
</file>