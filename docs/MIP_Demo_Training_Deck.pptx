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session as both product demo and operating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Message: MIP is evidence-first, not prediction-first.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/training page and walk one mature row plus one weak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one symbol example and read the signal chain tree top-to-bottom.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this is analysis-only and never auto-applies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URL validity filters and bounded news influence.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the chain: Source Portfolio -&gt; Live Portfolio -&gt; IBKR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one recent activity item and trace the related decision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one accepted and one rejected proposal side-by-side.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commentary is non-binding and evidence-linked.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this as institutional memory for committee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transition from micro decisions to macro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auditability is mandatory for trust in automated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addresses governance and trust concerns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one symbol and one portfolio as a narrative anchor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your closing minute before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800" b="1">
                <a:solidFill>
                  <a:srgbClr val="123456"/>
                </a:solidFill>
              </a:defRPr>
            </a:pPr>
            <a:r>
              <a:t>MIP Demo and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defRPr sz="2400">
                <a:solidFill>
                  <a:srgbClr val="282828"/>
                </a:solidFill>
              </a:defRPr>
            </a:pPr>
            <a:r>
              <a:t>Research internals to trading decisions</a:t>
            </a:r>
          </a:p>
          <a:p>
            <a:r>
              <a:t>Prepared for colleague onboarding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123456"/>
                </a:solidFill>
              </a:defRPr>
            </a:pPr>
            <a:r>
              <a:t>Session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Show how MIP turns market evidence into controlled trading decisions.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Teach the full flow: training, committee logic, execution, and review.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Use one narrative where AI augments evidence instead of replacing judgment.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123456"/>
                </a:solidFill>
              </a:defRPr>
            </a:pPr>
            <a:r>
              <a:t>MIP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39496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t>Research Functionality</a:t>
            </a:r>
          </a:p>
          <a:p>
            <a:pPr>
              <a:defRPr sz="1900">
                <a:solidFill>
                  <a:srgbClr val="282828"/>
                </a:solidFill>
              </a:defRPr>
            </a:pPr>
            <a:r>
              <a:t>Signal detection from repeatable market behavior.</a:t>
            </a:r>
          </a:p>
          <a:p>
            <a:pPr>
              <a:defRPr sz="1900">
                <a:solidFill>
                  <a:srgbClr val="282828"/>
                </a:solidFill>
              </a:defRPr>
            </a:pPr>
            <a:r>
              <a:t>Outcome evaluation across H1/H3/H5/H10/H20 horizons.</a:t>
            </a:r>
          </a:p>
          <a:p>
            <a:pPr>
              <a:defRPr sz="1900">
                <a:solidFill>
                  <a:srgbClr val="282828"/>
                </a:solidFill>
              </a:defRPr>
            </a:pPr>
            <a:r>
              <a:t>Training metrics: maturity, coverage, trust, and expected returns.</a:t>
            </a:r>
          </a:p>
          <a:p>
            <a:pPr>
              <a:defRPr sz="1900">
                <a:solidFill>
                  <a:srgbClr val="282828"/>
                </a:solidFill>
              </a:defRPr>
            </a:pPr>
            <a:r>
              <a:t>Parallel worlds for counterfactual policy testing.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371600"/>
            <a:ext cx="539496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t>Trading Functionality</a:t>
            </a:r>
          </a:p>
          <a:p>
            <a:pPr>
              <a:defRPr sz="1900">
                <a:solidFill>
                  <a:srgbClr val="282828"/>
                </a:solidFill>
              </a:defRPr>
            </a:pPr>
            <a:r>
              <a:t>Proposal generation gated by risk and policy controls.</a:t>
            </a:r>
          </a:p>
          <a:p>
            <a:pPr>
              <a:defRPr sz="1900">
                <a:solidFill>
                  <a:srgbClr val="282828"/>
                </a:solidFill>
              </a:defRPr>
            </a:pPr>
            <a:r>
              <a:t>Committee-driven AI Agent Decisions before execution.</a:t>
            </a:r>
          </a:p>
          <a:p>
            <a:pPr>
              <a:defRPr sz="1900">
                <a:solidFill>
                  <a:srgbClr val="282828"/>
                </a:solidFill>
              </a:defRPr>
            </a:pPr>
            <a:r>
              <a:t>Live portfolio link and activity lifecycle monitoring.</a:t>
            </a:r>
          </a:p>
          <a:p>
            <a:pPr>
              <a:defRPr sz="1900">
                <a:solidFill>
                  <a:srgbClr val="282828"/>
                </a:solidFill>
              </a:defRPr>
            </a:pPr>
            <a:r>
              <a:t>Full auditability through Runs and Learning Ledger.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123456"/>
                </a:solidFill>
              </a:defRPr>
            </a:pPr>
            <a:r>
              <a:t>Training Status: Evidence Before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Core question: Do we have enough evidence for this symbol + pattern?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Explain sample size + coverage before showing any average return columns.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Example: Avg H5 +0.8% means historical edge, not a guaranteed next trade.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AI hint: Ask MIP helps interpret weak vs strong evidence in plain English.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123456"/>
                </a:solidFill>
              </a:defRPr>
            </a:pPr>
            <a:r>
              <a:t>Market Timeline: Symbol Storyboard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Each tile shows funnel counts: Signals -&gt; Proposals -&gt; Trades.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Color states quickly reveal executed, proposed, or signal-only paths.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Drill-down chart overlays expose event chain and decision narrative.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AI hint: Narrative bullets summarize why a symbol advanced or stalled.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123456"/>
                </a:solidFill>
              </a:defRPr>
            </a:pPr>
            <a:r>
              <a:t>Parallel Worlds: Policy Laboratory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Replays the same market day through alternative rule sets, safely.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Policy Health shows stability, regret drivers, and top candidate scenarios.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Signal confidence tiers separate Strong insight from Noise.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AI hint: Cortex-generated analysis highlights what-if insights and gate behavior.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123456"/>
                </a:solidFill>
              </a:defRPr>
            </a:pPr>
            <a:r>
              <a:t>News Intelligence: Context With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Adds evidence-backed news context to proposal interpretation.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Decision Impact panel surfaces only rows with valid news evidence.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HOT marker focuses operators on unseen, decision-relevant headlines.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AI hint: Reader summary is grounded in stored features, not free-form speculation.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123456"/>
                </a:solidFill>
              </a:defRPr>
            </a:pPr>
            <a:r>
              <a:t>Live Portfolio Link: Control Plane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Connects MIP live workflow to broker truth through explicit configuration.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Activation Guard verifies readiness before any execution activity.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Saved config is governance state, not an order-placement action.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AI hint: AI outputs never bypass risk, freshness, or compliance gates.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123456"/>
                </a:solidFill>
              </a:defRPr>
            </a:pPr>
            <a:r>
              <a:t>Live Portfolio Activity: Operational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Tracks lifecycle transitions through validation and execution states.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Best page to confirm freshness and investigate delays or blockers.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Cross-check reason fields with Runs and AI Agent Decisions.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Committee focus: show where human and committee approvals intersect.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123456"/>
                </a:solidFill>
              </a:defRPr>
            </a:pPr>
            <a:r>
              <a:t>AI Agent Decisions: Committee Courtroom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Displays verdict, summary, reason codes, and revalidation outcomes.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Typical journey: PROPOSED -&gt; APPROVED -&gt; REJECTED or EXECUTED.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Live flow adds operational checkpoints before final execution.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Training moment: recurring rejection reasons point to policy or evidence gaps.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123456"/>
                </a:solidFill>
              </a:defRPr>
            </a:pPr>
            <a:r>
              <a:t>Live Symbol Tracker: Committee Commentary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Symbol-first monitoring for elevated activity and state changes.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Explain thesis labels: THESIS_INTACT, WEAKENING, INVALIDATED.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Use Open R and expected move reached as committee context signals.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Committee commentary terms: stance, confidence, reason tags, actions to consider.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123456"/>
                </a:solidFill>
              </a:defRPr>
            </a:pPr>
            <a:r>
              <a:t>Learning Ledger: Why Decisions Changed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Connects decision chain to realized outcomes over time.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Shows what evidence influenced change and whether it helped or hurt.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Supports weekly retrospectives and policy tuning conversations.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AI hint: Use Ask MIP to translate ledger traces into plain-language lessons.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123456"/>
                </a:solidFill>
              </a:defRPr>
            </a:pPr>
            <a:r>
              <a:t>Performance: Portfolio-Level Truth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Compares return trends, drawdowns, and consistency across portfolios.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Use period filters to separate short-term noise from structural behavior.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Pair with Training and Decisions pages for root-cause explanations.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AI hint: AI summaries are directional aids; final interpretation remains operator-led.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123456"/>
                </a:solidFill>
              </a:defRPr>
            </a:pPr>
            <a:r>
              <a:t>Audit Trail: Runs as Source of Truth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Runs page confirms what executed, when, and with what status.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Step timeline reveals durations, skips, and failures at procedure level.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Error panel provides SQLSTATE and query IDs for rapid debugging.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AI hint: Run summaries accelerate triage but should be verified in step details.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123456"/>
                </a:solidFill>
              </a:defRPr>
            </a:pPr>
            <a:r>
              <a:t>How AI Is Fused Naturally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39496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t>Where AI Helps</a:t>
            </a:r>
          </a:p>
          <a:p>
            <a:pPr>
              <a:defRPr sz="1900">
                <a:solidFill>
                  <a:srgbClr val="282828"/>
                </a:solidFill>
              </a:defRPr>
            </a:pPr>
            <a:r>
              <a:t>Decision summaries and committee narratives.</a:t>
            </a:r>
          </a:p>
          <a:p>
            <a:pPr>
              <a:defRPr sz="1900">
                <a:solidFill>
                  <a:srgbClr val="282828"/>
                </a:solidFill>
              </a:defRPr>
            </a:pPr>
            <a:r>
              <a:t>Parallel Worlds explanation and regret interpretation.</a:t>
            </a:r>
          </a:p>
          <a:p>
            <a:pPr>
              <a:defRPr sz="1900">
                <a:solidFill>
                  <a:srgbClr val="282828"/>
                </a:solidFill>
              </a:defRPr>
            </a:pPr>
            <a:r>
              <a:t>News Intelligence reader summary and HOT prioritization.</a:t>
            </a:r>
          </a:p>
          <a:p>
            <a:pPr>
              <a:defRPr sz="1900">
                <a:solidFill>
                  <a:srgbClr val="282828"/>
                </a:solidFill>
              </a:defRPr>
            </a:pPr>
            <a:r>
              <a:t>Ask MIP route-aware coaching for operators.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371600"/>
            <a:ext cx="539496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t>Where Humans Stay In Control</a:t>
            </a:r>
          </a:p>
          <a:p>
            <a:pPr>
              <a:defRPr sz="1900">
                <a:solidFill>
                  <a:srgbClr val="282828"/>
                </a:solidFill>
              </a:defRPr>
            </a:pPr>
            <a:r>
              <a:t>Risk gates and policy controls are deterministic.</a:t>
            </a:r>
          </a:p>
          <a:p>
            <a:pPr>
              <a:defRPr sz="1900">
                <a:solidFill>
                  <a:srgbClr val="282828"/>
                </a:solidFill>
              </a:defRPr>
            </a:pPr>
            <a:r>
              <a:t>Execution requires readiness and operational approvals.</a:t>
            </a:r>
          </a:p>
          <a:p>
            <a:pPr>
              <a:defRPr sz="1900">
                <a:solidFill>
                  <a:srgbClr val="282828"/>
                </a:solidFill>
              </a:defRPr>
            </a:pPr>
            <a:r>
              <a:t>Committee output is evidence-backed, not autonomous trading.</a:t>
            </a:r>
          </a:p>
          <a:p>
            <a:pPr>
              <a:defRPr sz="1900">
                <a:solidFill>
                  <a:srgbClr val="282828"/>
                </a:solidFill>
              </a:defRPr>
            </a:pPr>
            <a:r>
              <a:t>Runs + Ledger provide continuous accountability.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123456"/>
                </a:solidFill>
              </a:defRPr>
            </a:pPr>
            <a:r>
              <a:t>Suggested Live Demo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Home/Cockpit: establish freshness and what changed.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Training -&gt; Timeline -&gt; Parallel Worlds: teach research internals.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News -&gt; Decisions -&gt; Symbol Tracker: show committee context in action.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Live Portfolio Link/Activity -&gt; Performance -&gt; Runs/Ledger: close the loop.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123456"/>
                </a:solidFill>
              </a:defRPr>
            </a:pPr>
            <a:r>
              <a:t>Talk Track: Three Key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MIP is a learning system: evidence first, execution second.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AI improves clarity and speed, while controls preserve safety and governance.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Every decision is traceable from signal to outcome to review.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800" b="1">
                <a:solidFill>
                  <a:srgbClr val="123456"/>
                </a:solidFill>
              </a:defRPr>
            </a:pPr>
            <a:r>
              <a:t>Q&amp;A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defRPr sz="2400">
                <a:solidFill>
                  <a:srgbClr val="282828"/>
                </a:solidFill>
              </a:defRPr>
            </a:pPr>
            <a:r>
              <a:t>Thank you</a:t>
            </a:r>
          </a:p>
          <a:p>
            <a:r>
              <a:t>Questions on workflow, committee logic, or controls?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